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7" r:id="rId2"/>
    <p:sldId id="261" r:id="rId3"/>
    <p:sldId id="256" r:id="rId4"/>
    <p:sldId id="258" r:id="rId5"/>
    <p:sldId id="259" r:id="rId6"/>
    <p:sldId id="262" r:id="rId7"/>
    <p:sldId id="260" r:id="rId8"/>
    <p:sldId id="263" r:id="rId9"/>
    <p:sldId id="264" r:id="rId10"/>
    <p:sldId id="265" r:id="rId11"/>
    <p:sldId id="277" r:id="rId12"/>
    <p:sldId id="267" r:id="rId13"/>
    <p:sldId id="266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CC"/>
    <a:srgbClr val="CC00CC"/>
    <a:srgbClr val="0000FF"/>
    <a:srgbClr val="67B6CF"/>
    <a:srgbClr val="CFE0AA"/>
    <a:srgbClr val="FF66FF"/>
    <a:srgbClr val="C14E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78" autoAdjust="0"/>
    <p:restoredTop sz="90850" autoAdjust="0"/>
  </p:normalViewPr>
  <p:slideViewPr>
    <p:cSldViewPr snapToGrid="0">
      <p:cViewPr varScale="1">
        <p:scale>
          <a:sx n="71" d="100"/>
          <a:sy n="71" d="100"/>
        </p:scale>
        <p:origin x="1027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16BA00-C950-45CB-8D0C-B97E83521346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91968F-5FC5-4734-BA72-D632A75042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168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91968F-5FC5-4734-BA72-D632A7504290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12627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A7927-3F4A-2CAC-0D5F-B45575BA7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0205C9-A1AB-D109-81EC-E4E8E60329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DFAD07-CEC1-645C-B73D-9E3220642C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45039E-B0C8-606A-73B6-A62C868E39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91968F-5FC5-4734-BA72-D632A7504290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84072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C018E-B88D-23E1-EF04-99C632BC5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6C5A58-4805-4B1F-9998-E787097446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6D79AA-5683-4EF2-638C-5BC899FB32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F66DFC-64C8-4C91-B0F1-C02750362A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91968F-5FC5-4734-BA72-D632A7504290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62920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0F7B6-7AF7-DA1A-9FCA-F5CAFDC66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72C8ED-68CF-AAAF-8A79-196986DD78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B1669C-0AA2-FC76-4629-9485B020E5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B03574-4EB3-153A-6772-70A7470685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91968F-5FC5-4734-BA72-D632A7504290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47464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91968F-5FC5-4734-BA72-D632A7504290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07458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91968F-5FC5-4734-BA72-D632A7504290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33415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70152-3F19-D8AF-691B-CFEFEDA27E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D993C4-2079-53C5-DCB7-AB67895F50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8342F2-4C82-95EE-C187-CEBDC0130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A82C3-9D48-40F9-A0F2-655EE23DF210}" type="datetime1">
              <a:rPr lang="en-IN" smtClean="0"/>
              <a:t>25-04-2025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765BE3-5F1E-56D0-BBF0-998ED4A7F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24075-9E07-BB2F-E8BF-F7B0CB355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07D5B-8F7E-4C59-9A98-C012296A8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474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7205D-8BEA-A949-0F66-BF750E10C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A88CB-48A9-C385-4D64-245768A2C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0AC624-339B-5507-46ED-F8E444060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FB3BF-82D7-46EE-8D89-EA325226D6FB}" type="datetime1">
              <a:rPr lang="en-IN" smtClean="0"/>
              <a:t>25-04-2025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031F69-E6F5-CAD3-54A0-1CB7172FE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9DC988-DB4A-C714-3847-F58E46423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07D5B-8F7E-4C59-9A98-C012296A8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6361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4B75A-80AD-187E-4913-CD2926969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D44A81-4313-871A-F1A4-8CB3DBEAB6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1855DA-240C-BF6A-B96B-4819035EF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F3FC9-B8AE-4B25-82E6-220BE2051AA5}" type="datetime1">
              <a:rPr lang="en-IN" smtClean="0"/>
              <a:t>25-04-2025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A15D30-9C14-D555-5C1D-AE85ACD1A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26CDCB-20BC-7384-3DDB-2B9E9C710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07D5B-8F7E-4C59-9A98-C012296A8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9399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6DFA5-AECD-6AF0-5AFD-8D72DEEB1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88FDB-5449-4211-223B-F8C0D06CCF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4AE6B4-3C51-8E54-A298-D51DC271FD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29C921-FAA3-30FD-BE90-CC8FC5BA1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AB135-507C-466B-B98C-ADAF2447AA9F}" type="datetime1">
              <a:rPr lang="en-IN" smtClean="0"/>
              <a:t>25-04-2025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069588-E505-6125-3607-3E0432CA3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1EACDF-699A-108C-8606-039D38610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07D5B-8F7E-4C59-9A98-C012296A8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7671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E4D20-F606-6503-7DE1-BE5E2573F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78ADBD-ED51-187D-23BC-69981249FF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00688D-6ACD-938C-15C0-9C187B1568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6AE2DE-1BA8-837C-8B29-24EDCB96B2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89D2B9-37FD-382A-95D1-359968F756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9CDA82-805D-4934-4F27-596953E4A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62664-1007-46C3-8C73-DE12E04F6C1E}" type="datetime1">
              <a:rPr lang="en-IN" smtClean="0"/>
              <a:t>25-04-2025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638112-34CB-6B56-2D9B-71C98A3D1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B755F8-3985-D3C7-AECD-5CF9E5F75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07D5B-8F7E-4C59-9A98-C012296A8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7434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BF358-185E-F65A-3BC3-324316761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9DDB6-AE9F-90E0-88B6-FD970C7A0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0B5DE-97BD-4655-8572-777E65274D62}" type="datetime1">
              <a:rPr lang="en-IN" smtClean="0"/>
              <a:t>25-04-2025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EDD02E-C922-A382-A8F1-23134642E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F82A2C-D7BA-FC13-83E9-276A96797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07D5B-8F7E-4C59-9A98-C012296A8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649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64BB64-5C6D-B09A-E3C0-CB8C32DE0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86F36-4880-4D34-921F-AF400FA91CCC}" type="datetime1">
              <a:rPr lang="en-IN" smtClean="0"/>
              <a:t>25-04-2025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3724DC-5E74-B7B5-7CD0-AB6A6DBEF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D50F91-38AF-D645-528F-02993BA95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07D5B-8F7E-4C59-9A98-C012296A8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6310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C83FB-9BF6-9760-CB69-7F369B8B9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D1C10-3833-5846-E6CA-B8835DAA3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089359-B05C-3332-C7BB-952FDA3081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CD06DD-FDCA-2FD2-BA46-49FF1AD8F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14D1B-EC00-4980-AC7E-5A71611D8D77}" type="datetime1">
              <a:rPr lang="en-IN" smtClean="0"/>
              <a:t>25-04-2025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0C40A6-7F14-E2FB-C182-617FC4C4E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AE24C-4948-53F3-761B-15BC3E2CD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07D5B-8F7E-4C59-9A98-C012296A8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6333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BC065-90B5-DB32-DDFD-F7C627DE7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806E2C-47FF-4576-8332-94A6314452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948647-6A24-FED1-11AA-F0BA0C08A5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9A1010-9BA1-2FFB-A560-8FB1830FE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276AC-5577-48AD-984F-63DFF570CE4F}" type="datetime1">
              <a:rPr lang="en-IN" smtClean="0"/>
              <a:t>25-04-2025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1EAB57-6595-52D0-C900-F7D685423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52BEF6-A17E-DECD-0DB7-110CBC059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07D5B-8F7E-4C59-9A98-C012296A8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6839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9EA2C-ADFA-5396-01D7-A06549860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A04B4B-9368-4722-74BC-DE75AC2534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C35FC-417A-065A-A7F0-C0B3F13CF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23CC7-DA6E-4770-A5E8-26DFE9D530BF}" type="datetime1">
              <a:rPr lang="en-IN" smtClean="0"/>
              <a:t>25-04-2025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1FC7E-6A41-8E09-D34F-9524B1160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67242-8D9D-3050-86C3-718AC1B27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07D5B-8F7E-4C59-9A98-C012296A8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3002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A45650-7E88-42C3-FC73-C17C1EBD14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BDC78C-24A2-2035-CD60-F58FBDB599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C4E2B-804E-7039-565B-9395D09B3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355AA-E915-4FAF-9D46-44D458171990}" type="datetime1">
              <a:rPr lang="en-IN" smtClean="0"/>
              <a:t>25-04-2025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176B1-0B44-B100-9DEC-162C06829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DF802-FACF-7C5F-A158-29C036849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07D5B-8F7E-4C59-9A98-C012296A8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046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4DA8D1-3974-4B77-5168-343263D0B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85B760-1A8B-CC0B-2D11-9B0AAA2A6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2FFD2-B2E9-C8EA-7EA1-01FF125BCD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189-196D-4354-8BBB-559D4A9382A7}" type="datetime1">
              <a:rPr lang="en-IN" smtClean="0"/>
              <a:t>25-04-2025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669D8-3A44-974E-A7DC-CA8749805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0682CF-9C27-BF3D-CFB4-A90F082D1C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807D5B-8F7E-4C59-9A98-C012296A8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9837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1.png"/><Relationship Id="rId2" Type="http://schemas.openxmlformats.org/officeDocument/2006/relationships/image" Target="../media/image2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0.png"/><Relationship Id="rId5" Type="http://schemas.openxmlformats.org/officeDocument/2006/relationships/image" Target="../media/image5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16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19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0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19.png"/><Relationship Id="rId4" Type="http://schemas.openxmlformats.org/officeDocument/2006/relationships/image" Target="../media/image24.png"/><Relationship Id="rId9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18" Type="http://schemas.openxmlformats.org/officeDocument/2006/relationships/image" Target="../media/image45.png"/><Relationship Id="rId3" Type="http://schemas.openxmlformats.org/officeDocument/2006/relationships/image" Target="../media/image24.png"/><Relationship Id="rId21" Type="http://schemas.openxmlformats.org/officeDocument/2006/relationships/image" Target="../media/image48.png"/><Relationship Id="rId7" Type="http://schemas.openxmlformats.org/officeDocument/2006/relationships/image" Target="../media/image32.pn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3.png"/><Relationship Id="rId20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8.png"/><Relationship Id="rId5" Type="http://schemas.openxmlformats.org/officeDocument/2006/relationships/image" Target="../media/image25.png"/><Relationship Id="rId15" Type="http://schemas.openxmlformats.org/officeDocument/2006/relationships/image" Target="../media/image42.png"/><Relationship Id="rId10" Type="http://schemas.openxmlformats.org/officeDocument/2006/relationships/image" Target="../media/image37.png"/><Relationship Id="rId19" Type="http://schemas.openxmlformats.org/officeDocument/2006/relationships/image" Target="../media/image46.png"/><Relationship Id="rId4" Type="http://schemas.openxmlformats.org/officeDocument/2006/relationships/image" Target="../media/image19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Relationship Id="rId22" Type="http://schemas.openxmlformats.org/officeDocument/2006/relationships/image" Target="../media/image4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0.png"/><Relationship Id="rId13" Type="http://schemas.openxmlformats.org/officeDocument/2006/relationships/image" Target="../media/image480.png"/><Relationship Id="rId18" Type="http://schemas.openxmlformats.org/officeDocument/2006/relationships/image" Target="../media/image53.png"/><Relationship Id="rId3" Type="http://schemas.openxmlformats.org/officeDocument/2006/relationships/image" Target="../media/image380.png"/><Relationship Id="rId7" Type="http://schemas.openxmlformats.org/officeDocument/2006/relationships/image" Target="../media/image420.png"/><Relationship Id="rId12" Type="http://schemas.openxmlformats.org/officeDocument/2006/relationships/image" Target="../media/image470.png"/><Relationship Id="rId17" Type="http://schemas.openxmlformats.org/officeDocument/2006/relationships/image" Target="../media/image52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0.png"/><Relationship Id="rId11" Type="http://schemas.openxmlformats.org/officeDocument/2006/relationships/image" Target="../media/image460.png"/><Relationship Id="rId5" Type="http://schemas.openxmlformats.org/officeDocument/2006/relationships/image" Target="../media/image400.png"/><Relationship Id="rId15" Type="http://schemas.openxmlformats.org/officeDocument/2006/relationships/image" Target="../media/image50.png"/><Relationship Id="rId10" Type="http://schemas.openxmlformats.org/officeDocument/2006/relationships/image" Target="../media/image450.png"/><Relationship Id="rId4" Type="http://schemas.openxmlformats.org/officeDocument/2006/relationships/image" Target="../media/image390.png"/><Relationship Id="rId9" Type="http://schemas.openxmlformats.org/officeDocument/2006/relationships/image" Target="../media/image440.png"/><Relationship Id="rId14" Type="http://schemas.openxmlformats.org/officeDocument/2006/relationships/image" Target="../media/image49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5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12" Type="http://schemas.openxmlformats.org/officeDocument/2006/relationships/image" Target="../media/image64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79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12" Type="http://schemas.openxmlformats.org/officeDocument/2006/relationships/image" Target="../media/image78.png"/><Relationship Id="rId17" Type="http://schemas.openxmlformats.org/officeDocument/2006/relationships/image" Target="../media/image83.png"/><Relationship Id="rId2" Type="http://schemas.openxmlformats.org/officeDocument/2006/relationships/image" Target="../media/image68.png"/><Relationship Id="rId16" Type="http://schemas.openxmlformats.org/officeDocument/2006/relationships/image" Target="../media/image8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11" Type="http://schemas.openxmlformats.org/officeDocument/2006/relationships/image" Target="../media/image77.png"/><Relationship Id="rId5" Type="http://schemas.openxmlformats.org/officeDocument/2006/relationships/image" Target="../media/image71.png"/><Relationship Id="rId15" Type="http://schemas.openxmlformats.org/officeDocument/2006/relationships/image" Target="../media/image81.png"/><Relationship Id="rId10" Type="http://schemas.openxmlformats.org/officeDocument/2006/relationships/image" Target="../media/image76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Relationship Id="rId14" Type="http://schemas.openxmlformats.org/officeDocument/2006/relationships/image" Target="../media/image8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95.png"/><Relationship Id="rId18" Type="http://schemas.openxmlformats.org/officeDocument/2006/relationships/image" Target="../media/image100.png"/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12" Type="http://schemas.openxmlformats.org/officeDocument/2006/relationships/image" Target="../media/image94.png"/><Relationship Id="rId17" Type="http://schemas.openxmlformats.org/officeDocument/2006/relationships/image" Target="../media/image99.png"/><Relationship Id="rId2" Type="http://schemas.openxmlformats.org/officeDocument/2006/relationships/image" Target="../media/image84.png"/><Relationship Id="rId16" Type="http://schemas.openxmlformats.org/officeDocument/2006/relationships/image" Target="../media/image98.png"/><Relationship Id="rId20" Type="http://schemas.openxmlformats.org/officeDocument/2006/relationships/image" Target="../media/image10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8.png"/><Relationship Id="rId11" Type="http://schemas.openxmlformats.org/officeDocument/2006/relationships/image" Target="../media/image93.png"/><Relationship Id="rId5" Type="http://schemas.openxmlformats.org/officeDocument/2006/relationships/image" Target="../media/image87.png"/><Relationship Id="rId15" Type="http://schemas.openxmlformats.org/officeDocument/2006/relationships/image" Target="../media/image97.png"/><Relationship Id="rId10" Type="http://schemas.openxmlformats.org/officeDocument/2006/relationships/image" Target="../media/image92.png"/><Relationship Id="rId19" Type="http://schemas.openxmlformats.org/officeDocument/2006/relationships/image" Target="../media/image101.png"/><Relationship Id="rId4" Type="http://schemas.openxmlformats.org/officeDocument/2006/relationships/image" Target="../media/image86.png"/><Relationship Id="rId9" Type="http://schemas.openxmlformats.org/officeDocument/2006/relationships/image" Target="../media/image91.png"/><Relationship Id="rId14" Type="http://schemas.openxmlformats.org/officeDocument/2006/relationships/image" Target="../media/image9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C9223A-2AE3-9B7F-60F4-333899074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826" y="71120"/>
            <a:ext cx="8954347" cy="6715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0AE59DA-C99E-710A-2780-583DA4956946}"/>
              </a:ext>
            </a:extLst>
          </p:cNvPr>
          <p:cNvSpPr txBox="1"/>
          <p:nvPr/>
        </p:nvSpPr>
        <p:spPr>
          <a:xfrm>
            <a:off x="-1" y="1777687"/>
            <a:ext cx="12192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Physics Informed Neural Network (PINN)</a:t>
            </a:r>
          </a:p>
          <a:p>
            <a:pPr algn="ctr"/>
            <a:r>
              <a:rPr lang="en-US" sz="3200" b="1" dirty="0"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Session 1: </a:t>
            </a:r>
            <a:r>
              <a:rPr lang="en-US" sz="3200" b="1" dirty="0" err="1"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Tensorflow</a:t>
            </a:r>
            <a:r>
              <a:rPr lang="en-US" sz="3200" b="1" dirty="0"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 Basics</a:t>
            </a:r>
          </a:p>
          <a:p>
            <a:pPr algn="ctr"/>
            <a:endParaRPr lang="en-US" sz="3200" b="1" dirty="0">
              <a:latin typeface="Century Schoolbook" panose="02040604050505020304" pitchFamily="18" charset="0"/>
              <a:ea typeface="Open Sans" pitchFamily="2" charset="0"/>
              <a:cs typeface="Open Sans" pitchFamily="2" charset="0"/>
            </a:endParaRPr>
          </a:p>
          <a:p>
            <a:pPr algn="ctr"/>
            <a:r>
              <a:rPr lang="en-US" sz="3200" b="1" dirty="0"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By Akash Kumar Mittal</a:t>
            </a:r>
          </a:p>
          <a:p>
            <a:pPr algn="ctr"/>
            <a:endParaRPr lang="en-IN" sz="3200" b="1" dirty="0">
              <a:latin typeface="Century Schoolbook" panose="02040604050505020304" pitchFamily="18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6559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70745DF-A7F0-349D-FC29-20ED5B744E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082" y="1341422"/>
            <a:ext cx="6889751" cy="3165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9CA1B9D-7B8B-C45F-3B6C-4C5AA8F3FC15}"/>
              </a:ext>
            </a:extLst>
          </p:cNvPr>
          <p:cNvSpPr txBox="1"/>
          <p:nvPr/>
        </p:nvSpPr>
        <p:spPr>
          <a:xfrm>
            <a:off x="3786829" y="4469848"/>
            <a:ext cx="342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800" i="1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Gradients are calculated using Automatic Differentiation</a:t>
            </a:r>
            <a:endParaRPr lang="en-IN" sz="1800" i="1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BC9D89F-DA22-EFBD-4E66-1B5BE593B32B}"/>
                  </a:ext>
                </a:extLst>
              </p:cNvPr>
              <p:cNvSpPr txBox="1"/>
              <p:nvPr/>
            </p:nvSpPr>
            <p:spPr>
              <a:xfrm>
                <a:off x="8343482" y="2424205"/>
                <a:ext cx="2590801" cy="1472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180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fPr>
                        <m:num>
                          <m:r>
                            <a:rPr lang="en-GB" sz="18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/>
                              <a:cs typeface="Times New Roman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8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/>
                              <a:cs typeface="Times New Roman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IN" sz="180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18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/>
                              <a:cs typeface="Times New Roman" pitchFamily="18" charset="0"/>
                            </a:rPr>
                            <m:t>𝑖</m:t>
                          </m:r>
                          <m:r>
                            <a:rPr lang="en-GB" sz="18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/>
                              <a:cs typeface="Times New Roman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8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/>
                              <a:cs typeface="Times New Roman" pitchFamily="18" charset="0"/>
                            </a:rPr>
                            <m:t>𝑚</m:t>
                          </m:r>
                        </m:sup>
                        <m:e>
                          <m:d>
                            <m:dPr>
                              <m:ctrlPr>
                                <a:rPr lang="en-IN" sz="1800" i="1" smtClean="0">
                                  <a:solidFill>
                                    <a:schemeClr val="tx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IN" sz="1800" i="1" smtClean="0">
                                      <a:solidFill>
                                        <a:schemeClr val="tx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IN" sz="1800" i="1">
                                          <a:solidFill>
                                            <a:schemeClr val="tx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800" b="0" i="1" smtClean="0">
                                          <a:solidFill>
                                            <a:schemeClr val="tx2">
                                              <a:lumMod val="75000"/>
                                            </a:schemeClr>
                                          </a:solidFill>
                                          <a:latin typeface="Cambria Math"/>
                                          <a:cs typeface="Times New Roman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GB" sz="1800" i="1">
                                          <a:solidFill>
                                            <a:schemeClr val="tx2">
                                              <a:lumMod val="75000"/>
                                            </a:schemeClr>
                                          </a:solidFill>
                                          <a:latin typeface="Cambria Math"/>
                                          <a:cs typeface="Times New Roman" pitchFamily="18" charset="0"/>
                                        </a:rPr>
                                        <m:t>𝑟</m:t>
                                      </m:r>
                                      <m:r>
                                        <a:rPr lang="en-GB" sz="1800" i="1">
                                          <a:solidFill>
                                            <a:schemeClr val="tx2">
                                              <a:lumMod val="75000"/>
                                            </a:schemeClr>
                                          </a:solidFill>
                                          <a:latin typeface="Cambria Math"/>
                                          <a:cs typeface="Times New Roman" pitchFamily="18" charset="0"/>
                                        </a:rPr>
                                        <m:t>1</m:t>
                                      </m:r>
                                    </m:e>
                                    <m:sub>
                                      <m:r>
                                        <a:rPr lang="en-GB" sz="1800" i="1">
                                          <a:solidFill>
                                            <a:schemeClr val="tx2">
                                              <a:lumMod val="75000"/>
                                            </a:schemeClr>
                                          </a:solidFill>
                                          <a:latin typeface="Cambria Math"/>
                                          <a:cs typeface="Times New Roman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GB" sz="1800" i="1">
                                      <a:solidFill>
                                        <a:schemeClr val="tx2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  <a:cs typeface="Times New Roman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1800" i="1">
                                  <a:solidFill>
                                    <a:schemeClr val="tx2">
                                      <a:lumMod val="75000"/>
                                    </a:schemeClr>
                                  </a:solidFill>
                                  <a:latin typeface="Cambria Math"/>
                                  <a:cs typeface="Times New Roman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IN" sz="1800" i="1">
                                      <a:solidFill>
                                        <a:schemeClr val="tx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IN" sz="1800" i="1">
                                          <a:solidFill>
                                            <a:schemeClr val="tx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800" i="1">
                                          <a:solidFill>
                                            <a:schemeClr val="tx2">
                                              <a:lumMod val="75000"/>
                                            </a:schemeClr>
                                          </a:solidFill>
                                          <a:latin typeface="Cambria Math"/>
                                          <a:cs typeface="Times New Roman" pitchFamily="18" charset="0"/>
                                        </a:rPr>
                                        <m:t>𝑟</m:t>
                                      </m:r>
                                      <m:r>
                                        <a:rPr lang="en-GB" sz="1800" i="1">
                                          <a:solidFill>
                                            <a:schemeClr val="tx2">
                                              <a:lumMod val="75000"/>
                                            </a:schemeClr>
                                          </a:solidFill>
                                          <a:latin typeface="Cambria Math"/>
                                          <a:cs typeface="Times New Roman" pitchFamily="18" charset="0"/>
                                        </a:rPr>
                                        <m:t>2</m:t>
                                      </m:r>
                                    </m:e>
                                    <m:sub>
                                      <m:r>
                                        <a:rPr lang="en-GB" sz="1800" i="1">
                                          <a:solidFill>
                                            <a:schemeClr val="tx2">
                                              <a:lumMod val="75000"/>
                                            </a:schemeClr>
                                          </a:solidFill>
                                          <a:latin typeface="Cambria Math"/>
                                          <a:cs typeface="Times New Roman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GB" sz="1800" i="1">
                                      <a:solidFill>
                                        <a:schemeClr val="tx2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  <a:cs typeface="Times New Roman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1800" i="1">
                                  <a:solidFill>
                                    <a:schemeClr val="tx2">
                                      <a:lumMod val="75000"/>
                                    </a:schemeClr>
                                  </a:solidFill>
                                  <a:latin typeface="Cambria Math"/>
                                  <a:cs typeface="Times New Roman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IN" sz="1800" i="1">
                                      <a:solidFill>
                                        <a:schemeClr val="tx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IN" sz="1800" i="1">
                                          <a:solidFill>
                                            <a:schemeClr val="tx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800" i="1">
                                          <a:solidFill>
                                            <a:schemeClr val="tx2">
                                              <a:lumMod val="75000"/>
                                            </a:schemeClr>
                                          </a:solidFill>
                                          <a:latin typeface="Cambria Math"/>
                                          <a:cs typeface="Times New Roman" pitchFamily="18" charset="0"/>
                                        </a:rPr>
                                        <m:t>𝑏</m:t>
                                      </m:r>
                                      <m:r>
                                        <a:rPr lang="en-GB" sz="1800" i="1">
                                          <a:solidFill>
                                            <a:schemeClr val="tx2">
                                              <a:lumMod val="75000"/>
                                            </a:schemeClr>
                                          </a:solidFill>
                                          <a:latin typeface="Cambria Math"/>
                                          <a:cs typeface="Times New Roman" pitchFamily="18" charset="0"/>
                                        </a:rPr>
                                        <m:t>1</m:t>
                                      </m:r>
                                    </m:e>
                                    <m:sub>
                                      <m:r>
                                        <a:rPr lang="en-GB" sz="1800" i="1">
                                          <a:solidFill>
                                            <a:schemeClr val="tx2">
                                              <a:lumMod val="75000"/>
                                            </a:schemeClr>
                                          </a:solidFill>
                                          <a:latin typeface="Cambria Math"/>
                                          <a:cs typeface="Times New Roman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GB" sz="1800" i="1">
                                      <a:solidFill>
                                        <a:schemeClr val="tx2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  <a:cs typeface="Times New Roman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1800" i="1">
                                  <a:solidFill>
                                    <a:schemeClr val="tx2">
                                      <a:lumMod val="75000"/>
                                    </a:schemeClr>
                                  </a:solidFill>
                                  <a:latin typeface="Cambria Math"/>
                                  <a:cs typeface="Times New Roman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IN" sz="1800" i="1">
                                      <a:solidFill>
                                        <a:schemeClr val="tx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IN" sz="1800" i="1">
                                          <a:solidFill>
                                            <a:schemeClr val="tx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800" i="1">
                                          <a:solidFill>
                                            <a:schemeClr val="tx2">
                                              <a:lumMod val="75000"/>
                                            </a:schemeClr>
                                          </a:solidFill>
                                          <a:latin typeface="Cambria Math"/>
                                          <a:cs typeface="Times New Roman" pitchFamily="18" charset="0"/>
                                        </a:rPr>
                                        <m:t>𝑏</m:t>
                                      </m:r>
                                      <m:r>
                                        <a:rPr lang="en-GB" sz="1800" i="1">
                                          <a:solidFill>
                                            <a:schemeClr val="tx2">
                                              <a:lumMod val="75000"/>
                                            </a:schemeClr>
                                          </a:solidFill>
                                          <a:latin typeface="Cambria Math"/>
                                          <a:cs typeface="Times New Roman" pitchFamily="18" charset="0"/>
                                        </a:rPr>
                                        <m:t>2</m:t>
                                      </m:r>
                                    </m:e>
                                    <m:sub>
                                      <m:r>
                                        <a:rPr lang="en-GB" sz="1800" i="1">
                                          <a:solidFill>
                                            <a:schemeClr val="tx2">
                                              <a:lumMod val="75000"/>
                                            </a:schemeClr>
                                          </a:solidFill>
                                          <a:latin typeface="Cambria Math"/>
                                          <a:cs typeface="Times New Roman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GB" sz="1800" i="1">
                                      <a:solidFill>
                                        <a:schemeClr val="tx2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  <a:cs typeface="Times New Roman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1800" i="1">
                                  <a:solidFill>
                                    <a:schemeClr val="tx2">
                                      <a:lumMod val="75000"/>
                                    </a:schemeClr>
                                  </a:solidFill>
                                  <a:latin typeface="Cambria Math"/>
                                  <a:cs typeface="Times New Roman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IN" sz="1800" i="1">
                                      <a:solidFill>
                                        <a:schemeClr val="tx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IN" sz="1800" i="1">
                                          <a:solidFill>
                                            <a:schemeClr val="tx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800" i="1">
                                          <a:solidFill>
                                            <a:schemeClr val="tx2">
                                              <a:lumMod val="75000"/>
                                            </a:schemeClr>
                                          </a:solidFill>
                                          <a:latin typeface="Cambria Math"/>
                                          <a:cs typeface="Times New Roman" pitchFamily="18" charset="0"/>
                                        </a:rPr>
                                        <m:t>𝑏</m:t>
                                      </m:r>
                                      <m:r>
                                        <a:rPr lang="en-GB" sz="1800" i="1">
                                          <a:solidFill>
                                            <a:schemeClr val="tx2">
                                              <a:lumMod val="75000"/>
                                            </a:schemeClr>
                                          </a:solidFill>
                                          <a:latin typeface="Cambria Math"/>
                                          <a:cs typeface="Times New Roman" pitchFamily="18" charset="0"/>
                                        </a:rPr>
                                        <m:t>3</m:t>
                                      </m:r>
                                    </m:e>
                                    <m:sub>
                                      <m:r>
                                        <a:rPr lang="en-GB" sz="1800" i="1">
                                          <a:solidFill>
                                            <a:schemeClr val="tx2">
                                              <a:lumMod val="75000"/>
                                            </a:schemeClr>
                                          </a:solidFill>
                                          <a:latin typeface="Cambria Math"/>
                                          <a:cs typeface="Times New Roman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GB" sz="1800" i="1">
                                      <a:solidFill>
                                        <a:schemeClr val="tx2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  <a:cs typeface="Times New Roman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1800" i="1">
                                  <a:solidFill>
                                    <a:schemeClr val="tx2">
                                      <a:lumMod val="75000"/>
                                    </a:schemeClr>
                                  </a:solidFill>
                                  <a:latin typeface="Cambria Math"/>
                                  <a:cs typeface="Times New Roman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IN" sz="1800" i="1">
                                      <a:solidFill>
                                        <a:schemeClr val="tx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IN" sz="1800" i="1">
                                          <a:solidFill>
                                            <a:schemeClr val="tx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800" i="1">
                                          <a:solidFill>
                                            <a:schemeClr val="tx2">
                                              <a:lumMod val="75000"/>
                                            </a:schemeClr>
                                          </a:solidFill>
                                          <a:latin typeface="Cambria Math"/>
                                          <a:cs typeface="Times New Roman" pitchFamily="18" charset="0"/>
                                        </a:rPr>
                                        <m:t>𝑏</m:t>
                                      </m:r>
                                      <m:r>
                                        <a:rPr lang="en-GB" sz="1800" i="1">
                                          <a:solidFill>
                                            <a:schemeClr val="tx2">
                                              <a:lumMod val="75000"/>
                                            </a:schemeClr>
                                          </a:solidFill>
                                          <a:latin typeface="Cambria Math"/>
                                          <a:cs typeface="Times New Roman" pitchFamily="18" charset="0"/>
                                        </a:rPr>
                                        <m:t>4</m:t>
                                      </m:r>
                                    </m:e>
                                    <m:sub>
                                      <m:r>
                                        <a:rPr lang="en-GB" sz="1800" i="1">
                                          <a:solidFill>
                                            <a:schemeClr val="tx2">
                                              <a:lumMod val="75000"/>
                                            </a:schemeClr>
                                          </a:solidFill>
                                          <a:latin typeface="Cambria Math"/>
                                          <a:cs typeface="Times New Roman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GB" sz="1800" i="1">
                                      <a:solidFill>
                                        <a:schemeClr val="tx2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  <a:cs typeface="Times New Roman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IN" sz="1800" i="1" dirty="0">
                  <a:solidFill>
                    <a:schemeClr val="tx2">
                      <a:lumMod val="75000"/>
                    </a:schemeClr>
                  </a:solidFill>
                  <a:latin typeface="+mj-lt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BC9D89F-DA22-EFBD-4E66-1B5BE593B3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3482" y="2424205"/>
                <a:ext cx="2590801" cy="1472775"/>
              </a:xfrm>
              <a:prstGeom prst="rect">
                <a:avLst/>
              </a:prstGeom>
              <a:blipFill>
                <a:blip r:embed="rId3"/>
                <a:stretch>
                  <a:fillRect b="-630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5E803376-462C-2623-4DC8-F181EC250CB0}"/>
              </a:ext>
            </a:extLst>
          </p:cNvPr>
          <p:cNvSpPr txBox="1"/>
          <p:nvPr/>
        </p:nvSpPr>
        <p:spPr>
          <a:xfrm>
            <a:off x="6355934" y="3377634"/>
            <a:ext cx="7842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800" i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itchFamily="18" charset="0"/>
              </a:rPr>
              <a:t>r1, r2</a:t>
            </a:r>
          </a:p>
          <a:p>
            <a:pPr algn="ctr"/>
            <a:r>
              <a:rPr lang="en-GB" sz="1800" i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itchFamily="18" charset="0"/>
              </a:rPr>
              <a:t>b1, b2</a:t>
            </a:r>
          </a:p>
          <a:p>
            <a:pPr algn="ctr"/>
            <a:r>
              <a:rPr lang="en-GB" sz="1800" i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itchFamily="18" charset="0"/>
              </a:rPr>
              <a:t>b3, b4</a:t>
            </a:r>
            <a:r>
              <a:rPr lang="en-IN" sz="1800" i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itchFamily="18" charset="0"/>
              </a:rPr>
              <a:t> </a:t>
            </a:r>
            <a:endParaRPr lang="en-GB" sz="1800" i="1" dirty="0">
              <a:solidFill>
                <a:schemeClr val="tx2">
                  <a:lumMod val="75000"/>
                </a:schemeClr>
              </a:solidFill>
              <a:latin typeface="+mj-lt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FBD2E77-2225-FB5E-6ED9-E22E3F71E1EE}"/>
                  </a:ext>
                </a:extLst>
              </p:cNvPr>
              <p:cNvSpPr txBox="1"/>
              <p:nvPr/>
            </p:nvSpPr>
            <p:spPr>
              <a:xfrm>
                <a:off x="7886283" y="2079848"/>
                <a:ext cx="3429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1800" b="0" i="1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/>
                        <a:cs typeface="Times New Roman" pitchFamily="18" charset="0"/>
                      </a:rPr>
                      <m:t>(</m:t>
                    </m:r>
                    <m:r>
                      <m:rPr>
                        <m:brk m:alnAt="23"/>
                      </m:rPr>
                      <a:rPr lang="en-GB" sz="1800" i="1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/>
                        <a:cs typeface="Times New Roman" pitchFamily="18" charset="0"/>
                      </a:rPr>
                      <m:t>𝑖</m:t>
                    </m:r>
                    <m:r>
                      <a:rPr lang="en-GB" sz="1800" i="1">
                        <a:solidFill>
                          <a:schemeClr val="tx2">
                            <a:lumMod val="75000"/>
                          </a:schemeClr>
                        </a:solidFill>
                        <a:latin typeface="Cambria Math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en-GB" sz="1800" i="1" dirty="0">
                    <a:latin typeface="+mj-lt"/>
                    <a:cs typeface="Times New Roman" pitchFamily="18" charset="0"/>
                    <a:sym typeface="Wingdings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m:rPr>
                        <m:brk m:alnAt="23"/>
                      </m:rPr>
                      <a:rPr lang="en-GB" sz="1800" i="1">
                        <a:solidFill>
                          <a:schemeClr val="tx2">
                            <a:lumMod val="75000"/>
                          </a:schemeClr>
                        </a:solidFill>
                        <a:latin typeface="Cambria Math"/>
                        <a:cs typeface="Times New Roman" pitchFamily="18" charset="0"/>
                      </a:rPr>
                      <m:t>𝑖</m:t>
                    </m:r>
                    <m:r>
                      <a:rPr lang="en-GB" sz="1800" b="0" i="1" baseline="3000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/>
                        <a:cs typeface="Times New Roman" pitchFamily="18" charset="0"/>
                      </a:rPr>
                      <m:t>𝑡h</m:t>
                    </m:r>
                    <m:r>
                      <a:rPr lang="en-GB" sz="1800" b="0" i="1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en-GB" sz="1800" i="1" dirty="0">
                    <a:latin typeface="+mj-lt"/>
                    <a:cs typeface="Times New Roman" pitchFamily="18" charset="0"/>
                    <a:sym typeface="Wingdings" pitchFamily="2" charset="2"/>
                  </a:rPr>
                  <a:t>collocation point)</a:t>
                </a:r>
                <a:endParaRPr lang="en-IN" sz="1800" i="1" dirty="0">
                  <a:latin typeface="+mj-lt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FBD2E77-2225-FB5E-6ED9-E22E3F71E1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6283" y="2079848"/>
                <a:ext cx="3429000" cy="369332"/>
              </a:xfrm>
              <a:prstGeom prst="rect">
                <a:avLst/>
              </a:prstGeom>
              <a:blipFill>
                <a:blip r:embed="rId4"/>
                <a:stretch>
                  <a:fillRect t="-9836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78435E29-F4F6-BE11-FC1A-87F0CE60ED77}"/>
              </a:ext>
            </a:extLst>
          </p:cNvPr>
          <p:cNvSpPr txBox="1"/>
          <p:nvPr/>
        </p:nvSpPr>
        <p:spPr>
          <a:xfrm>
            <a:off x="1899453" y="5433064"/>
            <a:ext cx="1414830" cy="64633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800" i="1" dirty="0">
                <a:solidFill>
                  <a:schemeClr val="bg1"/>
                </a:solidFill>
                <a:latin typeface="+mj-lt"/>
                <a:cs typeface="Times New Roman" pitchFamily="18" charset="0"/>
              </a:rPr>
              <a:t>Update weights, w</a:t>
            </a:r>
            <a:endParaRPr lang="en-IN" sz="1800" i="1" dirty="0">
              <a:solidFill>
                <a:schemeClr val="bg1"/>
              </a:solidFill>
              <a:latin typeface="+mj-lt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5FAF62D-664B-32B5-6649-AE5E02A24DCD}"/>
                  </a:ext>
                </a:extLst>
              </p:cNvPr>
              <p:cNvSpPr txBox="1"/>
              <p:nvPr/>
            </p:nvSpPr>
            <p:spPr>
              <a:xfrm>
                <a:off x="1678957" y="2039605"/>
                <a:ext cx="387548" cy="3885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8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IN" sz="18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11</m:t>
                          </m:r>
                        </m:sub>
                        <m:sup>
                          <m:r>
                            <a:rPr lang="en-IN" sz="18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0</m:t>
                          </m:r>
                        </m:sup>
                      </m:sSubSup>
                    </m:oMath>
                  </m:oMathPara>
                </a14:m>
                <a:endParaRPr lang="en-IN" sz="1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5FAF62D-664B-32B5-6649-AE5E02A24D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8957" y="2039605"/>
                <a:ext cx="387548" cy="388504"/>
              </a:xfrm>
              <a:prstGeom prst="rect">
                <a:avLst/>
              </a:prstGeom>
              <a:blipFill>
                <a:blip r:embed="rId5"/>
                <a:stretch>
                  <a:fillRect l="-17188" r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6240A2A-1BE2-648D-484A-498A853C78E2}"/>
                  </a:ext>
                </a:extLst>
              </p:cNvPr>
              <p:cNvSpPr txBox="1"/>
              <p:nvPr/>
            </p:nvSpPr>
            <p:spPr>
              <a:xfrm>
                <a:off x="1684758" y="1678314"/>
                <a:ext cx="360759" cy="3885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8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8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GB" sz="18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21</m:t>
                          </m:r>
                        </m:sub>
                        <m:sup>
                          <m:r>
                            <a:rPr lang="en-IN" sz="18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0</m:t>
                          </m:r>
                        </m:sup>
                      </m:sSubSup>
                    </m:oMath>
                  </m:oMathPara>
                </a14:m>
                <a:endParaRPr lang="en-IN" sz="1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6240A2A-1BE2-648D-484A-498A853C78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4758" y="1678314"/>
                <a:ext cx="360759" cy="388504"/>
              </a:xfrm>
              <a:prstGeom prst="rect">
                <a:avLst/>
              </a:prstGeom>
              <a:blipFill>
                <a:blip r:embed="rId6"/>
                <a:stretch>
                  <a:fillRect l="-23333"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EFEB07C-6B6D-437E-431A-D7B3F409A736}"/>
              </a:ext>
            </a:extLst>
          </p:cNvPr>
          <p:cNvCxnSpPr/>
          <p:nvPr/>
        </p:nvCxnSpPr>
        <p:spPr>
          <a:xfrm flipV="1">
            <a:off x="2018883" y="2296780"/>
            <a:ext cx="381000" cy="53340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2644B9D-1EF3-026B-189C-01D7DC6C2624}"/>
              </a:ext>
            </a:extLst>
          </p:cNvPr>
          <p:cNvCxnSpPr/>
          <p:nvPr/>
        </p:nvCxnSpPr>
        <p:spPr>
          <a:xfrm flipV="1">
            <a:off x="2029995" y="2296780"/>
            <a:ext cx="369888" cy="940012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20">
            <a:extLst>
              <a:ext uri="{FF2B5EF4-FFF2-40B4-BE49-F238E27FC236}">
                <a16:creationId xmlns:a16="http://schemas.microsoft.com/office/drawing/2014/main" id="{3C0BED52-F507-206B-64B9-FF80A8AC0F0A}"/>
              </a:ext>
            </a:extLst>
          </p:cNvPr>
          <p:cNvCxnSpPr>
            <a:endCxn id="9" idx="2"/>
          </p:cNvCxnSpPr>
          <p:nvPr/>
        </p:nvCxnSpPr>
        <p:spPr>
          <a:xfrm rot="10800000">
            <a:off x="1872731" y="2428110"/>
            <a:ext cx="298552" cy="173471"/>
          </a:xfrm>
          <a:prstGeom prst="bentConnector2">
            <a:avLst/>
          </a:prstGeom>
          <a:ln>
            <a:solidFill>
              <a:schemeClr val="tx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23">
            <a:extLst>
              <a:ext uri="{FF2B5EF4-FFF2-40B4-BE49-F238E27FC236}">
                <a16:creationId xmlns:a16="http://schemas.microsoft.com/office/drawing/2014/main" id="{11374429-055B-E4CA-98B3-94691F522504}"/>
              </a:ext>
            </a:extLst>
          </p:cNvPr>
          <p:cNvCxnSpPr>
            <a:endCxn id="10" idx="3"/>
          </p:cNvCxnSpPr>
          <p:nvPr/>
        </p:nvCxnSpPr>
        <p:spPr>
          <a:xfrm rot="16200000" flipV="1">
            <a:off x="1795309" y="2122774"/>
            <a:ext cx="729016" cy="228600"/>
          </a:xfrm>
          <a:prstGeom prst="bentConnector2">
            <a:avLst/>
          </a:prstGeom>
          <a:ln>
            <a:solidFill>
              <a:schemeClr val="tx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33EF007-EB92-26D0-E4AB-263B907B0CA3}"/>
                  </a:ext>
                </a:extLst>
              </p:cNvPr>
              <p:cNvSpPr txBox="1"/>
              <p:nvPr/>
            </p:nvSpPr>
            <p:spPr>
              <a:xfrm>
                <a:off x="2704683" y="1654506"/>
                <a:ext cx="436959" cy="3724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8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800" i="1">
                              <a:solidFill>
                                <a:srgbClr val="00B0F0"/>
                              </a:solidFill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GB" sz="1800" b="0" i="1" smtClean="0">
                              <a:solidFill>
                                <a:srgbClr val="00B0F0"/>
                              </a:solidFill>
                              <a:latin typeface="Cambria Math"/>
                            </a:rPr>
                            <m:t>31</m:t>
                          </m:r>
                        </m:sub>
                        <m:sup>
                          <m:r>
                            <a:rPr lang="en-GB" sz="1800" b="0" i="1" smtClean="0">
                              <a:solidFill>
                                <a:srgbClr val="00B0F0"/>
                              </a:solidFill>
                              <a:latin typeface="Cambria Math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sz="1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33EF007-EB92-26D0-E4AB-263B907B0C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4683" y="1654506"/>
                <a:ext cx="436959" cy="372474"/>
              </a:xfrm>
              <a:prstGeom prst="rect">
                <a:avLst/>
              </a:prstGeom>
              <a:blipFill>
                <a:blip r:embed="rId7"/>
                <a:stretch>
                  <a:fillRect l="-112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DBE1F38-5A9F-FF63-3CD4-1EFADC784FB5}"/>
              </a:ext>
            </a:extLst>
          </p:cNvPr>
          <p:cNvCxnSpPr/>
          <p:nvPr/>
        </p:nvCxnSpPr>
        <p:spPr>
          <a:xfrm flipV="1">
            <a:off x="2698069" y="2277132"/>
            <a:ext cx="441840" cy="781107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49">
            <a:extLst>
              <a:ext uri="{FF2B5EF4-FFF2-40B4-BE49-F238E27FC236}">
                <a16:creationId xmlns:a16="http://schemas.microsoft.com/office/drawing/2014/main" id="{41572D90-A0E6-55F3-B3F0-5EEDE4099BC0}"/>
              </a:ext>
            </a:extLst>
          </p:cNvPr>
          <p:cNvCxnSpPr/>
          <p:nvPr/>
        </p:nvCxnSpPr>
        <p:spPr>
          <a:xfrm rot="5400000" flipH="1" flipV="1">
            <a:off x="2598913" y="2328008"/>
            <a:ext cx="644328" cy="4176"/>
          </a:xfrm>
          <a:prstGeom prst="bentConnector3">
            <a:avLst>
              <a:gd name="adj1" fmla="val 50000"/>
            </a:avLst>
          </a:prstGeom>
          <a:ln>
            <a:solidFill>
              <a:schemeClr val="tx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33C44E1-EA8A-C8D6-668F-FDA2FCB82748}"/>
                  </a:ext>
                </a:extLst>
              </p:cNvPr>
              <p:cNvSpPr/>
              <p:nvPr/>
            </p:nvSpPr>
            <p:spPr>
              <a:xfrm>
                <a:off x="2323683" y="1268699"/>
                <a:ext cx="1986411" cy="280718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</m:ctrlPr>
                        </m:sSubSupPr>
                        <m:e>
                          <m:r>
                            <a:rPr lang="en-GB" sz="12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12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sz="12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GB" sz="1200" b="0" i="1" smtClean="0">
                          <a:solidFill>
                            <a:schemeClr val="bg1"/>
                          </a:solidFill>
                          <a:latin typeface="Cambria Math"/>
                          <a:ea typeface="Cambria Math" pitchFamily="18" charset="0"/>
                        </a:rPr>
                        <m:t>=</m:t>
                      </m:r>
                      <m:r>
                        <a:rPr lang="en-GB" sz="1200" i="1" smtClean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IN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itchFamily="18" charset="0"/>
                                </a:rPr>
                              </m:ctrlPr>
                            </m:sSubSupPr>
                            <m:e>
                              <m:sSup>
                                <m:sSupPr>
                                  <m:ctrlPr>
                                    <a:rPr lang="en-IN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GB" sz="1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itchFamily="18" charset="0"/>
                                    </a:rPr>
                                    <m:t>0</m:t>
                                  </m:r>
                                </m:sup>
                              </m:sSup>
                              <m:r>
                                <a:rPr lang="en-GB" sz="1200" i="1">
                                  <a:solidFill>
                                    <a:schemeClr val="bg1"/>
                                  </a:solidFill>
                                  <a:latin typeface="Cambria Math" pitchFamily="18" charset="0"/>
                                  <a:ea typeface="Cambria Math" pitchFamily="18" charset="0"/>
                                </a:rPr>
                                <m:t>+</m:t>
                              </m:r>
                              <m:r>
                                <a:rPr lang="en-IN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GB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itchFamily="18" charset="0"/>
                                </a:rPr>
                                <m:t>11</m:t>
                              </m:r>
                            </m:sub>
                            <m:sup>
                              <m:r>
                                <a:rPr lang="en-IN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itchFamily="18" charset="0"/>
                                </a:rPr>
                                <m:t>0</m:t>
                              </m:r>
                            </m:sup>
                          </m:sSubSup>
                          <m:r>
                            <a:rPr lang="en-GB" sz="1200" i="1">
                              <a:solidFill>
                                <a:schemeClr val="bg1"/>
                              </a:solidFill>
                              <a:latin typeface="Cambria Math" pitchFamily="18" charset="0"/>
                              <a:ea typeface="Cambria Math" pitchFamily="18" charset="0"/>
                            </a:rPr>
                            <m:t>𝑥</m:t>
                          </m:r>
                          <m:r>
                            <a:rPr lang="en-GB" sz="1200" i="1">
                              <a:solidFill>
                                <a:schemeClr val="bg1"/>
                              </a:solidFill>
                              <a:latin typeface="Cambria Math" pitchFamily="18" charset="0"/>
                              <a:ea typeface="Cambria Math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IN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GB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itchFamily="18" charset="0"/>
                                </a:rPr>
                                <m:t>21</m:t>
                              </m:r>
                            </m:sub>
                            <m:sup>
                              <m:r>
                                <a:rPr lang="en-IN" sz="1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itchFamily="18" charset="0"/>
                                </a:rPr>
                                <m:t>0</m:t>
                              </m:r>
                            </m:sup>
                          </m:sSubSup>
                          <m:r>
                            <a:rPr lang="en-GB" sz="1200" i="1">
                              <a:solidFill>
                                <a:schemeClr val="bg1"/>
                              </a:solidFill>
                              <a:latin typeface="Cambria Math" pitchFamily="18" charset="0"/>
                              <a:ea typeface="Cambria Math" pitchFamily="18" charset="0"/>
                            </a:rPr>
                            <m:t>𝑦</m:t>
                          </m:r>
                          <m:r>
                            <m:rPr>
                              <m:nor/>
                            </m:rPr>
                            <a:rPr lang="en-IN" sz="1200" dirty="0">
                              <a:solidFill>
                                <a:schemeClr val="bg1"/>
                              </a:solidFill>
                              <a:latin typeface="Cambria Math" pitchFamily="18" charset="0"/>
                              <a:ea typeface="Cambria Math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33C44E1-EA8A-C8D6-668F-FDA2FCB827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3683" y="1268699"/>
                <a:ext cx="1986411" cy="280718"/>
              </a:xfrm>
              <a:prstGeom prst="rect">
                <a:avLst/>
              </a:prstGeom>
              <a:blipFill>
                <a:blip r:embed="rId8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83E2F85-077B-0BD2-C3B9-2A16976F0363}"/>
              </a:ext>
            </a:extLst>
          </p:cNvPr>
          <p:cNvCxnSpPr>
            <a:endCxn id="21" idx="0"/>
          </p:cNvCxnSpPr>
          <p:nvPr/>
        </p:nvCxnSpPr>
        <p:spPr>
          <a:xfrm>
            <a:off x="2548976" y="1580644"/>
            <a:ext cx="0" cy="53179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6F23C83-7A33-1AF9-0629-CB5E5954550F}"/>
              </a:ext>
            </a:extLst>
          </p:cNvPr>
          <p:cNvGrpSpPr/>
          <p:nvPr/>
        </p:nvGrpSpPr>
        <p:grpSpPr>
          <a:xfrm>
            <a:off x="2364371" y="2112438"/>
            <a:ext cx="377539" cy="312103"/>
            <a:chOff x="3392694" y="2940652"/>
            <a:chExt cx="377539" cy="312103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4243615-591C-C3E9-FA10-79BAC6444E3F}"/>
                </a:ext>
              </a:extLst>
            </p:cNvPr>
            <p:cNvSpPr/>
            <p:nvPr/>
          </p:nvSpPr>
          <p:spPr>
            <a:xfrm>
              <a:off x="3428206" y="2940652"/>
              <a:ext cx="298186" cy="312103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67A5FD15-715C-AA43-4525-3EC28BB037E9}"/>
                    </a:ext>
                  </a:extLst>
                </p:cNvPr>
                <p:cNvSpPr/>
                <p:nvPr/>
              </p:nvSpPr>
              <p:spPr>
                <a:xfrm>
                  <a:off x="3392694" y="2940784"/>
                  <a:ext cx="377539" cy="27879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itchFamily="18" charset="0"/>
                              </a:rPr>
                            </m:ctrlPr>
                          </m:sSubSupPr>
                          <m:e>
                            <m:r>
                              <a:rPr lang="en-GB" sz="1200" i="1">
                                <a:solidFill>
                                  <a:schemeClr val="bg1"/>
                                </a:solidFill>
                                <a:latin typeface="Cambria Math"/>
                                <a:ea typeface="Cambria Math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GB" sz="1200" i="1">
                                <a:solidFill>
                                  <a:schemeClr val="bg1"/>
                                </a:solidFill>
                                <a:latin typeface="Cambria Math"/>
                                <a:ea typeface="Cambria Math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GB" sz="1200" i="1">
                                <a:solidFill>
                                  <a:schemeClr val="bg1"/>
                                </a:solidFill>
                                <a:latin typeface="Cambria Math"/>
                                <a:ea typeface="Cambria Math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IN" sz="1200" dirty="0"/>
                </a:p>
              </p:txBody>
            </p:sp>
          </mc:Choice>
          <mc:Fallback xmlns="">
            <p:sp>
              <p:nvSpPr>
                <p:cNvPr id="143" name="Rectangle 14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92694" y="2940784"/>
                  <a:ext cx="377539" cy="278794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E7C8827-FCF3-BFD3-8382-3CDCDDAE964F}"/>
                  </a:ext>
                </a:extLst>
              </p:cNvPr>
              <p:cNvSpPr/>
              <p:nvPr/>
            </p:nvSpPr>
            <p:spPr>
              <a:xfrm>
                <a:off x="2360206" y="2518601"/>
                <a:ext cx="377539" cy="2787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20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</m:ctrlPr>
                        </m:sSubSupPr>
                        <m:e>
                          <m:r>
                            <a:rPr lang="en-GB" sz="1200" i="1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/>
                              <a:ea typeface="Cambria Math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12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/>
                              <a:ea typeface="Cambria Math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sz="1200" i="1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/>
                              <a:ea typeface="Cambria Math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sz="1200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E7C8827-FCF3-BFD3-8382-3CDCDDAE96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0206" y="2518601"/>
                <a:ext cx="377539" cy="27879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A53E5817-DE33-A209-8653-B7BA457E7EBB}"/>
                  </a:ext>
                </a:extLst>
              </p:cNvPr>
              <p:cNvSpPr/>
              <p:nvPr/>
            </p:nvSpPr>
            <p:spPr>
              <a:xfrm>
                <a:off x="2365058" y="2922397"/>
                <a:ext cx="377539" cy="2787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20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</m:ctrlPr>
                        </m:sSubSupPr>
                        <m:e>
                          <m:r>
                            <a:rPr lang="en-GB" sz="1200" i="1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/>
                              <a:ea typeface="Cambria Math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12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/>
                              <a:ea typeface="Cambria Math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sz="1200" i="1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/>
                              <a:ea typeface="Cambria Math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IN" sz="1200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A53E5817-DE33-A209-8653-B7BA457E7E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5058" y="2922397"/>
                <a:ext cx="377539" cy="27879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121772F-1C8C-9EBC-E844-E56353F03DE0}"/>
                  </a:ext>
                </a:extLst>
              </p:cNvPr>
              <p:cNvSpPr/>
              <p:nvPr/>
            </p:nvSpPr>
            <p:spPr>
              <a:xfrm>
                <a:off x="3093431" y="2125573"/>
                <a:ext cx="377539" cy="2787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20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</m:ctrlPr>
                        </m:sSubSupPr>
                        <m:e>
                          <m:r>
                            <a:rPr lang="en-GB" sz="1200" i="1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/>
                              <a:ea typeface="Cambria Math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1200" i="1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/>
                              <a:ea typeface="Cambria Math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sz="12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/>
                              <a:ea typeface="Cambria Math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IN" sz="1200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121772F-1C8C-9EBC-E844-E56353F03D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3431" y="2125573"/>
                <a:ext cx="377539" cy="27879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118A6DBD-5A0F-6212-CB16-067D40949110}"/>
                  </a:ext>
                </a:extLst>
              </p:cNvPr>
              <p:cNvSpPr/>
              <p:nvPr/>
            </p:nvSpPr>
            <p:spPr>
              <a:xfrm>
                <a:off x="3089144" y="2517604"/>
                <a:ext cx="377539" cy="2787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20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</m:ctrlPr>
                        </m:sSubSupPr>
                        <m:e>
                          <m:r>
                            <a:rPr lang="en-GB" sz="1200" i="1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/>
                              <a:ea typeface="Cambria Math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12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/>
                              <a:ea typeface="Cambria Math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sz="12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/>
                              <a:ea typeface="Cambria Math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IN" sz="1200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118A6DBD-5A0F-6212-CB16-067D409491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9144" y="2517604"/>
                <a:ext cx="377539" cy="27879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0DFE59BC-6F3E-04E8-C152-41296B783679}"/>
                  </a:ext>
                </a:extLst>
              </p:cNvPr>
              <p:cNvSpPr/>
              <p:nvPr/>
            </p:nvSpPr>
            <p:spPr>
              <a:xfrm>
                <a:off x="3089144" y="2914630"/>
                <a:ext cx="377539" cy="2787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20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</m:ctrlPr>
                        </m:sSubSupPr>
                        <m:e>
                          <m:r>
                            <a:rPr lang="en-GB" sz="1200" i="1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/>
                              <a:ea typeface="Cambria Math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12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/>
                              <a:ea typeface="Cambria Math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sz="12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/>
                              <a:ea typeface="Cambria Math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IN" sz="1200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0DFE59BC-6F3E-04E8-C152-41296B7836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9144" y="2914630"/>
                <a:ext cx="377539" cy="27879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388D4818-504B-EE51-CB1E-D7EC402486A5}"/>
                  </a:ext>
                </a:extLst>
              </p:cNvPr>
              <p:cNvSpPr/>
              <p:nvPr/>
            </p:nvSpPr>
            <p:spPr>
              <a:xfrm>
                <a:off x="1430740" y="2681905"/>
                <a:ext cx="377539" cy="2787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20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</m:ctrlPr>
                        </m:sSubSupPr>
                        <m:e>
                          <m:r>
                            <a:rPr lang="en-GB" sz="1200" i="1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/>
                              <a:ea typeface="Cambria Math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1200" i="1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/>
                              <a:ea typeface="Cambria Math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sz="12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/>
                              <a:ea typeface="Cambria Math" pitchFamily="18" charset="0"/>
                            </a:rPr>
                            <m:t>0</m:t>
                          </m:r>
                        </m:sup>
                      </m:sSubSup>
                    </m:oMath>
                  </m:oMathPara>
                </a14:m>
                <a:endParaRPr lang="en-IN" sz="1200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388D4818-504B-EE51-CB1E-D7EC402486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740" y="2681905"/>
                <a:ext cx="377539" cy="27879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8D586937-36A1-AE2A-A2B8-926854A57052}"/>
                  </a:ext>
                </a:extLst>
              </p:cNvPr>
              <p:cNvSpPr/>
              <p:nvPr/>
            </p:nvSpPr>
            <p:spPr>
              <a:xfrm>
                <a:off x="1420970" y="3097395"/>
                <a:ext cx="377539" cy="2787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20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</m:ctrlPr>
                        </m:sSubSupPr>
                        <m:e>
                          <m:r>
                            <a:rPr lang="en-GB" sz="1200" i="1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/>
                              <a:ea typeface="Cambria Math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12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/>
                              <a:ea typeface="Cambria Math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sz="12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/>
                              <a:ea typeface="Cambria Math" pitchFamily="18" charset="0"/>
                            </a:rPr>
                            <m:t>0</m:t>
                          </m:r>
                        </m:sup>
                      </m:sSubSup>
                    </m:oMath>
                  </m:oMathPara>
                </a14:m>
                <a:endParaRPr lang="en-IN" sz="1200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8D586937-36A1-AE2A-A2B8-926854A570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0970" y="3097395"/>
                <a:ext cx="377539" cy="27879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31032E28-2AA9-3574-185E-1F7F885E8713}"/>
              </a:ext>
            </a:extLst>
          </p:cNvPr>
          <p:cNvSpPr txBox="1"/>
          <p:nvPr/>
        </p:nvSpPr>
        <p:spPr>
          <a:xfrm>
            <a:off x="7153683" y="5433065"/>
            <a:ext cx="1617600" cy="64633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800" i="1" dirty="0">
                <a:solidFill>
                  <a:schemeClr val="bg1"/>
                </a:solidFill>
                <a:latin typeface="+mj-lt"/>
                <a:cs typeface="Times New Roman" pitchFamily="18" charset="0"/>
              </a:rPr>
              <a:t>Optimizer to minimize loss</a:t>
            </a:r>
            <a:endParaRPr lang="en-IN" sz="1800" i="1" dirty="0">
              <a:solidFill>
                <a:schemeClr val="bg1"/>
              </a:solidFill>
              <a:latin typeface="+mj-lt"/>
              <a:cs typeface="Times New Roman" pitchFamily="18" charset="0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AE2ECC9-5AAA-E19C-9AB2-E41EB742C898}"/>
              </a:ext>
            </a:extLst>
          </p:cNvPr>
          <p:cNvCxnSpPr>
            <a:endCxn id="8" idx="3"/>
          </p:cNvCxnSpPr>
          <p:nvPr/>
        </p:nvCxnSpPr>
        <p:spPr>
          <a:xfrm flipH="1" flipV="1">
            <a:off x="3314283" y="5756230"/>
            <a:ext cx="3825875" cy="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7A341DC-D307-418B-A050-DA657F9FFAF8}"/>
              </a:ext>
            </a:extLst>
          </p:cNvPr>
          <p:cNvCxnSpPr>
            <a:stCxn id="8" idx="0"/>
          </p:cNvCxnSpPr>
          <p:nvPr/>
        </p:nvCxnSpPr>
        <p:spPr>
          <a:xfrm flipV="1">
            <a:off x="2606868" y="3973902"/>
            <a:ext cx="0" cy="14591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Diamond 32">
            <a:extLst>
              <a:ext uri="{FF2B5EF4-FFF2-40B4-BE49-F238E27FC236}">
                <a16:creationId xmlns:a16="http://schemas.microsoft.com/office/drawing/2014/main" id="{29A96D70-42DB-A6FB-4A5A-E1E2F069B9C5}"/>
              </a:ext>
            </a:extLst>
          </p:cNvPr>
          <p:cNvSpPr/>
          <p:nvPr/>
        </p:nvSpPr>
        <p:spPr>
          <a:xfrm>
            <a:off x="7446839" y="4355883"/>
            <a:ext cx="1028700" cy="372442"/>
          </a:xfrm>
          <a:prstGeom prst="diamond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/>
              <a:t>Loss</a:t>
            </a:r>
          </a:p>
          <a:p>
            <a:pPr algn="ctr"/>
            <a:r>
              <a:rPr lang="en-GB" sz="1000" b="1" dirty="0"/>
              <a:t>&lt;</a:t>
            </a:r>
            <a:r>
              <a:rPr lang="el-GR" sz="1000" b="1" dirty="0">
                <a:latin typeface="Times New Roman"/>
                <a:cs typeface="Times New Roman"/>
              </a:rPr>
              <a:t>ϵ</a:t>
            </a:r>
            <a:endParaRPr lang="en-IN" sz="1000" b="1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4E41186-9880-DB87-475A-3A779FC3C4F8}"/>
              </a:ext>
            </a:extLst>
          </p:cNvPr>
          <p:cNvCxnSpPr>
            <a:endCxn id="33" idx="0"/>
          </p:cNvCxnSpPr>
          <p:nvPr/>
        </p:nvCxnSpPr>
        <p:spPr>
          <a:xfrm>
            <a:off x="7961189" y="3061794"/>
            <a:ext cx="0" cy="129408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9EB210D-0619-AAE1-DAAF-63B598A00EFA}"/>
              </a:ext>
            </a:extLst>
          </p:cNvPr>
          <p:cNvGrpSpPr/>
          <p:nvPr/>
        </p:nvGrpSpPr>
        <p:grpSpPr>
          <a:xfrm>
            <a:off x="8472600" y="4516014"/>
            <a:ext cx="782344" cy="276999"/>
            <a:chOff x="8475539" y="4524581"/>
            <a:chExt cx="782344" cy="276999"/>
          </a:xfrm>
        </p:grpSpPr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98761362-B392-7234-1719-8D381EA77255}"/>
                </a:ext>
              </a:extLst>
            </p:cNvPr>
            <p:cNvCxnSpPr>
              <a:stCxn id="33" idx="3"/>
            </p:cNvCxnSpPr>
            <p:nvPr/>
          </p:nvCxnSpPr>
          <p:spPr>
            <a:xfrm>
              <a:off x="8475539" y="4542104"/>
              <a:ext cx="78234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031649B-1B25-1CD7-C956-0B7F3F5818EC}"/>
                </a:ext>
              </a:extLst>
            </p:cNvPr>
            <p:cNvSpPr txBox="1"/>
            <p:nvPr/>
          </p:nvSpPr>
          <p:spPr>
            <a:xfrm>
              <a:off x="8557936" y="4524581"/>
              <a:ext cx="5187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i="1" dirty="0">
                  <a:latin typeface="+mj-lt"/>
                  <a:cs typeface="Times New Roman" pitchFamily="18" charset="0"/>
                </a:rPr>
                <a:t>Yes</a:t>
              </a:r>
              <a:endParaRPr lang="en-IN" sz="1200" i="1" dirty="0">
                <a:latin typeface="+mj-lt"/>
                <a:cs typeface="Times New Roman" pitchFamily="18" charset="0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9F32A91-BFA8-AA54-01BE-53E590C39371}"/>
              </a:ext>
            </a:extLst>
          </p:cNvPr>
          <p:cNvGrpSpPr/>
          <p:nvPr/>
        </p:nvGrpSpPr>
        <p:grpSpPr>
          <a:xfrm>
            <a:off x="7581192" y="4710647"/>
            <a:ext cx="388706" cy="704740"/>
            <a:chOff x="8565886" y="5284935"/>
            <a:chExt cx="388706" cy="704740"/>
          </a:xfrm>
        </p:grpSpPr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C8655545-973D-5652-79CB-E212A630C5FB}"/>
                </a:ext>
              </a:extLst>
            </p:cNvPr>
            <p:cNvCxnSpPr>
              <a:stCxn id="33" idx="2"/>
              <a:endCxn id="30" idx="0"/>
            </p:cNvCxnSpPr>
            <p:nvPr/>
          </p:nvCxnSpPr>
          <p:spPr>
            <a:xfrm>
              <a:off x="8953298" y="5284935"/>
              <a:ext cx="1294" cy="70474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18F76B0-DBC9-881F-4F67-CA52C1836F00}"/>
                </a:ext>
              </a:extLst>
            </p:cNvPr>
            <p:cNvSpPr txBox="1"/>
            <p:nvPr/>
          </p:nvSpPr>
          <p:spPr>
            <a:xfrm>
              <a:off x="8565886" y="5496411"/>
              <a:ext cx="3874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i="1" dirty="0">
                  <a:latin typeface="+mj-lt"/>
                  <a:cs typeface="Times New Roman" pitchFamily="18" charset="0"/>
                </a:rPr>
                <a:t>No</a:t>
              </a:r>
              <a:endParaRPr lang="en-IN" sz="1200" i="1" dirty="0">
                <a:latin typeface="+mj-lt"/>
                <a:cs typeface="Times New Roman" pitchFamily="18" charset="0"/>
              </a:endParaRP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2F283F08-385C-E931-451E-27CDF102A6BF}"/>
              </a:ext>
            </a:extLst>
          </p:cNvPr>
          <p:cNvSpPr txBox="1"/>
          <p:nvPr/>
        </p:nvSpPr>
        <p:spPr>
          <a:xfrm>
            <a:off x="9257883" y="4225226"/>
            <a:ext cx="1371600" cy="64633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800" i="1" dirty="0">
                <a:solidFill>
                  <a:schemeClr val="bg1"/>
                </a:solidFill>
                <a:latin typeface="+mj-lt"/>
                <a:cs typeface="Times New Roman" pitchFamily="18" charset="0"/>
              </a:rPr>
              <a:t>Optimized PINN model</a:t>
            </a:r>
            <a:endParaRPr lang="en-IN" sz="1800" i="1" dirty="0">
              <a:solidFill>
                <a:schemeClr val="bg1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D0D9546-771D-05BB-6DF6-D6C91D04B835}"/>
              </a:ext>
            </a:extLst>
          </p:cNvPr>
          <p:cNvSpPr txBox="1"/>
          <p:nvPr/>
        </p:nvSpPr>
        <p:spPr>
          <a:xfrm>
            <a:off x="2693571" y="4207583"/>
            <a:ext cx="19923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i="1" dirty="0">
                <a:solidFill>
                  <a:schemeClr val="tx2">
                    <a:lumMod val="40000"/>
                    <a:lumOff val="60000"/>
                  </a:schemeClr>
                </a:solidFill>
                <a:latin typeface="+mj-lt"/>
                <a:cs typeface="Times New Roman" pitchFamily="18" charset="0"/>
              </a:rPr>
              <a:t>Feed-forward</a:t>
            </a:r>
            <a:endParaRPr lang="en-IN" sz="1200" i="1" dirty="0">
              <a:solidFill>
                <a:schemeClr val="tx2">
                  <a:lumMod val="40000"/>
                  <a:lumOff val="60000"/>
                </a:schemeClr>
              </a:solidFill>
              <a:latin typeface="+mj-lt"/>
              <a:cs typeface="Times New Roman" pitchFamily="18" charset="0"/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7E90B56-1A18-B864-BF95-B0675750832F}"/>
              </a:ext>
            </a:extLst>
          </p:cNvPr>
          <p:cNvCxnSpPr/>
          <p:nvPr/>
        </p:nvCxnSpPr>
        <p:spPr>
          <a:xfrm>
            <a:off x="3093431" y="4218938"/>
            <a:ext cx="1179370" cy="0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B0B93DB3-4476-9621-AD0B-3BF2A052EEEF}"/>
              </a:ext>
            </a:extLst>
          </p:cNvPr>
          <p:cNvSpPr txBox="1"/>
          <p:nvPr/>
        </p:nvSpPr>
        <p:spPr>
          <a:xfrm>
            <a:off x="0" y="111924"/>
            <a:ext cx="12192000" cy="52322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Typical Physics-Informed Neural Network Architecture</a:t>
            </a:r>
          </a:p>
        </p:txBody>
      </p:sp>
    </p:spTree>
    <p:extLst>
      <p:ext uri="{BB962C8B-B14F-4D97-AF65-F5344CB8AC3E}">
        <p14:creationId xmlns:p14="http://schemas.microsoft.com/office/powerpoint/2010/main" val="3210601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563C78-1261-4EE7-3FDA-F9EA9F5191C4}"/>
              </a:ext>
            </a:extLst>
          </p:cNvPr>
          <p:cNvSpPr txBox="1"/>
          <p:nvPr/>
        </p:nvSpPr>
        <p:spPr>
          <a:xfrm>
            <a:off x="0" y="98322"/>
            <a:ext cx="12192000" cy="52322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Session 1: </a:t>
            </a:r>
            <a:r>
              <a:rPr lang="en-US" sz="2800" b="1" dirty="0" err="1">
                <a:solidFill>
                  <a:schemeClr val="bg1"/>
                </a:solidFill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Tensorflow</a:t>
            </a:r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 Basics</a:t>
            </a:r>
            <a:endParaRPr lang="en-IN" sz="2800" b="1" dirty="0">
              <a:solidFill>
                <a:schemeClr val="bg1"/>
              </a:solidFill>
              <a:latin typeface="Century Schoolbook" panose="02040604050505020304" pitchFamily="18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D10F22-387D-1D11-366A-A4E38E52726F}"/>
              </a:ext>
            </a:extLst>
          </p:cNvPr>
          <p:cNvSpPr txBox="1"/>
          <p:nvPr/>
        </p:nvSpPr>
        <p:spPr>
          <a:xfrm>
            <a:off x="393292" y="809758"/>
            <a:ext cx="4591664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C00CC"/>
                </a:solidFill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import </a:t>
            </a:r>
            <a:r>
              <a:rPr lang="en-US" sz="2400" b="1" dirty="0" err="1">
                <a:solidFill>
                  <a:srgbClr val="CC00CC"/>
                </a:solidFill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tensorflow</a:t>
            </a:r>
            <a:r>
              <a:rPr lang="en-US" sz="2400" b="1" dirty="0">
                <a:solidFill>
                  <a:srgbClr val="CC00CC"/>
                </a:solidFill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 as </a:t>
            </a:r>
            <a:r>
              <a:rPr lang="en-US" sz="2400" b="1" dirty="0" err="1">
                <a:solidFill>
                  <a:srgbClr val="CC00CC"/>
                </a:solidFill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tf</a:t>
            </a:r>
            <a:endParaRPr lang="en-US" sz="2400" b="1" dirty="0">
              <a:solidFill>
                <a:srgbClr val="CC00CC"/>
              </a:solidFill>
              <a:latin typeface="Consolas" panose="020B0609020204030204" pitchFamily="49" charset="0"/>
              <a:ea typeface="Open Sans" pitchFamily="2" charset="0"/>
              <a:cs typeface="Open Sans" pitchFamily="2" charset="0"/>
            </a:endParaRPr>
          </a:p>
          <a:p>
            <a:r>
              <a:rPr lang="en-US" sz="2400" b="1" dirty="0">
                <a:solidFill>
                  <a:srgbClr val="CC00CC"/>
                </a:solidFill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import </a:t>
            </a:r>
            <a:r>
              <a:rPr lang="en-US" sz="2400" b="1" dirty="0" err="1">
                <a:solidFill>
                  <a:srgbClr val="CC00CC"/>
                </a:solidFill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numpy</a:t>
            </a:r>
            <a:r>
              <a:rPr lang="en-US" sz="2400" b="1" dirty="0">
                <a:solidFill>
                  <a:srgbClr val="CC00CC"/>
                </a:solidFill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 as np</a:t>
            </a:r>
          </a:p>
          <a:p>
            <a:r>
              <a:rPr lang="en-US" sz="2400" b="1" dirty="0">
                <a:solidFill>
                  <a:srgbClr val="CC00CC"/>
                </a:solidFill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…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E1C4BC-2C55-BE36-3F1A-A304363CB9C2}"/>
              </a:ext>
            </a:extLst>
          </p:cNvPr>
          <p:cNvSpPr txBox="1"/>
          <p:nvPr/>
        </p:nvSpPr>
        <p:spPr>
          <a:xfrm>
            <a:off x="570279" y="2333685"/>
            <a:ext cx="481780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Tensorflow</a:t>
            </a:r>
            <a:r>
              <a:rPr lang="en-US" sz="2400" b="1" dirty="0"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 building blocks</a:t>
            </a:r>
          </a:p>
          <a:p>
            <a:r>
              <a:rPr lang="en-US" sz="2400" dirty="0"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- </a:t>
            </a:r>
            <a:r>
              <a:rPr lang="en-US" sz="2400" dirty="0" err="1"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tf.constant</a:t>
            </a:r>
            <a:endParaRPr lang="en-US" sz="2400" dirty="0">
              <a:latin typeface="Consolas" panose="020B0609020204030204" pitchFamily="49" charset="0"/>
              <a:ea typeface="Open Sans" pitchFamily="2" charset="0"/>
              <a:cs typeface="Open Sans" pitchFamily="2" charset="0"/>
            </a:endParaRPr>
          </a:p>
          <a:p>
            <a:r>
              <a:rPr lang="en-US" sz="2400" dirty="0"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- </a:t>
            </a:r>
            <a:r>
              <a:rPr lang="en-US" sz="2400" dirty="0" err="1"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tf.Variable</a:t>
            </a:r>
            <a:endParaRPr lang="en-US" sz="2400" dirty="0">
              <a:latin typeface="Consolas" panose="020B0609020204030204" pitchFamily="49" charset="0"/>
              <a:ea typeface="Open Sans" pitchFamily="2" charset="0"/>
              <a:cs typeface="Open Sans" pitchFamily="2" charset="0"/>
            </a:endParaRPr>
          </a:p>
          <a:p>
            <a:pPr marL="342900" indent="-342900">
              <a:buFontTx/>
              <a:buChar char="-"/>
            </a:pPr>
            <a:r>
              <a:rPr lang="en-US" sz="2400" dirty="0" err="1"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tf.placeholder</a:t>
            </a:r>
            <a:endParaRPr lang="en-US" sz="2400" dirty="0">
              <a:latin typeface="Consolas" panose="020B0609020204030204" pitchFamily="49" charset="0"/>
              <a:ea typeface="Open Sans" pitchFamily="2" charset="0"/>
              <a:cs typeface="Open Sans" pitchFamily="2" charset="0"/>
            </a:endParaRPr>
          </a:p>
          <a:p>
            <a:pPr marL="342900" indent="-342900">
              <a:buFontTx/>
              <a:buChar char="-"/>
            </a:pPr>
            <a:endParaRPr lang="en-US" sz="2400" dirty="0">
              <a:latin typeface="Consolas" panose="020B0609020204030204" pitchFamily="49" charset="0"/>
              <a:ea typeface="Open Sans" pitchFamily="2" charset="0"/>
              <a:cs typeface="Open Sans" pitchFamily="2" charset="0"/>
            </a:endParaRPr>
          </a:p>
          <a:p>
            <a:r>
              <a:rPr lang="en-US" sz="2400" dirty="0"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Tensors of various ranks</a:t>
            </a:r>
          </a:p>
          <a:p>
            <a:r>
              <a:rPr lang="en-US" sz="2400" dirty="0"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Tensor properties</a:t>
            </a:r>
          </a:p>
          <a:p>
            <a:r>
              <a:rPr lang="en-US" sz="2400" dirty="0"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Indexing in Tensors</a:t>
            </a:r>
          </a:p>
          <a:p>
            <a:r>
              <a:rPr lang="en-US" sz="2400" dirty="0"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Manipulating shapes</a:t>
            </a:r>
          </a:p>
          <a:p>
            <a:r>
              <a:rPr lang="en-US" sz="2400" dirty="0"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Datatype casting</a:t>
            </a:r>
          </a:p>
          <a:p>
            <a:r>
              <a:rPr lang="en-US" sz="2400" dirty="0"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Broadcasting</a:t>
            </a:r>
          </a:p>
          <a:p>
            <a:endParaRPr lang="en-US" sz="2400" b="1" dirty="0">
              <a:latin typeface="Century Schoolbook" panose="02040604050505020304" pitchFamily="18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3AF58B-8AC3-6DCF-64C3-501CE67D0113}"/>
              </a:ext>
            </a:extLst>
          </p:cNvPr>
          <p:cNvSpPr txBox="1"/>
          <p:nvPr/>
        </p:nvSpPr>
        <p:spPr>
          <a:xfrm>
            <a:off x="6961239" y="691774"/>
            <a:ext cx="5147936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Few </a:t>
            </a:r>
            <a:r>
              <a:rPr lang="en-US" sz="2400" b="1" dirty="0" err="1"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Tensorflow</a:t>
            </a:r>
            <a:r>
              <a:rPr lang="en-US" sz="2400" b="1" dirty="0"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 functions/operations</a:t>
            </a:r>
          </a:p>
          <a:p>
            <a:r>
              <a:rPr lang="en-US" sz="2000" dirty="0" err="1">
                <a:highlight>
                  <a:srgbClr val="FFFF00"/>
                </a:highlight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tf.cast</a:t>
            </a:r>
            <a:r>
              <a:rPr lang="en-US" sz="2000" dirty="0">
                <a:highlight>
                  <a:srgbClr val="FFFF00"/>
                </a:highlight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()</a:t>
            </a:r>
          </a:p>
          <a:p>
            <a:r>
              <a:rPr lang="en-US" sz="2000" dirty="0" err="1">
                <a:highlight>
                  <a:srgbClr val="FFFF00"/>
                </a:highlight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tf.rank</a:t>
            </a:r>
            <a:r>
              <a:rPr lang="en-US" sz="2000" dirty="0">
                <a:highlight>
                  <a:srgbClr val="FFFF00"/>
                </a:highlight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()</a:t>
            </a:r>
          </a:p>
          <a:p>
            <a:r>
              <a:rPr lang="en-US" sz="2000" dirty="0" err="1">
                <a:highlight>
                  <a:srgbClr val="FFFF00"/>
                </a:highlight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tf.reshape</a:t>
            </a:r>
            <a:r>
              <a:rPr lang="en-US" sz="2000" dirty="0">
                <a:highlight>
                  <a:srgbClr val="FFFF00"/>
                </a:highlight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()</a:t>
            </a:r>
          </a:p>
          <a:p>
            <a:r>
              <a:rPr lang="en-US" sz="2000" dirty="0" err="1"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tf.transpose</a:t>
            </a:r>
            <a:r>
              <a:rPr lang="en-US" sz="2000" dirty="0"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()</a:t>
            </a:r>
          </a:p>
          <a:p>
            <a:r>
              <a:rPr lang="en-US" sz="2000" dirty="0" err="1"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tf.concat</a:t>
            </a:r>
            <a:r>
              <a:rPr lang="en-US" sz="2000" dirty="0"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([</a:t>
            </a:r>
            <a:r>
              <a:rPr lang="en-US" sz="2000" dirty="0" err="1"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x,y</a:t>
            </a:r>
            <a:r>
              <a:rPr lang="en-US" sz="2000" dirty="0"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],axis=0)</a:t>
            </a:r>
          </a:p>
          <a:p>
            <a:r>
              <a:rPr lang="en-US" sz="2000" dirty="0" err="1"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tf.convert_to_tensor</a:t>
            </a:r>
            <a:r>
              <a:rPr lang="en-US" sz="2000" dirty="0"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()</a:t>
            </a:r>
          </a:p>
          <a:p>
            <a:r>
              <a:rPr lang="en-US" sz="2000" dirty="0" err="1">
                <a:highlight>
                  <a:srgbClr val="C0C0C0"/>
                </a:highlight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tf.add</a:t>
            </a:r>
            <a:r>
              <a:rPr lang="en-US" sz="2000" dirty="0">
                <a:highlight>
                  <a:srgbClr val="C0C0C0"/>
                </a:highlight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()</a:t>
            </a:r>
          </a:p>
          <a:p>
            <a:r>
              <a:rPr lang="en-US" sz="2000" dirty="0" err="1">
                <a:highlight>
                  <a:srgbClr val="C0C0C0"/>
                </a:highlight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tf.pow</a:t>
            </a:r>
            <a:r>
              <a:rPr lang="en-US" sz="2000" dirty="0">
                <a:highlight>
                  <a:srgbClr val="C0C0C0"/>
                </a:highlight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()</a:t>
            </a:r>
          </a:p>
          <a:p>
            <a:r>
              <a:rPr lang="en-US" sz="2000" dirty="0" err="1">
                <a:highlight>
                  <a:srgbClr val="C0C0C0"/>
                </a:highlight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tf.multiply</a:t>
            </a:r>
            <a:r>
              <a:rPr lang="en-US" sz="2000" dirty="0">
                <a:highlight>
                  <a:srgbClr val="C0C0C0"/>
                </a:highlight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()</a:t>
            </a:r>
          </a:p>
          <a:p>
            <a:r>
              <a:rPr lang="en-US" sz="2000" dirty="0" err="1">
                <a:highlight>
                  <a:srgbClr val="C0C0C0"/>
                </a:highlight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tf.matmul</a:t>
            </a:r>
            <a:r>
              <a:rPr lang="en-US" sz="2000" dirty="0">
                <a:highlight>
                  <a:srgbClr val="C0C0C0"/>
                </a:highlight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()</a:t>
            </a:r>
          </a:p>
          <a:p>
            <a:r>
              <a:rPr lang="en-US" sz="2000" dirty="0" err="1"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tf.ones</a:t>
            </a:r>
            <a:r>
              <a:rPr lang="en-US" sz="2000" dirty="0"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()</a:t>
            </a:r>
          </a:p>
          <a:p>
            <a:r>
              <a:rPr lang="en-US" sz="2000" dirty="0" err="1"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tf.zeros</a:t>
            </a:r>
            <a:r>
              <a:rPr lang="en-US" sz="2000" dirty="0"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()</a:t>
            </a:r>
          </a:p>
          <a:p>
            <a:r>
              <a:rPr lang="en-US" sz="20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tf.reduce_sum</a:t>
            </a:r>
            <a:r>
              <a:rPr lang="en-US" sz="20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()</a:t>
            </a:r>
            <a:endParaRPr lang="en-US" sz="2000" dirty="0">
              <a:latin typeface="Consolas" panose="020B0609020204030204" pitchFamily="49" charset="0"/>
              <a:ea typeface="Open Sans" pitchFamily="2" charset="0"/>
              <a:cs typeface="Open Sans" pitchFamily="2" charset="0"/>
            </a:endParaRPr>
          </a:p>
          <a:p>
            <a:r>
              <a:rPr lang="en-US" sz="20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tf.reduce_max</a:t>
            </a:r>
            <a:r>
              <a:rPr lang="en-US" sz="20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()</a:t>
            </a:r>
          </a:p>
          <a:p>
            <a:r>
              <a:rPr lang="en-US" sz="20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tf.reduce_mean</a:t>
            </a:r>
            <a:r>
              <a:rPr lang="en-US" sz="20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()</a:t>
            </a:r>
          </a:p>
          <a:p>
            <a:r>
              <a:rPr lang="en-US" sz="2000" dirty="0" err="1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tf_object.dtype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 </a:t>
            </a:r>
            <a:r>
              <a:rPr lang="en-US" sz="2000" i="1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(property)</a:t>
            </a:r>
          </a:p>
          <a:p>
            <a:r>
              <a:rPr lang="en-US" sz="2000" dirty="0" err="1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tf_object.shape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 </a:t>
            </a:r>
            <a:r>
              <a:rPr lang="en-US" sz="2000" i="1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(property)</a:t>
            </a:r>
            <a:endParaRPr lang="en-US" sz="2000" dirty="0">
              <a:latin typeface="Consolas" panose="020B0609020204030204" pitchFamily="49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18081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22DBB-015C-D5DD-9F9F-F4A25F4C8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2D15525-F2BF-3E8B-EE3F-FF0CF01C28C2}"/>
              </a:ext>
            </a:extLst>
          </p:cNvPr>
          <p:cNvSpPr txBox="1"/>
          <p:nvPr/>
        </p:nvSpPr>
        <p:spPr>
          <a:xfrm>
            <a:off x="0" y="98322"/>
            <a:ext cx="12192000" cy="52322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Session 1: </a:t>
            </a:r>
            <a:r>
              <a:rPr lang="en-US" sz="2800" b="1" dirty="0" err="1">
                <a:solidFill>
                  <a:schemeClr val="bg1"/>
                </a:solidFill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Tensorflow</a:t>
            </a:r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 Basics</a:t>
            </a:r>
            <a:endParaRPr lang="en-IN" sz="2800" b="1" dirty="0">
              <a:solidFill>
                <a:schemeClr val="bg1"/>
              </a:solidFill>
              <a:latin typeface="Century Schoolbook" panose="02040604050505020304" pitchFamily="18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E2B0BC-48C4-FF1E-6152-52E88847C6FA}"/>
              </a:ext>
            </a:extLst>
          </p:cNvPr>
          <p:cNvSpPr txBox="1"/>
          <p:nvPr/>
        </p:nvSpPr>
        <p:spPr>
          <a:xfrm>
            <a:off x="458791" y="1648102"/>
            <a:ext cx="912433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Tensorflow</a:t>
            </a:r>
            <a:r>
              <a:rPr lang="en-US" sz="2400" dirty="0"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 computation can be executed in </a:t>
            </a:r>
          </a:p>
          <a:p>
            <a:r>
              <a:rPr lang="en-US" sz="2400" b="1" dirty="0"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	- Eager mode </a:t>
            </a:r>
          </a:p>
          <a:p>
            <a:r>
              <a:rPr lang="en-US" sz="2400" b="1" dirty="0"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	- </a:t>
            </a:r>
            <a:r>
              <a:rPr lang="en-US" sz="2400" b="1" dirty="0">
                <a:solidFill>
                  <a:srgbClr val="00B050"/>
                </a:solidFill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Non-Eager mode (graph mode)</a:t>
            </a:r>
          </a:p>
          <a:p>
            <a:endParaRPr lang="en-US" sz="2400" b="1" dirty="0">
              <a:latin typeface="Century Schoolbook" panose="02040604050505020304" pitchFamily="18" charset="0"/>
              <a:ea typeface="Open Sans" pitchFamily="2" charset="0"/>
              <a:cs typeface="Open Sans" pitchFamily="2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2E8193D-043C-92CB-A8E3-41BC37309F5E}"/>
              </a:ext>
            </a:extLst>
          </p:cNvPr>
          <p:cNvCxnSpPr>
            <a:cxnSpLocks/>
          </p:cNvCxnSpPr>
          <p:nvPr/>
        </p:nvCxnSpPr>
        <p:spPr>
          <a:xfrm>
            <a:off x="3519795" y="2904990"/>
            <a:ext cx="0" cy="366079"/>
          </a:xfrm>
          <a:prstGeom prst="straightConnector1">
            <a:avLst/>
          </a:prstGeom>
          <a:ln w="28575"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4DA1FD8-56CE-11B4-C5E2-5FD2180212EA}"/>
              </a:ext>
            </a:extLst>
          </p:cNvPr>
          <p:cNvSpPr txBox="1"/>
          <p:nvPr/>
        </p:nvSpPr>
        <p:spPr>
          <a:xfrm>
            <a:off x="458791" y="3172256"/>
            <a:ext cx="619483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B050"/>
                </a:solidFill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Computation Graph</a:t>
            </a:r>
          </a:p>
          <a:p>
            <a:pPr algn="just"/>
            <a:r>
              <a:rPr lang="en-US" sz="2400" dirty="0"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Static execution, Optimized, Similar to statically typed, languages (such as C++, Fortran)</a:t>
            </a:r>
          </a:p>
          <a:p>
            <a:pPr algn="just"/>
            <a:endParaRPr lang="en-US" sz="2400" dirty="0">
              <a:latin typeface="Century Schoolbook" panose="02040604050505020304" pitchFamily="18" charset="0"/>
              <a:ea typeface="Open Sans" pitchFamily="2" charset="0"/>
              <a:cs typeface="Open Sans" pitchFamily="2" charset="0"/>
            </a:endParaRPr>
          </a:p>
          <a:p>
            <a:pPr algn="just"/>
            <a:r>
              <a:rPr lang="en-US" sz="2400" dirty="0"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Hence, faster computation</a:t>
            </a:r>
          </a:p>
          <a:p>
            <a:endParaRPr lang="en-US" sz="2400" b="1" dirty="0">
              <a:latin typeface="Century Schoolbook" panose="02040604050505020304" pitchFamily="18" charset="0"/>
              <a:ea typeface="Open Sans" pitchFamily="2" charset="0"/>
              <a:cs typeface="Open Sans" pitchFamily="2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699B982-CA28-F9AC-CEB2-8A9AEAD9DAF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</a:extLst>
          </a:blip>
          <a:srcRect l="13760" r="1678"/>
          <a:stretch/>
        </p:blipFill>
        <p:spPr>
          <a:xfrm>
            <a:off x="7443019" y="2745887"/>
            <a:ext cx="4290190" cy="335531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A394510-D5FC-2810-B625-BC8E677EE6BD}"/>
              </a:ext>
            </a:extLst>
          </p:cNvPr>
          <p:cNvSpPr txBox="1"/>
          <p:nvPr/>
        </p:nvSpPr>
        <p:spPr>
          <a:xfrm>
            <a:off x="9614053" y="2231989"/>
            <a:ext cx="22352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C00CC"/>
                </a:solidFill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Operation</a:t>
            </a:r>
            <a:endParaRPr lang="en-US" sz="2400" dirty="0">
              <a:solidFill>
                <a:srgbClr val="CC00CC"/>
              </a:solidFill>
              <a:latin typeface="Century Schoolbook" panose="02040604050505020304" pitchFamily="18" charset="0"/>
              <a:ea typeface="Open Sans" pitchFamily="2" charset="0"/>
              <a:cs typeface="Open Sans" pitchFamily="2" charset="0"/>
            </a:endParaRPr>
          </a:p>
          <a:p>
            <a:endParaRPr lang="en-US" sz="2400" b="1" dirty="0">
              <a:solidFill>
                <a:srgbClr val="CC00CC"/>
              </a:solidFill>
              <a:latin typeface="Century Schoolbook" panose="02040604050505020304" pitchFamily="18" charset="0"/>
              <a:ea typeface="Open Sans" pitchFamily="2" charset="0"/>
              <a:cs typeface="Open Sans" pitchFamily="2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B540635-1EAE-6668-B41A-20C3BD0B5B32}"/>
              </a:ext>
            </a:extLst>
          </p:cNvPr>
          <p:cNvCxnSpPr>
            <a:cxnSpLocks/>
          </p:cNvCxnSpPr>
          <p:nvPr/>
        </p:nvCxnSpPr>
        <p:spPr>
          <a:xfrm flipV="1">
            <a:off x="9010646" y="2653090"/>
            <a:ext cx="998593" cy="620114"/>
          </a:xfrm>
          <a:prstGeom prst="straightConnector1">
            <a:avLst/>
          </a:prstGeom>
          <a:ln w="28575">
            <a:solidFill>
              <a:srgbClr val="CC00CC"/>
            </a:solidFill>
            <a:prstDash val="sysDash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CD16E3E-3BA0-5341-0289-F8515A2E4384}"/>
              </a:ext>
            </a:extLst>
          </p:cNvPr>
          <p:cNvCxnSpPr>
            <a:cxnSpLocks/>
          </p:cNvCxnSpPr>
          <p:nvPr/>
        </p:nvCxnSpPr>
        <p:spPr>
          <a:xfrm>
            <a:off x="7964129" y="5830530"/>
            <a:ext cx="0" cy="415837"/>
          </a:xfrm>
          <a:prstGeom prst="straightConnector1">
            <a:avLst/>
          </a:prstGeom>
          <a:ln w="28575">
            <a:solidFill>
              <a:srgbClr val="CC00CC"/>
            </a:solidFill>
            <a:prstDash val="sysDash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3E1EDF7-0F72-9310-9DFB-B1885A113CB8}"/>
              </a:ext>
            </a:extLst>
          </p:cNvPr>
          <p:cNvSpPr txBox="1"/>
          <p:nvPr/>
        </p:nvSpPr>
        <p:spPr>
          <a:xfrm>
            <a:off x="6920243" y="6106398"/>
            <a:ext cx="51554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C00CC"/>
                </a:solidFill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Constant/Variable/Placeholder</a:t>
            </a:r>
            <a:endParaRPr lang="en-US" sz="2400" dirty="0">
              <a:solidFill>
                <a:srgbClr val="CC00CC"/>
              </a:solidFill>
              <a:latin typeface="Century Schoolbook" panose="02040604050505020304" pitchFamily="18" charset="0"/>
              <a:ea typeface="Open Sans" pitchFamily="2" charset="0"/>
              <a:cs typeface="Open Sans" pitchFamily="2" charset="0"/>
            </a:endParaRPr>
          </a:p>
          <a:p>
            <a:endParaRPr lang="en-US" sz="2400" b="1" dirty="0">
              <a:solidFill>
                <a:srgbClr val="CC00CC"/>
              </a:solidFill>
              <a:latin typeface="Century Schoolbook" panose="02040604050505020304" pitchFamily="18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05592CC-3F88-4438-E06F-E49966AF877C}"/>
              </a:ext>
            </a:extLst>
          </p:cNvPr>
          <p:cNvSpPr txBox="1"/>
          <p:nvPr/>
        </p:nvSpPr>
        <p:spPr>
          <a:xfrm>
            <a:off x="6920243" y="938863"/>
            <a:ext cx="49942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Example of </a:t>
            </a:r>
          </a:p>
          <a:p>
            <a:pPr algn="ctr"/>
            <a:r>
              <a:rPr lang="en-US" sz="2400" b="1" dirty="0"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Computation graph </a:t>
            </a:r>
          </a:p>
          <a:p>
            <a:pPr algn="ctr"/>
            <a:r>
              <a:rPr lang="en-US" sz="2400" b="1" dirty="0"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(</a:t>
            </a:r>
            <a:r>
              <a:rPr lang="en-US" sz="1600" b="1" dirty="0"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visualization in </a:t>
            </a:r>
            <a:r>
              <a:rPr lang="en-US" sz="1600" b="1" dirty="0" err="1"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Tensorboard</a:t>
            </a:r>
            <a:r>
              <a:rPr lang="en-US" sz="2400" b="1" dirty="0"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)</a:t>
            </a:r>
            <a:endParaRPr lang="en-US" sz="2400" dirty="0">
              <a:latin typeface="Century Schoolbook" panose="02040604050505020304" pitchFamily="18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2731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26C40-17C8-D58F-1363-8FC4DAC0A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6BC2B5F-B558-C828-A4C3-259D68F97206}"/>
              </a:ext>
            </a:extLst>
          </p:cNvPr>
          <p:cNvSpPr/>
          <p:nvPr/>
        </p:nvSpPr>
        <p:spPr>
          <a:xfrm>
            <a:off x="108154" y="5357006"/>
            <a:ext cx="11995352" cy="12993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10C93C-3F5A-814D-865D-F6008C9AC248}"/>
              </a:ext>
            </a:extLst>
          </p:cNvPr>
          <p:cNvSpPr/>
          <p:nvPr/>
        </p:nvSpPr>
        <p:spPr>
          <a:xfrm>
            <a:off x="98322" y="2728590"/>
            <a:ext cx="11995352" cy="182374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423300-8548-E371-1981-C038350D35E2}"/>
              </a:ext>
            </a:extLst>
          </p:cNvPr>
          <p:cNvSpPr/>
          <p:nvPr/>
        </p:nvSpPr>
        <p:spPr>
          <a:xfrm>
            <a:off x="98324" y="1338271"/>
            <a:ext cx="11995352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806965-0D5F-E039-F061-0A5705905396}"/>
              </a:ext>
            </a:extLst>
          </p:cNvPr>
          <p:cNvSpPr txBox="1"/>
          <p:nvPr/>
        </p:nvSpPr>
        <p:spPr>
          <a:xfrm>
            <a:off x="0" y="98322"/>
            <a:ext cx="12192000" cy="52322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Session 1: </a:t>
            </a:r>
            <a:r>
              <a:rPr lang="en-US" sz="2800" b="1" dirty="0" err="1">
                <a:solidFill>
                  <a:schemeClr val="bg1"/>
                </a:solidFill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Tensorflow</a:t>
            </a:r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 Basics</a:t>
            </a:r>
            <a:endParaRPr lang="en-IN" sz="2800" b="1" dirty="0">
              <a:solidFill>
                <a:schemeClr val="bg1"/>
              </a:solidFill>
              <a:latin typeface="Century Schoolbook" panose="02040604050505020304" pitchFamily="18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AC3324-CD6A-3D76-0AA6-A4E5B4A76FC9}"/>
              </a:ext>
            </a:extLst>
          </p:cNvPr>
          <p:cNvSpPr txBox="1"/>
          <p:nvPr/>
        </p:nvSpPr>
        <p:spPr>
          <a:xfrm>
            <a:off x="471947" y="2766775"/>
            <a:ext cx="1126776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Consolas" panose="020B0609020204030204" pitchFamily="49" charset="0"/>
              </a:rPr>
              <a:t>var=</a:t>
            </a:r>
            <a:r>
              <a:rPr lang="en-IN" sz="2000" dirty="0" err="1">
                <a:solidFill>
                  <a:srgbClr val="00B0F0"/>
                </a:solidFill>
                <a:latin typeface="Consolas" panose="020B0609020204030204" pitchFamily="49" charset="0"/>
              </a:rPr>
              <a:t>tf</a:t>
            </a:r>
            <a:r>
              <a:rPr lang="en-IN" sz="2000" dirty="0" err="1">
                <a:latin typeface="Consolas" panose="020B0609020204030204" pitchFamily="49" charset="0"/>
              </a:rPr>
              <a:t>.</a:t>
            </a:r>
            <a:r>
              <a:rPr lang="en-IN" sz="2000" dirty="0" err="1">
                <a:solidFill>
                  <a:srgbClr val="00B0F0"/>
                </a:solidFill>
                <a:latin typeface="Consolas" panose="020B0609020204030204" pitchFamily="49" charset="0"/>
              </a:rPr>
              <a:t>Variable</a:t>
            </a:r>
            <a:r>
              <a:rPr lang="en-IN" sz="2000" dirty="0">
                <a:latin typeface="Consolas" panose="020B0609020204030204" pitchFamily="49" charset="0"/>
              </a:rPr>
              <a:t>(</a:t>
            </a:r>
            <a:r>
              <a:rPr lang="en-IN" sz="2000" dirty="0">
                <a:solidFill>
                  <a:srgbClr val="CC00CC"/>
                </a:solidFill>
                <a:latin typeface="Consolas" panose="020B0609020204030204" pitchFamily="49" charset="0"/>
              </a:rPr>
              <a:t>[1,2]</a:t>
            </a:r>
            <a:r>
              <a:rPr lang="en-IN" sz="2000" dirty="0">
                <a:latin typeface="Consolas" panose="020B0609020204030204" pitchFamily="49" charset="0"/>
              </a:rPr>
              <a:t>,</a:t>
            </a:r>
            <a:r>
              <a:rPr lang="en-US" sz="2000" dirty="0">
                <a:solidFill>
                  <a:srgbClr val="00B0F0"/>
                </a:solidFill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dtype</a:t>
            </a:r>
            <a:r>
              <a:rPr lang="en-US" sz="2000" dirty="0"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=</a:t>
            </a:r>
            <a:r>
              <a:rPr lang="en-US" sz="2000" dirty="0">
                <a:solidFill>
                  <a:srgbClr val="00B0F0"/>
                </a:solidFill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tf.float64</a:t>
            </a:r>
            <a:r>
              <a:rPr lang="en-US" sz="2000" dirty="0"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,</a:t>
            </a:r>
            <a:r>
              <a:rPr lang="en-US" sz="2000" dirty="0">
                <a:solidFill>
                  <a:srgbClr val="00B0F0"/>
                </a:solidFill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 </a:t>
            </a:r>
            <a:r>
              <a:rPr lang="en-IN" sz="2000" dirty="0">
                <a:latin typeface="Consolas" panose="020B0609020204030204" pitchFamily="49" charset="0"/>
              </a:rPr>
              <a:t>name=</a:t>
            </a:r>
            <a:r>
              <a:rPr lang="en-IN" sz="2000" dirty="0">
                <a:solidFill>
                  <a:srgbClr val="00B050"/>
                </a:solidFill>
                <a:latin typeface="Consolas" panose="020B0609020204030204" pitchFamily="49" charset="0"/>
              </a:rPr>
              <a:t>'var’</a:t>
            </a:r>
            <a:r>
              <a:rPr lang="en-IN" sz="2000" dirty="0">
                <a:latin typeface="Consolas" panose="020B0609020204030204" pitchFamily="49" charset="0"/>
              </a:rPr>
              <a:t>, </a:t>
            </a:r>
            <a:r>
              <a:rPr lang="en-IN" sz="2000" dirty="0">
                <a:solidFill>
                  <a:srgbClr val="00B0F0"/>
                </a:solidFill>
                <a:latin typeface="Consolas" panose="020B0609020204030204" pitchFamily="49" charset="0"/>
              </a:rPr>
              <a:t>trainable</a:t>
            </a:r>
            <a:r>
              <a:rPr lang="en-IN" sz="2000" dirty="0">
                <a:latin typeface="Consolas" panose="020B0609020204030204" pitchFamily="49" charset="0"/>
              </a:rPr>
              <a:t>=False); </a:t>
            </a:r>
          </a:p>
          <a:p>
            <a:r>
              <a:rPr lang="en-IN" sz="2000" i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# Default: trainable is True</a:t>
            </a:r>
          </a:p>
          <a:p>
            <a:endParaRPr lang="en-US" sz="2000" b="1" dirty="0">
              <a:latin typeface="Consolas" panose="020B0609020204030204" pitchFamily="49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068B35-2F2A-2CD6-B589-8CD9B8C3C74F}"/>
              </a:ext>
            </a:extLst>
          </p:cNvPr>
          <p:cNvSpPr txBox="1"/>
          <p:nvPr/>
        </p:nvSpPr>
        <p:spPr>
          <a:xfrm>
            <a:off x="471947" y="2248021"/>
            <a:ext cx="117298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err="1"/>
              <a:t>Tensorflow</a:t>
            </a:r>
            <a:r>
              <a:rPr lang="en-IN" sz="2800" b="1" dirty="0"/>
              <a:t> Variables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86A962-58AB-D027-9098-6C90D071367F}"/>
              </a:ext>
            </a:extLst>
          </p:cNvPr>
          <p:cNvSpPr txBox="1"/>
          <p:nvPr/>
        </p:nvSpPr>
        <p:spPr>
          <a:xfrm>
            <a:off x="471947" y="1380396"/>
            <a:ext cx="116217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Consolas" panose="020B0609020204030204" pitchFamily="49" charset="0"/>
              </a:rPr>
              <a:t>a=</a:t>
            </a:r>
            <a:r>
              <a:rPr lang="en-IN" sz="2000" dirty="0" err="1">
                <a:solidFill>
                  <a:srgbClr val="00B0F0"/>
                </a:solidFill>
                <a:latin typeface="Consolas" panose="020B0609020204030204" pitchFamily="49" charset="0"/>
              </a:rPr>
              <a:t>tf.constant</a:t>
            </a:r>
            <a:r>
              <a:rPr lang="en-IN" sz="2000" dirty="0">
                <a:latin typeface="Consolas" panose="020B0609020204030204" pitchFamily="49" charset="0"/>
              </a:rPr>
              <a:t>(</a:t>
            </a:r>
            <a:r>
              <a:rPr lang="en-IN" sz="2000" dirty="0">
                <a:solidFill>
                  <a:srgbClr val="CC00CC"/>
                </a:solidFill>
                <a:latin typeface="Consolas" panose="020B0609020204030204" pitchFamily="49" charset="0"/>
              </a:rPr>
              <a:t>[1,2,3]</a:t>
            </a:r>
            <a:r>
              <a:rPr lang="en-IN" sz="2000" dirty="0">
                <a:latin typeface="Consolas" panose="020B0609020204030204" pitchFamily="49" charset="0"/>
              </a:rPr>
              <a:t>,</a:t>
            </a:r>
            <a:r>
              <a:rPr lang="en-US" sz="2000" dirty="0">
                <a:solidFill>
                  <a:srgbClr val="00B0F0"/>
                </a:solidFill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dtype</a:t>
            </a:r>
            <a:r>
              <a:rPr lang="en-US" sz="2000" dirty="0"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=</a:t>
            </a:r>
            <a:r>
              <a:rPr lang="en-US" sz="2000" dirty="0">
                <a:solidFill>
                  <a:srgbClr val="00B0F0"/>
                </a:solidFill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tf.float64</a:t>
            </a:r>
            <a:r>
              <a:rPr lang="en-US" sz="2000" dirty="0"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,</a:t>
            </a:r>
            <a:r>
              <a:rPr lang="en-US" sz="2000" dirty="0">
                <a:solidFill>
                  <a:srgbClr val="00B0F0"/>
                </a:solidFill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 </a:t>
            </a:r>
            <a:r>
              <a:rPr lang="en-IN" sz="2000" dirty="0">
                <a:latin typeface="Consolas" panose="020B0609020204030204" pitchFamily="49" charset="0"/>
              </a:rPr>
              <a:t>name=</a:t>
            </a:r>
            <a:r>
              <a:rPr lang="en-IN" sz="2000" dirty="0">
                <a:solidFill>
                  <a:srgbClr val="00B050"/>
                </a:solidFill>
                <a:latin typeface="Consolas" panose="020B0609020204030204" pitchFamily="49" charset="0"/>
              </a:rPr>
              <a:t>'a'</a:t>
            </a:r>
            <a:r>
              <a:rPr lang="en-IN" sz="2000" dirty="0">
                <a:latin typeface="Consolas" panose="020B0609020204030204" pitchFamily="49" charset="0"/>
              </a:rPr>
              <a:t>,</a:t>
            </a:r>
            <a:r>
              <a:rPr lang="en-IN" sz="2000" dirty="0">
                <a:solidFill>
                  <a:srgbClr val="00B05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shape=(1,3)</a:t>
            </a:r>
            <a:r>
              <a:rPr lang="en-IN" sz="2000" dirty="0"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E4627E-852E-EF64-426B-B57E5657AC22}"/>
              </a:ext>
            </a:extLst>
          </p:cNvPr>
          <p:cNvSpPr txBox="1"/>
          <p:nvPr/>
        </p:nvSpPr>
        <p:spPr>
          <a:xfrm>
            <a:off x="471948" y="854379"/>
            <a:ext cx="117200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err="1"/>
              <a:t>Tensorflow</a:t>
            </a:r>
            <a:r>
              <a:rPr lang="en-IN" sz="2800" b="1" dirty="0"/>
              <a:t> Constants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1D3186-CF15-F3C4-F6DF-9EA041C2B32F}"/>
              </a:ext>
            </a:extLst>
          </p:cNvPr>
          <p:cNvSpPr txBox="1"/>
          <p:nvPr/>
        </p:nvSpPr>
        <p:spPr>
          <a:xfrm>
            <a:off x="471947" y="3609140"/>
            <a:ext cx="112677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i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# </a:t>
            </a:r>
            <a:r>
              <a:rPr lang="en-IN" sz="2000" i="1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Initlization</a:t>
            </a:r>
            <a:r>
              <a:rPr lang="en-IN" sz="2000" i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 of the variables required before graph execution</a:t>
            </a:r>
          </a:p>
          <a:p>
            <a:r>
              <a:rPr lang="en-IN" sz="2000" dirty="0" err="1">
                <a:latin typeface="Consolas" panose="020B0609020204030204" pitchFamily="49" charset="0"/>
              </a:rPr>
              <a:t>init</a:t>
            </a:r>
            <a:r>
              <a:rPr lang="en-IN" sz="2000" dirty="0">
                <a:latin typeface="Consolas" panose="020B0609020204030204" pitchFamily="49" charset="0"/>
              </a:rPr>
              <a:t> = </a:t>
            </a:r>
            <a:r>
              <a:rPr lang="en-IN" sz="2000" dirty="0">
                <a:solidFill>
                  <a:srgbClr val="00B0F0"/>
                </a:solidFill>
                <a:latin typeface="Consolas" panose="020B0609020204030204" pitchFamily="49" charset="0"/>
              </a:rPr>
              <a:t>tf</a:t>
            </a:r>
            <a:r>
              <a:rPr lang="en-IN" sz="2000" dirty="0">
                <a:latin typeface="Consolas" panose="020B0609020204030204" pitchFamily="49" charset="0"/>
              </a:rPr>
              <a:t>.</a:t>
            </a:r>
            <a:r>
              <a:rPr lang="en-IN" sz="2000" dirty="0">
                <a:solidFill>
                  <a:srgbClr val="00B0F0"/>
                </a:solidFill>
                <a:latin typeface="Consolas" panose="020B0609020204030204" pitchFamily="49" charset="0"/>
              </a:rPr>
              <a:t>compat</a:t>
            </a:r>
            <a:r>
              <a:rPr lang="en-IN" sz="2000" dirty="0">
                <a:latin typeface="Consolas" panose="020B0609020204030204" pitchFamily="49" charset="0"/>
              </a:rPr>
              <a:t>.</a:t>
            </a:r>
            <a:r>
              <a:rPr lang="en-IN" sz="2000" dirty="0">
                <a:solidFill>
                  <a:srgbClr val="00B0F0"/>
                </a:solidFill>
                <a:latin typeface="Consolas" panose="020B0609020204030204" pitchFamily="49" charset="0"/>
              </a:rPr>
              <a:t>v1</a:t>
            </a:r>
            <a:r>
              <a:rPr lang="en-IN" sz="2000" dirty="0">
                <a:latin typeface="Consolas" panose="020B0609020204030204" pitchFamily="49" charset="0"/>
              </a:rPr>
              <a:t>.</a:t>
            </a:r>
            <a:r>
              <a:rPr lang="en-IN" sz="2000" dirty="0">
                <a:solidFill>
                  <a:srgbClr val="00B0F0"/>
                </a:solidFill>
                <a:latin typeface="Consolas" panose="020B0609020204030204" pitchFamily="49" charset="0"/>
              </a:rPr>
              <a:t>global_variables_initializer()</a:t>
            </a:r>
            <a:endParaRPr lang="en-IN" sz="2000" i="1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DB5937-AD04-908A-2530-8303768A595C}"/>
              </a:ext>
            </a:extLst>
          </p:cNvPr>
          <p:cNvSpPr txBox="1"/>
          <p:nvPr/>
        </p:nvSpPr>
        <p:spPr>
          <a:xfrm>
            <a:off x="570270" y="4875244"/>
            <a:ext cx="116217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err="1"/>
              <a:t>Tensorflow</a:t>
            </a:r>
            <a:r>
              <a:rPr lang="en-IN" sz="2800" b="1" dirty="0"/>
              <a:t> Placeholders </a:t>
            </a:r>
            <a:r>
              <a:rPr lang="en-IN" sz="2000" b="1" dirty="0"/>
              <a:t>(can not be assigned, only to feed data)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15F3ED-832E-DFD1-1897-6DD977E8B365}"/>
              </a:ext>
            </a:extLst>
          </p:cNvPr>
          <p:cNvSpPr txBox="1"/>
          <p:nvPr/>
        </p:nvSpPr>
        <p:spPr>
          <a:xfrm>
            <a:off x="452283" y="5405366"/>
            <a:ext cx="1163156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Consolas" panose="020B0609020204030204" pitchFamily="49" charset="0"/>
              </a:rPr>
              <a:t>x = </a:t>
            </a:r>
            <a:r>
              <a:rPr lang="en-IN" sz="2000" dirty="0">
                <a:solidFill>
                  <a:srgbClr val="00B0F0"/>
                </a:solidFill>
                <a:latin typeface="Consolas" panose="020B0609020204030204" pitchFamily="49" charset="0"/>
              </a:rPr>
              <a:t>tf</a:t>
            </a:r>
            <a:r>
              <a:rPr lang="en-IN" sz="2000" dirty="0">
                <a:latin typeface="Consolas" panose="020B0609020204030204" pitchFamily="49" charset="0"/>
              </a:rPr>
              <a:t>.</a:t>
            </a:r>
            <a:r>
              <a:rPr lang="en-IN" sz="2000" dirty="0">
                <a:solidFill>
                  <a:srgbClr val="00B0F0"/>
                </a:solidFill>
                <a:latin typeface="Consolas" panose="020B0609020204030204" pitchFamily="49" charset="0"/>
              </a:rPr>
              <a:t>compat</a:t>
            </a:r>
            <a:r>
              <a:rPr lang="en-IN" sz="2000" dirty="0">
                <a:latin typeface="Consolas" panose="020B0609020204030204" pitchFamily="49" charset="0"/>
              </a:rPr>
              <a:t>.</a:t>
            </a:r>
            <a:r>
              <a:rPr lang="en-IN" sz="2000" dirty="0">
                <a:solidFill>
                  <a:srgbClr val="00B0F0"/>
                </a:solidFill>
                <a:latin typeface="Consolas" panose="020B0609020204030204" pitchFamily="49" charset="0"/>
              </a:rPr>
              <a:t>v1</a:t>
            </a:r>
            <a:r>
              <a:rPr lang="en-IN" sz="2000" dirty="0">
                <a:latin typeface="Consolas" panose="020B0609020204030204" pitchFamily="49" charset="0"/>
              </a:rPr>
              <a:t>.</a:t>
            </a:r>
            <a:r>
              <a:rPr lang="en-IN" sz="2000" dirty="0">
                <a:solidFill>
                  <a:srgbClr val="00B0F0"/>
                </a:solidFill>
                <a:latin typeface="Consolas" panose="020B0609020204030204" pitchFamily="49" charset="0"/>
              </a:rPr>
              <a:t>placeholder(</a:t>
            </a:r>
            <a:r>
              <a:rPr lang="en-IN" sz="2000" dirty="0" err="1">
                <a:latin typeface="Consolas" panose="020B0609020204030204" pitchFamily="49" charset="0"/>
              </a:rPr>
              <a:t>dtype</a:t>
            </a:r>
            <a:r>
              <a:rPr lang="en-IN" sz="2000" dirty="0">
                <a:latin typeface="Consolas" panose="020B0609020204030204" pitchFamily="49" charset="0"/>
              </a:rPr>
              <a:t>=</a:t>
            </a:r>
            <a:r>
              <a:rPr lang="en-IN" sz="2000" dirty="0">
                <a:solidFill>
                  <a:srgbClr val="00B0F0"/>
                </a:solidFill>
                <a:latin typeface="Consolas" panose="020B0609020204030204" pitchFamily="49" charset="0"/>
              </a:rPr>
              <a:t>tf.float16</a:t>
            </a:r>
            <a:r>
              <a:rPr lang="en-IN" sz="2000" dirty="0">
                <a:latin typeface="Consolas" panose="020B0609020204030204" pitchFamily="49" charset="0"/>
              </a:rPr>
              <a:t>,</a:t>
            </a:r>
            <a:r>
              <a:rPr lang="en-IN" sz="2000" dirty="0">
                <a:solidFill>
                  <a:srgbClr val="00B0F0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>
                <a:highlight>
                  <a:srgbClr val="FFFF00"/>
                </a:highlight>
                <a:latin typeface="Consolas" panose="020B0609020204030204" pitchFamily="49" charset="0"/>
              </a:rPr>
              <a:t>shape=</a:t>
            </a:r>
            <a:r>
              <a:rPr lang="en-IN" sz="2000" dirty="0">
                <a:solidFill>
                  <a:srgbClr val="00B0F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(None,1)</a:t>
            </a:r>
            <a:r>
              <a:rPr lang="en-IN" sz="2000" dirty="0">
                <a:latin typeface="Consolas" panose="020B0609020204030204" pitchFamily="49" charset="0"/>
              </a:rPr>
              <a:t>,</a:t>
            </a:r>
            <a:r>
              <a:rPr lang="en-IN" sz="2000" dirty="0">
                <a:solidFill>
                  <a:srgbClr val="00B0F0"/>
                </a:solidFill>
                <a:latin typeface="Consolas" panose="020B0609020204030204" pitchFamily="49" charset="0"/>
              </a:rPr>
              <a:t> </a:t>
            </a:r>
            <a:r>
              <a:rPr lang="en-IN" sz="2000" dirty="0">
                <a:latin typeface="Consolas" panose="020B0609020204030204" pitchFamily="49" charset="0"/>
              </a:rPr>
              <a:t>name=</a:t>
            </a:r>
            <a:r>
              <a:rPr lang="en-IN" sz="2000" dirty="0">
                <a:solidFill>
                  <a:srgbClr val="00B050"/>
                </a:solidFill>
                <a:latin typeface="Consolas" panose="020B0609020204030204" pitchFamily="49" charset="0"/>
              </a:rPr>
              <a:t>'</a:t>
            </a:r>
            <a:r>
              <a:rPr lang="en-IN" sz="2000" dirty="0">
                <a:solidFill>
                  <a:srgbClr val="00B0F0"/>
                </a:solidFill>
                <a:latin typeface="Consolas" panose="020B0609020204030204" pitchFamily="49" charset="0"/>
              </a:rPr>
              <a:t>x</a:t>
            </a:r>
            <a:r>
              <a:rPr lang="en-IN" sz="2000" dirty="0">
                <a:solidFill>
                  <a:srgbClr val="00B050"/>
                </a:solidFill>
                <a:latin typeface="Consolas" panose="020B0609020204030204" pitchFamily="49" charset="0"/>
              </a:rPr>
              <a:t>’</a:t>
            </a:r>
            <a:r>
              <a:rPr lang="en-IN" sz="2000" dirty="0">
                <a:solidFill>
                  <a:srgbClr val="00B0F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IN" sz="2000" i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# </a:t>
            </a:r>
            <a:r>
              <a:rPr lang="en-US" sz="2000" i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placeholder is NOT compatible with eager execution</a:t>
            </a:r>
          </a:p>
          <a:p>
            <a:r>
              <a:rPr lang="en-US" sz="2000" i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# </a:t>
            </a:r>
            <a:r>
              <a:rPr lang="en-US" sz="2000" i="1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feed_dict</a:t>
            </a:r>
            <a:r>
              <a:rPr lang="en-US" sz="2000" i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 is needed to input data, ex. </a:t>
            </a:r>
            <a:r>
              <a:rPr lang="en-US" sz="2000" i="1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sess.run</a:t>
            </a:r>
            <a:r>
              <a:rPr lang="en-US" sz="2000" i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(</a:t>
            </a:r>
            <a:r>
              <a:rPr lang="en-US" sz="2000" i="1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y,feed_dict</a:t>
            </a:r>
            <a:r>
              <a:rPr lang="en-US" sz="2000" i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={</a:t>
            </a:r>
            <a:r>
              <a:rPr lang="en-US" sz="2000" i="1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x:a</a:t>
            </a:r>
            <a:r>
              <a:rPr lang="en-US" sz="2000" i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Open Sans" pitchFamily="2" charset="0"/>
                <a:cs typeface="Open Sans" pitchFamily="2" charset="0"/>
              </a:rPr>
              <a:t>})</a:t>
            </a:r>
            <a:endParaRPr lang="en-US" sz="2000" dirty="0">
              <a:latin typeface="Consolas" panose="020B0609020204030204" pitchFamily="49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5440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0B494-D8B4-150A-EDCD-3004C1AF7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3DBDE85-9FA3-C7A5-AB89-33C9068A9AEF}"/>
              </a:ext>
            </a:extLst>
          </p:cNvPr>
          <p:cNvSpPr txBox="1"/>
          <p:nvPr/>
        </p:nvSpPr>
        <p:spPr>
          <a:xfrm>
            <a:off x="0" y="98322"/>
            <a:ext cx="12192000" cy="52322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Session 1: </a:t>
            </a:r>
            <a:r>
              <a:rPr lang="en-US" sz="2800" b="1" dirty="0" err="1">
                <a:solidFill>
                  <a:schemeClr val="bg1"/>
                </a:solidFill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Tensorflow</a:t>
            </a:r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 Basics</a:t>
            </a:r>
            <a:endParaRPr lang="en-IN" sz="2800" b="1" dirty="0">
              <a:solidFill>
                <a:schemeClr val="bg1"/>
              </a:solidFill>
              <a:latin typeface="Century Schoolbook" panose="02040604050505020304" pitchFamily="18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142390-2D46-EA32-5163-FD760D7BC2FB}"/>
              </a:ext>
            </a:extLst>
          </p:cNvPr>
          <p:cNvSpPr txBox="1"/>
          <p:nvPr/>
        </p:nvSpPr>
        <p:spPr>
          <a:xfrm>
            <a:off x="2672105" y="707692"/>
            <a:ext cx="70870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Automatic Gradient/Algorithmic Gradient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5DE594B-281B-BFA5-B408-4294E42AC8C0}"/>
              </a:ext>
            </a:extLst>
          </p:cNvPr>
          <p:cNvSpPr txBox="1"/>
          <p:nvPr/>
        </p:nvSpPr>
        <p:spPr>
          <a:xfrm>
            <a:off x="543240" y="2686048"/>
            <a:ext cx="708709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i="1" dirty="0">
                <a:solidFill>
                  <a:srgbClr val="C00000"/>
                </a:solidFill>
                <a:latin typeface="Consolas" panose="020B0609020204030204" pitchFamily="49" charset="0"/>
              </a:rPr>
              <a:t># Executing in graph mode &amp; creating session</a:t>
            </a:r>
          </a:p>
          <a:p>
            <a:r>
              <a:rPr lang="en-IN" sz="2000" dirty="0">
                <a:solidFill>
                  <a:srgbClr val="00B0F0"/>
                </a:solidFill>
                <a:latin typeface="Consolas" panose="020B0609020204030204" pitchFamily="49" charset="0"/>
              </a:rPr>
              <a:t>tf.compat.v1.disable_eager_execution</a:t>
            </a:r>
            <a:r>
              <a:rPr lang="en-IN" sz="2000" dirty="0">
                <a:latin typeface="Consolas" panose="020B0609020204030204" pitchFamily="49" charset="0"/>
              </a:rPr>
              <a:t>(); 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sess = </a:t>
            </a:r>
            <a:r>
              <a:rPr lang="en-IN" sz="2000" dirty="0">
                <a:solidFill>
                  <a:srgbClr val="00B0F0"/>
                </a:solidFill>
                <a:latin typeface="Consolas" panose="020B0609020204030204" pitchFamily="49" charset="0"/>
              </a:rPr>
              <a:t>tf.compat.v1.Session</a:t>
            </a:r>
            <a:r>
              <a:rPr lang="en-IN" sz="2000" dirty="0">
                <a:latin typeface="Consolas" panose="020B0609020204030204" pitchFamily="49" charset="0"/>
              </a:rPr>
              <a:t>();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4EA95E-339A-83D7-21F2-C3F6DF214C20}"/>
              </a:ext>
            </a:extLst>
          </p:cNvPr>
          <p:cNvSpPr txBox="1"/>
          <p:nvPr/>
        </p:nvSpPr>
        <p:spPr>
          <a:xfrm>
            <a:off x="543240" y="1274691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# Importing Libraries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import </a:t>
            </a: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tensorflow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as </a:t>
            </a: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tf</a:t>
            </a: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import </a:t>
            </a: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numpy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as np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456C7F-1205-B90D-6E60-A88990CFE69B}"/>
              </a:ext>
            </a:extLst>
          </p:cNvPr>
          <p:cNvSpPr txBox="1"/>
          <p:nvPr/>
        </p:nvSpPr>
        <p:spPr>
          <a:xfrm>
            <a:off x="543240" y="5560449"/>
            <a:ext cx="698913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Consolas" panose="020B0609020204030204" pitchFamily="49" charset="0"/>
              </a:rPr>
              <a:t>y = </a:t>
            </a:r>
            <a:r>
              <a:rPr lang="en-IN" sz="2000" dirty="0" err="1">
                <a:solidFill>
                  <a:srgbClr val="00B0F0"/>
                </a:solidFill>
                <a:latin typeface="Consolas" panose="020B0609020204030204" pitchFamily="49" charset="0"/>
              </a:rPr>
              <a:t>tf.</a:t>
            </a:r>
            <a:r>
              <a:rPr lang="en-IN" sz="2000" b="1" dirty="0" err="1">
                <a:solidFill>
                  <a:srgbClr val="00B0F0"/>
                </a:solidFill>
                <a:latin typeface="Consolas" panose="020B0609020204030204" pitchFamily="49" charset="0"/>
              </a:rPr>
              <a:t>Variable</a:t>
            </a:r>
            <a:r>
              <a:rPr lang="en-IN" sz="2000" dirty="0">
                <a:latin typeface="Consolas" panose="020B0609020204030204" pitchFamily="49" charset="0"/>
              </a:rPr>
              <a:t>([3], </a:t>
            </a:r>
            <a:r>
              <a:rPr lang="en-IN" sz="2000" dirty="0" err="1">
                <a:latin typeface="Consolas" panose="020B0609020204030204" pitchFamily="49" charset="0"/>
              </a:rPr>
              <a:t>dtype</a:t>
            </a:r>
            <a:r>
              <a:rPr lang="en-IN" sz="2000" dirty="0">
                <a:latin typeface="Consolas" panose="020B0609020204030204" pitchFamily="49" charset="0"/>
              </a:rPr>
              <a:t>=</a:t>
            </a:r>
            <a:r>
              <a:rPr lang="en-IN" sz="2000" dirty="0">
                <a:solidFill>
                  <a:srgbClr val="00B0F0"/>
                </a:solidFill>
                <a:latin typeface="Consolas" panose="020B0609020204030204" pitchFamily="49" charset="0"/>
              </a:rPr>
              <a:t>tf.float16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                name='y’,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                trainable=False);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205C73-7F2B-FFF3-DBD6-BF60CA39A77D}"/>
              </a:ext>
            </a:extLst>
          </p:cNvPr>
          <p:cNvSpPr txBox="1"/>
          <p:nvPr/>
        </p:nvSpPr>
        <p:spPr>
          <a:xfrm>
            <a:off x="543241" y="4083443"/>
            <a:ext cx="69091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IN" sz="2000" i="1" dirty="0">
                <a:solidFill>
                  <a:srgbClr val="C00000"/>
                </a:solidFill>
                <a:latin typeface="Consolas" panose="020B0609020204030204" pitchFamily="49" charset="0"/>
              </a:rPr>
              <a:t># Defining data and its type</a:t>
            </a: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 = 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tf.compat.v1.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placeholder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(shape=(None,1),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		         </a:t>
            </a: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dtype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tf.float16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		         name='x’); 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EB0CD5E-D84B-C359-15DE-521635410858}"/>
              </a:ext>
            </a:extLst>
          </p:cNvPr>
          <p:cNvGrpSpPr/>
          <p:nvPr/>
        </p:nvGrpSpPr>
        <p:grpSpPr>
          <a:xfrm>
            <a:off x="8459489" y="1295140"/>
            <a:ext cx="1602722" cy="1099148"/>
            <a:chOff x="8459489" y="1295140"/>
            <a:chExt cx="1602722" cy="1099148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E12AD216-B37A-E0D3-7CFD-28D9377CC087}"/>
                </a:ext>
              </a:extLst>
            </p:cNvPr>
            <p:cNvSpPr/>
            <p:nvPr/>
          </p:nvSpPr>
          <p:spPr>
            <a:xfrm>
              <a:off x="9525763" y="1659216"/>
              <a:ext cx="298186" cy="283730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33030BD-1CD1-43D4-F69A-263E5DF44ADA}"/>
                </a:ext>
              </a:extLst>
            </p:cNvPr>
            <p:cNvSpPr txBox="1"/>
            <p:nvPr/>
          </p:nvSpPr>
          <p:spPr>
            <a:xfrm>
              <a:off x="9525763" y="1295140"/>
              <a:ext cx="53644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800" b="1" dirty="0">
                  <a:latin typeface="Consolas" panose="020B0609020204030204" pitchFamily="49" charset="0"/>
                </a:rPr>
                <a:t>x</a:t>
              </a:r>
              <a:endParaRPr lang="en-IN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2E5385E4-BBF4-BFA3-DE04-E7D099EA93ED}"/>
                    </a:ext>
                  </a:extLst>
                </p:cNvPr>
                <p:cNvSpPr txBox="1"/>
                <p:nvPr/>
              </p:nvSpPr>
              <p:spPr>
                <a:xfrm>
                  <a:off x="8600761" y="1377599"/>
                  <a:ext cx="920193" cy="74956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IN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2E5385E4-BBF4-BFA3-DE04-E7D099EA93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0761" y="1377599"/>
                  <a:ext cx="920193" cy="749564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43F1A7A-0EEB-4DAB-3B5E-E1B0F630D8B0}"/>
                </a:ext>
              </a:extLst>
            </p:cNvPr>
            <p:cNvSpPr txBox="1"/>
            <p:nvPr/>
          </p:nvSpPr>
          <p:spPr>
            <a:xfrm>
              <a:off x="8459489" y="2024956"/>
              <a:ext cx="141427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800" i="1" dirty="0">
                  <a:latin typeface="Consolas" panose="020B0609020204030204" pitchFamily="49" charset="0"/>
                </a:rPr>
                <a:t>(None,1)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D5F9B67-A843-89CE-62EE-B3ED0DDBD6EC}"/>
              </a:ext>
            </a:extLst>
          </p:cNvPr>
          <p:cNvGrpSpPr/>
          <p:nvPr/>
        </p:nvGrpSpPr>
        <p:grpSpPr>
          <a:xfrm>
            <a:off x="10468189" y="1273264"/>
            <a:ext cx="1290001" cy="1003661"/>
            <a:chOff x="10468189" y="1273264"/>
            <a:chExt cx="1290001" cy="1003661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0A107B2-6BAC-8EAE-1BAC-99149D268DF2}"/>
                </a:ext>
              </a:extLst>
            </p:cNvPr>
            <p:cNvSpPr/>
            <p:nvPr/>
          </p:nvSpPr>
          <p:spPr>
            <a:xfrm>
              <a:off x="11209560" y="1659216"/>
              <a:ext cx="298186" cy="283730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CB8237F-9AF6-8E82-17E7-3939FC4585CB}"/>
                </a:ext>
              </a:extLst>
            </p:cNvPr>
            <p:cNvSpPr txBox="1"/>
            <p:nvPr/>
          </p:nvSpPr>
          <p:spPr>
            <a:xfrm>
              <a:off x="11221742" y="1273264"/>
              <a:ext cx="53644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latin typeface="Consolas" panose="020B0609020204030204" pitchFamily="49" charset="0"/>
                </a:rPr>
                <a:t>y</a:t>
              </a:r>
              <a:endParaRPr lang="en-IN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0738A190-BEE9-FF64-1A8F-8BB41A6481DC}"/>
                    </a:ext>
                  </a:extLst>
                </p:cNvPr>
                <p:cNvSpPr txBox="1"/>
                <p:nvPr/>
              </p:nvSpPr>
              <p:spPr>
                <a:xfrm>
                  <a:off x="10468189" y="1568164"/>
                  <a:ext cx="92019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0738A190-BEE9-FF64-1A8F-8BB41A6481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68189" y="1568164"/>
                  <a:ext cx="920193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86FA6A2-7196-CB4B-EFD1-CA6EB76124DD}"/>
                </a:ext>
              </a:extLst>
            </p:cNvPr>
            <p:cNvSpPr txBox="1"/>
            <p:nvPr/>
          </p:nvSpPr>
          <p:spPr>
            <a:xfrm>
              <a:off x="10572436" y="1907593"/>
              <a:ext cx="8286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800" i="1" dirty="0">
                  <a:latin typeface="Consolas" panose="020B0609020204030204" pitchFamily="49" charset="0"/>
                </a:rPr>
                <a:t>(1,)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00346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12" grpId="0"/>
      <p:bldP spid="14" grpId="0"/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77832-8E21-D175-08BE-63A4D75F7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4B1FDF-ED5E-37A4-FC14-64789E0247C5}"/>
              </a:ext>
            </a:extLst>
          </p:cNvPr>
          <p:cNvSpPr txBox="1"/>
          <p:nvPr/>
        </p:nvSpPr>
        <p:spPr>
          <a:xfrm>
            <a:off x="0" y="98322"/>
            <a:ext cx="12192000" cy="52322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Session 1: </a:t>
            </a:r>
            <a:r>
              <a:rPr lang="en-US" sz="2800" b="1" dirty="0" err="1">
                <a:solidFill>
                  <a:schemeClr val="bg1"/>
                </a:solidFill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Tensorflow</a:t>
            </a:r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 Basics</a:t>
            </a:r>
            <a:endParaRPr lang="en-IN" sz="2800" b="1" dirty="0">
              <a:solidFill>
                <a:schemeClr val="bg1"/>
              </a:solidFill>
              <a:latin typeface="Century Schoolbook" panose="02040604050505020304" pitchFamily="18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6E46514-7B66-97FE-23E2-C25D72BEDBFE}"/>
              </a:ext>
            </a:extLst>
          </p:cNvPr>
          <p:cNvSpPr/>
          <p:nvPr/>
        </p:nvSpPr>
        <p:spPr>
          <a:xfrm>
            <a:off x="9525763" y="1659216"/>
            <a:ext cx="298186" cy="28373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294C68-DD0B-C060-F5DE-956C8967801F}"/>
              </a:ext>
            </a:extLst>
          </p:cNvPr>
          <p:cNvSpPr txBox="1"/>
          <p:nvPr/>
        </p:nvSpPr>
        <p:spPr>
          <a:xfrm>
            <a:off x="9525763" y="1295140"/>
            <a:ext cx="5364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Consolas" panose="020B0609020204030204" pitchFamily="49" charset="0"/>
              </a:rPr>
              <a:t>x</a:t>
            </a:r>
            <a:endParaRPr lang="en-IN" b="1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A0E01B2-C1C2-BAFB-BFE3-AAE8899505E4}"/>
              </a:ext>
            </a:extLst>
          </p:cNvPr>
          <p:cNvSpPr/>
          <p:nvPr/>
        </p:nvSpPr>
        <p:spPr>
          <a:xfrm>
            <a:off x="11209560" y="1659216"/>
            <a:ext cx="298186" cy="28373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28C22F-B54B-744A-C808-A68A6CAAD0CB}"/>
              </a:ext>
            </a:extLst>
          </p:cNvPr>
          <p:cNvSpPr txBox="1"/>
          <p:nvPr/>
        </p:nvSpPr>
        <p:spPr>
          <a:xfrm>
            <a:off x="11221742" y="1273264"/>
            <a:ext cx="5364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y</a:t>
            </a:r>
            <a:endParaRPr lang="en-IN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0DFADEF-83F9-425D-CB3B-2C1798DB9214}"/>
                  </a:ext>
                </a:extLst>
              </p:cNvPr>
              <p:cNvSpPr txBox="1"/>
              <p:nvPr/>
            </p:nvSpPr>
            <p:spPr>
              <a:xfrm>
                <a:off x="8600761" y="1377599"/>
                <a:ext cx="920193" cy="7495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brk m:alnAt="7"/>
                                  </m:rP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0DFADEF-83F9-425D-CB3B-2C1798DB92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0761" y="1377599"/>
                <a:ext cx="920193" cy="7495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A5508F-534F-D6F7-FAAE-F6144C08D7DE}"/>
                  </a:ext>
                </a:extLst>
              </p:cNvPr>
              <p:cNvSpPr txBox="1"/>
              <p:nvPr/>
            </p:nvSpPr>
            <p:spPr>
              <a:xfrm>
                <a:off x="10468189" y="1568164"/>
                <a:ext cx="9201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A5508F-534F-D6F7-FAAE-F6144C08D7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8189" y="1568164"/>
                <a:ext cx="92019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3C3394B3-40D6-643F-9EF4-AC40EF1D38FD}"/>
              </a:ext>
            </a:extLst>
          </p:cNvPr>
          <p:cNvSpPr txBox="1"/>
          <p:nvPr/>
        </p:nvSpPr>
        <p:spPr>
          <a:xfrm>
            <a:off x="526542" y="1273264"/>
            <a:ext cx="812881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i="1" dirty="0">
                <a:solidFill>
                  <a:srgbClr val="C00000"/>
                </a:solidFill>
                <a:latin typeface="Consolas" panose="020B0609020204030204" pitchFamily="49" charset="0"/>
              </a:rPr>
              <a:t># </a:t>
            </a:r>
            <a:r>
              <a:rPr lang="en-IN" sz="2000" i="1" dirty="0" err="1">
                <a:solidFill>
                  <a:srgbClr val="C00000"/>
                </a:solidFill>
                <a:latin typeface="Consolas" panose="020B0609020204030204" pitchFamily="49" charset="0"/>
              </a:rPr>
              <a:t>Arithmatic</a:t>
            </a:r>
            <a:r>
              <a:rPr lang="en-IN" sz="2000" i="1" dirty="0">
                <a:solidFill>
                  <a:srgbClr val="C00000"/>
                </a:solidFill>
                <a:latin typeface="Consolas" panose="020B0609020204030204" pitchFamily="49" charset="0"/>
              </a:rPr>
              <a:t> expression and taping</a:t>
            </a:r>
            <a:endParaRPr lang="en-IN" sz="2000" dirty="0">
              <a:latin typeface="Consolas" panose="020B0609020204030204" pitchFamily="49" charset="0"/>
            </a:endParaRPr>
          </a:p>
          <a:p>
            <a:r>
              <a:rPr lang="en-IN" sz="2000" dirty="0">
                <a:latin typeface="Consolas" panose="020B0609020204030204" pitchFamily="49" charset="0"/>
              </a:rPr>
              <a:t>with </a:t>
            </a:r>
            <a:r>
              <a:rPr lang="en-IN" sz="2000" dirty="0" err="1">
                <a:solidFill>
                  <a:srgbClr val="00B0F0"/>
                </a:solidFill>
                <a:latin typeface="Consolas" panose="020B0609020204030204" pitchFamily="49" charset="0"/>
              </a:rPr>
              <a:t>tf.GradientTape</a:t>
            </a:r>
            <a:r>
              <a:rPr lang="en-IN" sz="2000" dirty="0">
                <a:latin typeface="Consolas" panose="020B0609020204030204" pitchFamily="49" charset="0"/>
              </a:rPr>
              <a:t>(</a:t>
            </a:r>
            <a:r>
              <a:rPr lang="en-IN" sz="2000" dirty="0">
                <a:solidFill>
                  <a:schemeClr val="accent2"/>
                </a:solidFill>
                <a:latin typeface="Consolas" panose="020B0609020204030204" pitchFamily="49" charset="0"/>
              </a:rPr>
              <a:t>persistent=True</a:t>
            </a:r>
            <a:r>
              <a:rPr lang="en-IN" sz="2000" dirty="0">
                <a:latin typeface="Consolas" panose="020B0609020204030204" pitchFamily="49" charset="0"/>
              </a:rPr>
              <a:t>) as tape_1: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    tape_1.</a:t>
            </a:r>
            <a:r>
              <a:rPr lang="en-IN" sz="2000" dirty="0">
                <a:solidFill>
                  <a:srgbClr val="00B0F0"/>
                </a:solidFill>
                <a:latin typeface="Consolas" panose="020B0609020204030204" pitchFamily="49" charset="0"/>
              </a:rPr>
              <a:t>watch</a:t>
            </a:r>
            <a:r>
              <a:rPr lang="en-IN" sz="2000" dirty="0">
                <a:latin typeface="Consolas" panose="020B0609020204030204" pitchFamily="49" charset="0"/>
              </a:rPr>
              <a:t>([</a:t>
            </a:r>
            <a:r>
              <a:rPr lang="en-IN" sz="2000" dirty="0" err="1">
                <a:latin typeface="Consolas" panose="020B0609020204030204" pitchFamily="49" charset="0"/>
              </a:rPr>
              <a:t>x,y</a:t>
            </a:r>
            <a:r>
              <a:rPr lang="en-IN" sz="2000" dirty="0">
                <a:latin typeface="Consolas" panose="020B0609020204030204" pitchFamily="49" charset="0"/>
              </a:rPr>
              <a:t>]);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    </a:t>
            </a:r>
            <a:r>
              <a:rPr lang="en-IN" sz="2000" b="1" dirty="0">
                <a:solidFill>
                  <a:srgbClr val="CC00CC"/>
                </a:solidFill>
                <a:latin typeface="Consolas" panose="020B0609020204030204" pitchFamily="49" charset="0"/>
              </a:rPr>
              <a:t>z = x**3+y**2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6839F86-4F01-9381-80C5-CC236EEF6129}"/>
              </a:ext>
            </a:extLst>
          </p:cNvPr>
          <p:cNvSpPr txBox="1"/>
          <p:nvPr/>
        </p:nvSpPr>
        <p:spPr>
          <a:xfrm>
            <a:off x="2672105" y="707692"/>
            <a:ext cx="70870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Automatic Gradient/Algorithmic Gradient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30D2EF61-8E55-0E2A-3AB7-194908770FAB}"/>
              </a:ext>
            </a:extLst>
          </p:cNvPr>
          <p:cNvGrpSpPr/>
          <p:nvPr/>
        </p:nvGrpSpPr>
        <p:grpSpPr>
          <a:xfrm>
            <a:off x="9407189" y="1914218"/>
            <a:ext cx="2217143" cy="1438566"/>
            <a:chOff x="9407189" y="1914218"/>
            <a:chExt cx="2217143" cy="1438566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161C51F-33B0-3159-0F31-63C8040ECA34}"/>
                </a:ext>
              </a:extLst>
            </p:cNvPr>
            <p:cNvSpPr/>
            <p:nvPr/>
          </p:nvSpPr>
          <p:spPr>
            <a:xfrm>
              <a:off x="9407189" y="2838434"/>
              <a:ext cx="531359" cy="5143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**</a:t>
              </a:r>
              <a:endParaRPr lang="en-IN" b="1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DA0D562-9E02-9795-9FA3-17F95CE6E0CF}"/>
                </a:ext>
              </a:extLst>
            </p:cNvPr>
            <p:cNvSpPr/>
            <p:nvPr/>
          </p:nvSpPr>
          <p:spPr>
            <a:xfrm>
              <a:off x="11092973" y="2838434"/>
              <a:ext cx="531359" cy="5143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**</a:t>
              </a:r>
              <a:endParaRPr lang="en-IN" b="1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02408561-D3AA-DC97-546C-81D364E5A33A}"/>
                </a:ext>
              </a:extLst>
            </p:cNvPr>
            <p:cNvSpPr/>
            <p:nvPr/>
          </p:nvSpPr>
          <p:spPr>
            <a:xfrm>
              <a:off x="10196335" y="2953744"/>
              <a:ext cx="298186" cy="283730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3</a:t>
              </a:r>
              <a:endParaRPr lang="en-IN" b="1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2B9FEB7B-A9A0-B5B7-29E3-188F9A6D9CBC}"/>
                </a:ext>
              </a:extLst>
            </p:cNvPr>
            <p:cNvSpPr/>
            <p:nvPr/>
          </p:nvSpPr>
          <p:spPr>
            <a:xfrm>
              <a:off x="10552347" y="2953744"/>
              <a:ext cx="298186" cy="283730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2</a:t>
              </a:r>
              <a:endParaRPr lang="en-IN" b="1" dirty="0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5E843B7F-764B-325B-0BF6-D01AA43FEC8E}"/>
                </a:ext>
              </a:extLst>
            </p:cNvPr>
            <p:cNvCxnSpPr>
              <a:stCxn id="7" idx="4"/>
              <a:endCxn id="24" idx="0"/>
            </p:cNvCxnSpPr>
            <p:nvPr/>
          </p:nvCxnSpPr>
          <p:spPr>
            <a:xfrm flipH="1">
              <a:off x="9672869" y="1942946"/>
              <a:ext cx="1987" cy="895488"/>
            </a:xfrm>
            <a:prstGeom prst="straightConnector1">
              <a:avLst/>
            </a:prstGeom>
            <a:ln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335B0F6A-765C-4FC9-108C-0306BA23FFB7}"/>
                </a:ext>
              </a:extLst>
            </p:cNvPr>
            <p:cNvCxnSpPr>
              <a:cxnSpLocks/>
              <a:endCxn id="25" idx="0"/>
            </p:cNvCxnSpPr>
            <p:nvPr/>
          </p:nvCxnSpPr>
          <p:spPr>
            <a:xfrm>
              <a:off x="11358652" y="1914218"/>
              <a:ext cx="1" cy="924216"/>
            </a:xfrm>
            <a:prstGeom prst="straightConnector1">
              <a:avLst/>
            </a:prstGeom>
            <a:ln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18B5EE1E-8617-65E3-4281-3D7F8B12B7C6}"/>
                </a:ext>
              </a:extLst>
            </p:cNvPr>
            <p:cNvCxnSpPr>
              <a:cxnSpLocks/>
              <a:stCxn id="28" idx="2"/>
              <a:endCxn id="24" idx="3"/>
            </p:cNvCxnSpPr>
            <p:nvPr/>
          </p:nvCxnSpPr>
          <p:spPr>
            <a:xfrm flipH="1">
              <a:off x="9938548" y="3095609"/>
              <a:ext cx="257787" cy="0"/>
            </a:xfrm>
            <a:prstGeom prst="straightConnector1">
              <a:avLst/>
            </a:prstGeom>
            <a:ln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406D9986-7CA3-74C9-44DB-7D57ACCBBE08}"/>
                </a:ext>
              </a:extLst>
            </p:cNvPr>
            <p:cNvCxnSpPr>
              <a:cxnSpLocks/>
              <a:stCxn id="29" idx="6"/>
              <a:endCxn id="25" idx="1"/>
            </p:cNvCxnSpPr>
            <p:nvPr/>
          </p:nvCxnSpPr>
          <p:spPr>
            <a:xfrm>
              <a:off x="10850533" y="3095609"/>
              <a:ext cx="242440" cy="0"/>
            </a:xfrm>
            <a:prstGeom prst="straightConnector1">
              <a:avLst/>
            </a:prstGeom>
            <a:ln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C9E55E7-AD7F-2C9F-DC08-5C363923D158}"/>
                  </a:ext>
                </a:extLst>
              </p:cNvPr>
              <p:cNvSpPr txBox="1"/>
              <p:nvPr/>
            </p:nvSpPr>
            <p:spPr>
              <a:xfrm>
                <a:off x="8789372" y="3927203"/>
                <a:ext cx="1295155" cy="8107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</m:e>
                          </m:mr>
                          <m:m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brk m:alnAt="7"/>
                                </m:r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</m:mr>
                        </m:m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C9E55E7-AD7F-2C9F-DC08-5C363923D1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9372" y="3927203"/>
                <a:ext cx="1295155" cy="8107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7DF0C993-9D13-766E-F3AB-C475A2AEBA02}"/>
                  </a:ext>
                </a:extLst>
              </p:cNvPr>
              <p:cNvSpPr txBox="1"/>
              <p:nvPr/>
            </p:nvSpPr>
            <p:spPr>
              <a:xfrm>
                <a:off x="7360200" y="3953521"/>
                <a:ext cx="1295155" cy="7496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</m:e>
                          </m:mr>
                          <m:m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brk m:alnAt="7"/>
                                </m:r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</m:mr>
                        </m:m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7DF0C993-9D13-766E-F3AB-C475A2AEBA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0200" y="3953521"/>
                <a:ext cx="1295155" cy="74969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AF4124C-8239-C100-81BF-535483F3E426}"/>
              </a:ext>
            </a:extLst>
          </p:cNvPr>
          <p:cNvCxnSpPr>
            <a:cxnSpLocks/>
          </p:cNvCxnSpPr>
          <p:nvPr/>
        </p:nvCxnSpPr>
        <p:spPr>
          <a:xfrm>
            <a:off x="8412857" y="4323901"/>
            <a:ext cx="418298" cy="0"/>
          </a:xfrm>
          <a:prstGeom prst="straightConnector1">
            <a:avLst/>
          </a:prstGeom>
          <a:ln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D53E202A-AB7A-73AB-5C50-23E49E68BCE7}"/>
              </a:ext>
            </a:extLst>
          </p:cNvPr>
          <p:cNvSpPr txBox="1"/>
          <p:nvPr/>
        </p:nvSpPr>
        <p:spPr>
          <a:xfrm>
            <a:off x="7360200" y="3577725"/>
            <a:ext cx="2021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i="1" dirty="0">
                <a:latin typeface="Consolas" panose="020B0609020204030204" pitchFamily="49" charset="0"/>
              </a:rPr>
              <a:t>(Broadcasting)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9976F177-0858-558A-C4DD-6A9037CF80B9}"/>
              </a:ext>
            </a:extLst>
          </p:cNvPr>
          <p:cNvGrpSpPr/>
          <p:nvPr/>
        </p:nvGrpSpPr>
        <p:grpSpPr>
          <a:xfrm>
            <a:off x="9672869" y="3352784"/>
            <a:ext cx="1685784" cy="1847104"/>
            <a:chOff x="9672869" y="3352784"/>
            <a:chExt cx="1685784" cy="1847104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2A447AD0-BBD3-C7E8-6223-8A3001C1E825}"/>
                </a:ext>
              </a:extLst>
            </p:cNvPr>
            <p:cNvGrpSpPr/>
            <p:nvPr/>
          </p:nvGrpSpPr>
          <p:grpSpPr>
            <a:xfrm>
              <a:off x="9672869" y="3352784"/>
              <a:ext cx="1685784" cy="1847104"/>
              <a:chOff x="9672869" y="3352784"/>
              <a:chExt cx="1685784" cy="1847104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236F00C3-B7A3-A78E-2C00-C294021B9692}"/>
                  </a:ext>
                </a:extLst>
              </p:cNvPr>
              <p:cNvSpPr/>
              <p:nvPr/>
            </p:nvSpPr>
            <p:spPr>
              <a:xfrm>
                <a:off x="10202509" y="4066726"/>
                <a:ext cx="531359" cy="51435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+</a:t>
                </a:r>
                <a:endParaRPr lang="en-IN" b="1" dirty="0"/>
              </a:p>
            </p:txBody>
          </p: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570CEC3A-E049-5F7E-4FB2-0F26499BD906}"/>
                  </a:ext>
                </a:extLst>
              </p:cNvPr>
              <p:cNvCxnSpPr>
                <a:cxnSpLocks/>
                <a:stCxn id="24" idx="2"/>
                <a:endCxn id="26" idx="0"/>
              </p:cNvCxnSpPr>
              <p:nvPr/>
            </p:nvCxnSpPr>
            <p:spPr>
              <a:xfrm>
                <a:off x="9672869" y="3352784"/>
                <a:ext cx="795320" cy="713942"/>
              </a:xfrm>
              <a:prstGeom prst="straightConnector1">
                <a:avLst/>
              </a:prstGeom>
              <a:ln>
                <a:headEnd w="lg" len="lg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A8181134-C422-09ED-F095-6AAF351A9D6C}"/>
                  </a:ext>
                </a:extLst>
              </p:cNvPr>
              <p:cNvCxnSpPr>
                <a:cxnSpLocks/>
                <a:stCxn id="25" idx="2"/>
                <a:endCxn id="26" idx="0"/>
              </p:cNvCxnSpPr>
              <p:nvPr/>
            </p:nvCxnSpPr>
            <p:spPr>
              <a:xfrm flipH="1">
                <a:off x="10468189" y="3352784"/>
                <a:ext cx="890464" cy="713942"/>
              </a:xfrm>
              <a:prstGeom prst="straightConnector1">
                <a:avLst/>
              </a:prstGeom>
              <a:ln>
                <a:headEnd w="lg" len="lg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1D66EA8B-9A8E-4DFA-8D34-08CC3F7FCB51}"/>
                  </a:ext>
                </a:extLst>
              </p:cNvPr>
              <p:cNvCxnSpPr>
                <a:cxnSpLocks/>
                <a:stCxn id="26" idx="2"/>
              </p:cNvCxnSpPr>
              <p:nvPr/>
            </p:nvCxnSpPr>
            <p:spPr>
              <a:xfrm flipH="1">
                <a:off x="10468188" y="4581076"/>
                <a:ext cx="1" cy="618812"/>
              </a:xfrm>
              <a:prstGeom prst="straightConnector1">
                <a:avLst/>
              </a:prstGeom>
              <a:ln>
                <a:headEnd w="lg" len="lg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3FC31B4F-97DE-4096-A2FB-AE11B882D59E}"/>
                </a:ext>
              </a:extLst>
            </p:cNvPr>
            <p:cNvSpPr txBox="1"/>
            <p:nvPr/>
          </p:nvSpPr>
          <p:spPr>
            <a:xfrm>
              <a:off x="10524318" y="4503155"/>
              <a:ext cx="53644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800" b="1" dirty="0">
                  <a:latin typeface="Consolas" panose="020B0609020204030204" pitchFamily="49" charset="0"/>
                </a:rPr>
                <a:t>z</a:t>
              </a:r>
              <a:endParaRPr lang="en-IN" b="1" dirty="0"/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A023A26F-73F0-0E8A-3652-FFB07CFFDBB2}"/>
              </a:ext>
            </a:extLst>
          </p:cNvPr>
          <p:cNvSpPr txBox="1"/>
          <p:nvPr/>
        </p:nvSpPr>
        <p:spPr>
          <a:xfrm>
            <a:off x="526542" y="2891119"/>
            <a:ext cx="609407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i="1" dirty="0">
                <a:solidFill>
                  <a:srgbClr val="C00000"/>
                </a:solidFill>
                <a:latin typeface="Consolas" panose="020B0609020204030204" pitchFamily="49" charset="0"/>
              </a:rPr>
              <a:t># Evaluating gradient</a:t>
            </a:r>
          </a:p>
          <a:p>
            <a:r>
              <a:rPr lang="en-IN" sz="2000" dirty="0" err="1">
                <a:latin typeface="Consolas" panose="020B0609020204030204" pitchFamily="49" charset="0"/>
              </a:rPr>
              <a:t>dz_dy</a:t>
            </a:r>
            <a:r>
              <a:rPr lang="en-IN" sz="2000" dirty="0">
                <a:latin typeface="Consolas" panose="020B0609020204030204" pitchFamily="49" charset="0"/>
              </a:rPr>
              <a:t> = tape_1.</a:t>
            </a:r>
            <a:r>
              <a:rPr lang="en-IN" sz="2000" dirty="0">
                <a:solidFill>
                  <a:srgbClr val="00B0F0"/>
                </a:solidFill>
                <a:latin typeface="Consolas" panose="020B0609020204030204" pitchFamily="49" charset="0"/>
              </a:rPr>
              <a:t>gradient</a:t>
            </a:r>
            <a:r>
              <a:rPr lang="en-IN" sz="2000" dirty="0">
                <a:latin typeface="Consolas" panose="020B0609020204030204" pitchFamily="49" charset="0"/>
              </a:rPr>
              <a:t>(</a:t>
            </a:r>
            <a:r>
              <a:rPr lang="en-IN" sz="2000" dirty="0" err="1">
                <a:latin typeface="Consolas" panose="020B0609020204030204" pitchFamily="49" charset="0"/>
              </a:rPr>
              <a:t>z,y</a:t>
            </a:r>
            <a:r>
              <a:rPr lang="en-IN" sz="2000" dirty="0">
                <a:latin typeface="Consolas" panose="020B0609020204030204" pitchFamily="49" charset="0"/>
              </a:rPr>
              <a:t>);</a:t>
            </a:r>
          </a:p>
          <a:p>
            <a:r>
              <a:rPr lang="en-IN" sz="2000" dirty="0" err="1">
                <a:latin typeface="Consolas" panose="020B0609020204030204" pitchFamily="49" charset="0"/>
              </a:rPr>
              <a:t>dz_dx</a:t>
            </a:r>
            <a:r>
              <a:rPr lang="en-IN" sz="2000" dirty="0">
                <a:latin typeface="Consolas" panose="020B0609020204030204" pitchFamily="49" charset="0"/>
              </a:rPr>
              <a:t> = tape_1.</a:t>
            </a:r>
            <a:r>
              <a:rPr lang="en-IN" sz="2000" dirty="0">
                <a:solidFill>
                  <a:srgbClr val="00B0F0"/>
                </a:solidFill>
                <a:latin typeface="Consolas" panose="020B0609020204030204" pitchFamily="49" charset="0"/>
              </a:rPr>
              <a:t>gradient</a:t>
            </a:r>
            <a:r>
              <a:rPr lang="en-IN" sz="2000" dirty="0">
                <a:latin typeface="Consolas" panose="020B0609020204030204" pitchFamily="49" charset="0"/>
              </a:rPr>
              <a:t>(</a:t>
            </a:r>
            <a:r>
              <a:rPr lang="en-IN" sz="2000" dirty="0" err="1">
                <a:latin typeface="Consolas" panose="020B0609020204030204" pitchFamily="49" charset="0"/>
              </a:rPr>
              <a:t>z,x</a:t>
            </a:r>
            <a:r>
              <a:rPr lang="en-IN" sz="2000" dirty="0">
                <a:latin typeface="Consolas" panose="020B0609020204030204" pitchFamily="49" charset="0"/>
              </a:rPr>
              <a:t>);</a:t>
            </a: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8CB660C5-AA60-F8CA-F03B-8767E232CF12}"/>
              </a:ext>
            </a:extLst>
          </p:cNvPr>
          <p:cNvGrpSpPr/>
          <p:nvPr/>
        </p:nvGrpSpPr>
        <p:grpSpPr>
          <a:xfrm>
            <a:off x="10468188" y="2386897"/>
            <a:ext cx="1723809" cy="4325041"/>
            <a:chOff x="10468188" y="2386897"/>
            <a:chExt cx="1723809" cy="432504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CF8A138-FFD8-2DD6-24F5-3F6598D4A6E3}"/>
                </a:ext>
              </a:extLst>
            </p:cNvPr>
            <p:cNvSpPr txBox="1"/>
            <p:nvPr/>
          </p:nvSpPr>
          <p:spPr>
            <a:xfrm>
              <a:off x="11254648" y="6342606"/>
              <a:ext cx="8286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800" i="1" dirty="0">
                  <a:latin typeface="Consolas" panose="020B0609020204030204" pitchFamily="49" charset="0"/>
                </a:rPr>
                <a:t>(1,)</a:t>
              </a:r>
            </a:p>
          </p:txBody>
        </p: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336D8211-DA3A-C4A1-A83F-3C11C304E56A}"/>
                </a:ext>
              </a:extLst>
            </p:cNvPr>
            <p:cNvGrpSpPr/>
            <p:nvPr/>
          </p:nvGrpSpPr>
          <p:grpSpPr>
            <a:xfrm>
              <a:off x="10468188" y="2386897"/>
              <a:ext cx="1723809" cy="4200565"/>
              <a:chOff x="10468188" y="2386897"/>
              <a:chExt cx="1723809" cy="4200565"/>
            </a:xfrm>
          </p:grpSpPr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98AB56AC-7DB8-D6C0-B5E2-F37D77C05ED0}"/>
                  </a:ext>
                </a:extLst>
              </p:cNvPr>
              <p:cNvCxnSpPr>
                <a:cxnSpLocks/>
                <a:stCxn id="67" idx="2"/>
              </p:cNvCxnSpPr>
              <p:nvPr/>
            </p:nvCxnSpPr>
            <p:spPr>
              <a:xfrm flipH="1">
                <a:off x="11219776" y="5968650"/>
                <a:ext cx="1" cy="618812"/>
              </a:xfrm>
              <a:prstGeom prst="straightConnector1">
                <a:avLst/>
              </a:prstGeom>
              <a:ln>
                <a:headEnd w="lg" len="lg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6C64C22A-6565-327B-D18A-828D6708B484}"/>
                  </a:ext>
                </a:extLst>
              </p:cNvPr>
              <p:cNvGrpSpPr/>
              <p:nvPr/>
            </p:nvGrpSpPr>
            <p:grpSpPr>
              <a:xfrm>
                <a:off x="10468188" y="2386897"/>
                <a:ext cx="1723809" cy="4017327"/>
                <a:chOff x="10468188" y="2386897"/>
                <a:chExt cx="1723809" cy="4017327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7" name="Rectangle 66">
                      <a:extLst>
                        <a:ext uri="{FF2B5EF4-FFF2-40B4-BE49-F238E27FC236}">
                          <a16:creationId xmlns:a16="http://schemas.microsoft.com/office/drawing/2014/main" id="{6AE8598A-1896-150E-AE2E-76F14A02C2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54097" y="5454300"/>
                      <a:ext cx="531359" cy="514350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I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𝛁</m:t>
                            </m:r>
                          </m:oMath>
                        </m:oMathPara>
                      </a14:m>
                      <a:endParaRPr lang="en-IN" b="1" dirty="0"/>
                    </a:p>
                  </p:txBody>
                </p:sp>
              </mc:Choice>
              <mc:Fallback xmlns="">
                <p:sp>
                  <p:nvSpPr>
                    <p:cNvPr id="67" name="Rectangle 66">
                      <a:extLst>
                        <a:ext uri="{FF2B5EF4-FFF2-40B4-BE49-F238E27FC236}">
                          <a16:creationId xmlns:a16="http://schemas.microsoft.com/office/drawing/2014/main" id="{6AE8598A-1896-150E-AE2E-76F14A02C20D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954097" y="5454300"/>
                      <a:ext cx="531359" cy="514350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68" name="Straight Arrow Connector 67">
                  <a:extLst>
                    <a:ext uri="{FF2B5EF4-FFF2-40B4-BE49-F238E27FC236}">
                      <a16:creationId xmlns:a16="http://schemas.microsoft.com/office/drawing/2014/main" id="{B13318C0-CE4A-5A63-A136-20C6EABF0691}"/>
                    </a:ext>
                  </a:extLst>
                </p:cNvPr>
                <p:cNvCxnSpPr>
                  <a:cxnSpLocks/>
                  <a:endCxn id="67" idx="0"/>
                </p:cNvCxnSpPr>
                <p:nvPr/>
              </p:nvCxnSpPr>
              <p:spPr>
                <a:xfrm>
                  <a:off x="10468188" y="5198784"/>
                  <a:ext cx="751589" cy="255516"/>
                </a:xfrm>
                <a:prstGeom prst="straightConnector1">
                  <a:avLst/>
                </a:prstGeom>
                <a:ln>
                  <a:headEnd w="lg" len="lg"/>
                  <a:tailEnd type="triangl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Straight Arrow Connector 68">
                  <a:extLst>
                    <a:ext uri="{FF2B5EF4-FFF2-40B4-BE49-F238E27FC236}">
                      <a16:creationId xmlns:a16="http://schemas.microsoft.com/office/drawing/2014/main" id="{858FC8C1-4654-9DCF-AEF3-6D6725F2A65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1884220" y="2386897"/>
                  <a:ext cx="1987" cy="2811887"/>
                </a:xfrm>
                <a:prstGeom prst="straightConnector1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041F7685-92B6-8129-0195-D31CDAFDF211}"/>
                    </a:ext>
                  </a:extLst>
                </p:cNvPr>
                <p:cNvSpPr txBox="1"/>
                <p:nvPr/>
              </p:nvSpPr>
              <p:spPr>
                <a:xfrm>
                  <a:off x="11254648" y="6034892"/>
                  <a:ext cx="93734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IN" sz="1800" b="1" dirty="0" err="1">
                      <a:latin typeface="Consolas" panose="020B0609020204030204" pitchFamily="49" charset="0"/>
                    </a:rPr>
                    <a:t>dz_dy</a:t>
                  </a:r>
                  <a:endParaRPr lang="en-IN" b="1" dirty="0"/>
                </a:p>
              </p:txBody>
            </p:sp>
            <p:cxnSp>
              <p:nvCxnSpPr>
                <p:cNvPr id="75" name="Straight Arrow Connector 74">
                  <a:extLst>
                    <a:ext uri="{FF2B5EF4-FFF2-40B4-BE49-F238E27FC236}">
                      <a16:creationId xmlns:a16="http://schemas.microsoft.com/office/drawing/2014/main" id="{17160178-CFE9-AB2E-3CF9-EA304C99E3AD}"/>
                    </a:ext>
                  </a:extLst>
                </p:cNvPr>
                <p:cNvCxnSpPr>
                  <a:cxnSpLocks/>
                  <a:endCxn id="67" idx="0"/>
                </p:cNvCxnSpPr>
                <p:nvPr/>
              </p:nvCxnSpPr>
              <p:spPr>
                <a:xfrm flipH="1">
                  <a:off x="11219777" y="5198784"/>
                  <a:ext cx="683590" cy="255516"/>
                </a:xfrm>
                <a:prstGeom prst="straightConnector1">
                  <a:avLst/>
                </a:prstGeom>
                <a:ln>
                  <a:headEnd w="lg" len="lg"/>
                  <a:tailEnd type="triangl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Straight Arrow Connector 79">
                  <a:extLst>
                    <a:ext uri="{FF2B5EF4-FFF2-40B4-BE49-F238E27FC236}">
                      <a16:creationId xmlns:a16="http://schemas.microsoft.com/office/drawing/2014/main" id="{5184FB14-0E1F-C1BE-7DCF-DA5A5421C9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358652" y="2386897"/>
                  <a:ext cx="544715" cy="0"/>
                </a:xfrm>
                <a:prstGeom prst="straightConnector1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DE19E541-EA97-61D3-006E-ACA23A9B455B}"/>
              </a:ext>
            </a:extLst>
          </p:cNvPr>
          <p:cNvCxnSpPr>
            <a:cxnSpLocks/>
          </p:cNvCxnSpPr>
          <p:nvPr/>
        </p:nvCxnSpPr>
        <p:spPr>
          <a:xfrm flipH="1">
            <a:off x="10451029" y="3360151"/>
            <a:ext cx="890464" cy="713942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B1B0D420-ED18-9E91-A933-9D4333811037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11351686" y="1969500"/>
            <a:ext cx="6967" cy="868934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C40E3490-1930-850D-FD10-D0B1478D8333}"/>
              </a:ext>
            </a:extLst>
          </p:cNvPr>
          <p:cNvCxnSpPr>
            <a:cxnSpLocks/>
            <a:stCxn id="26" idx="2"/>
          </p:cNvCxnSpPr>
          <p:nvPr/>
        </p:nvCxnSpPr>
        <p:spPr>
          <a:xfrm>
            <a:off x="10468189" y="4581076"/>
            <a:ext cx="0" cy="617708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6C68F637-B2AC-A95E-9507-90568F410FF1}"/>
              </a:ext>
            </a:extLst>
          </p:cNvPr>
          <p:cNvSpPr txBox="1"/>
          <p:nvPr/>
        </p:nvSpPr>
        <p:spPr>
          <a:xfrm>
            <a:off x="10572436" y="1907593"/>
            <a:ext cx="8286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i="1" dirty="0">
                <a:latin typeface="Consolas" panose="020B0609020204030204" pitchFamily="49" charset="0"/>
              </a:rPr>
              <a:t>(1,)</a:t>
            </a: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6A6EB747-7606-FD41-314C-12C44440B300}"/>
              </a:ext>
            </a:extLst>
          </p:cNvPr>
          <p:cNvGrpSpPr/>
          <p:nvPr/>
        </p:nvGrpSpPr>
        <p:grpSpPr>
          <a:xfrm>
            <a:off x="8606132" y="2419460"/>
            <a:ext cx="1888714" cy="4292478"/>
            <a:chOff x="10014653" y="2404487"/>
            <a:chExt cx="1888714" cy="4292478"/>
          </a:xfrm>
        </p:grpSpPr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4ADE1082-C89E-F967-4E1B-FFE28EEB8F77}"/>
                </a:ext>
              </a:extLst>
            </p:cNvPr>
            <p:cNvSpPr txBox="1"/>
            <p:nvPr/>
          </p:nvSpPr>
          <p:spPr>
            <a:xfrm>
              <a:off x="10014653" y="6327633"/>
              <a:ext cx="119337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800" i="1" dirty="0">
                  <a:latin typeface="Consolas" panose="020B0609020204030204" pitchFamily="49" charset="0"/>
                </a:rPr>
                <a:t>(</a:t>
              </a:r>
              <a:r>
                <a:rPr lang="en-IN" i="1" dirty="0">
                  <a:latin typeface="Consolas" panose="020B0609020204030204" pitchFamily="49" charset="0"/>
                </a:rPr>
                <a:t>None</a:t>
              </a:r>
              <a:r>
                <a:rPr lang="en-IN" sz="1800" i="1" dirty="0">
                  <a:latin typeface="Consolas" panose="020B0609020204030204" pitchFamily="49" charset="0"/>
                </a:rPr>
                <a:t>,1)</a:t>
              </a:r>
            </a:p>
          </p:txBody>
        </p: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24262CBC-B990-48A7-DDE9-EE41CC2E5E5F}"/>
                </a:ext>
              </a:extLst>
            </p:cNvPr>
            <p:cNvGrpSpPr/>
            <p:nvPr/>
          </p:nvGrpSpPr>
          <p:grpSpPr>
            <a:xfrm>
              <a:off x="10248267" y="2404487"/>
              <a:ext cx="1655100" cy="4182975"/>
              <a:chOff x="10248267" y="2404487"/>
              <a:chExt cx="1655100" cy="4182975"/>
            </a:xfrm>
          </p:grpSpPr>
          <p:cxnSp>
            <p:nvCxnSpPr>
              <p:cNvPr id="104" name="Straight Arrow Connector 103">
                <a:extLst>
                  <a:ext uri="{FF2B5EF4-FFF2-40B4-BE49-F238E27FC236}">
                    <a16:creationId xmlns:a16="http://schemas.microsoft.com/office/drawing/2014/main" id="{A2011372-8EB7-A251-14BC-6726714D718E}"/>
                  </a:ext>
                </a:extLst>
              </p:cNvPr>
              <p:cNvCxnSpPr>
                <a:cxnSpLocks/>
                <a:stCxn id="106" idx="2"/>
              </p:cNvCxnSpPr>
              <p:nvPr/>
            </p:nvCxnSpPr>
            <p:spPr>
              <a:xfrm flipH="1">
                <a:off x="11219776" y="5968650"/>
                <a:ext cx="1" cy="618812"/>
              </a:xfrm>
              <a:prstGeom prst="straightConnector1">
                <a:avLst/>
              </a:prstGeom>
              <a:ln>
                <a:headEnd w="lg" len="lg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5" name="Group 104">
                <a:extLst>
                  <a:ext uri="{FF2B5EF4-FFF2-40B4-BE49-F238E27FC236}">
                    <a16:creationId xmlns:a16="http://schemas.microsoft.com/office/drawing/2014/main" id="{F11835E1-AC6A-0E6C-329C-812B11218984}"/>
                  </a:ext>
                </a:extLst>
              </p:cNvPr>
              <p:cNvGrpSpPr/>
              <p:nvPr/>
            </p:nvGrpSpPr>
            <p:grpSpPr>
              <a:xfrm>
                <a:off x="10248267" y="2404487"/>
                <a:ext cx="1655100" cy="3984764"/>
                <a:chOff x="10248267" y="2404487"/>
                <a:chExt cx="1655100" cy="398476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6" name="Rectangle 105">
                      <a:extLst>
                        <a:ext uri="{FF2B5EF4-FFF2-40B4-BE49-F238E27FC236}">
                          <a16:creationId xmlns:a16="http://schemas.microsoft.com/office/drawing/2014/main" id="{A11B7C61-2EBB-B34A-AB3E-535172B01E8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54097" y="5454300"/>
                      <a:ext cx="531359" cy="514350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I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𝛁</m:t>
                            </m:r>
                          </m:oMath>
                        </m:oMathPara>
                      </a14:m>
                      <a:endParaRPr lang="en-IN" b="1" dirty="0"/>
                    </a:p>
                  </p:txBody>
                </p:sp>
              </mc:Choice>
              <mc:Fallback xmlns="">
                <p:sp>
                  <p:nvSpPr>
                    <p:cNvPr id="106" name="Rectangle 105">
                      <a:extLst>
                        <a:ext uri="{FF2B5EF4-FFF2-40B4-BE49-F238E27FC236}">
                          <a16:creationId xmlns:a16="http://schemas.microsoft.com/office/drawing/2014/main" id="{A11B7C61-2EBB-B34A-AB3E-535172B01E8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954097" y="5454300"/>
                      <a:ext cx="531359" cy="514350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07" name="Straight Arrow Connector 106">
                  <a:extLst>
                    <a:ext uri="{FF2B5EF4-FFF2-40B4-BE49-F238E27FC236}">
                      <a16:creationId xmlns:a16="http://schemas.microsoft.com/office/drawing/2014/main" id="{9E09F3A4-8B69-02F4-9621-58CE6B6E9C53}"/>
                    </a:ext>
                  </a:extLst>
                </p:cNvPr>
                <p:cNvCxnSpPr>
                  <a:cxnSpLocks/>
                  <a:endCxn id="106" idx="0"/>
                </p:cNvCxnSpPr>
                <p:nvPr/>
              </p:nvCxnSpPr>
              <p:spPr>
                <a:xfrm>
                  <a:off x="10507168" y="5210018"/>
                  <a:ext cx="712609" cy="244282"/>
                </a:xfrm>
                <a:prstGeom prst="straightConnector1">
                  <a:avLst/>
                </a:prstGeom>
                <a:ln>
                  <a:headEnd w="lg" len="lg"/>
                  <a:tailEnd type="triangl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Straight Arrow Connector 107">
                  <a:extLst>
                    <a:ext uri="{FF2B5EF4-FFF2-40B4-BE49-F238E27FC236}">
                      <a16:creationId xmlns:a16="http://schemas.microsoft.com/office/drawing/2014/main" id="{290A444A-2328-26AC-C7F5-0F1A5B0F1B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0500472" y="2404487"/>
                  <a:ext cx="1987" cy="2811887"/>
                </a:xfrm>
                <a:prstGeom prst="straightConnector1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669D00CB-6800-4DE1-D57A-980419153008}"/>
                    </a:ext>
                  </a:extLst>
                </p:cNvPr>
                <p:cNvSpPr txBox="1"/>
                <p:nvPr/>
              </p:nvSpPr>
              <p:spPr>
                <a:xfrm>
                  <a:off x="10248267" y="6019919"/>
                  <a:ext cx="93734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IN" sz="1800" b="1" dirty="0" err="1">
                      <a:latin typeface="Consolas" panose="020B0609020204030204" pitchFamily="49" charset="0"/>
                    </a:rPr>
                    <a:t>dz_dx</a:t>
                  </a:r>
                  <a:endParaRPr lang="en-IN" b="1" dirty="0"/>
                </a:p>
              </p:txBody>
            </p:sp>
            <p:cxnSp>
              <p:nvCxnSpPr>
                <p:cNvPr id="110" name="Straight Arrow Connector 109">
                  <a:extLst>
                    <a:ext uri="{FF2B5EF4-FFF2-40B4-BE49-F238E27FC236}">
                      <a16:creationId xmlns:a16="http://schemas.microsoft.com/office/drawing/2014/main" id="{547D5DAE-7ED9-478C-71DA-52B164C93020}"/>
                    </a:ext>
                  </a:extLst>
                </p:cNvPr>
                <p:cNvCxnSpPr>
                  <a:cxnSpLocks/>
                  <a:endCxn id="106" idx="0"/>
                </p:cNvCxnSpPr>
                <p:nvPr/>
              </p:nvCxnSpPr>
              <p:spPr>
                <a:xfrm flipH="1">
                  <a:off x="11219777" y="5198784"/>
                  <a:ext cx="683590" cy="255516"/>
                </a:xfrm>
                <a:prstGeom prst="straightConnector1">
                  <a:avLst/>
                </a:prstGeom>
                <a:ln>
                  <a:headEnd w="lg" len="lg"/>
                  <a:tailEnd type="triangl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Straight Arrow Connector 110">
                  <a:extLst>
                    <a:ext uri="{FF2B5EF4-FFF2-40B4-BE49-F238E27FC236}">
                      <a16:creationId xmlns:a16="http://schemas.microsoft.com/office/drawing/2014/main" id="{ECE9A4B3-55C5-055B-DC41-A13FAF4EAC8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07168" y="2421290"/>
                  <a:ext cx="552292" cy="0"/>
                </a:xfrm>
                <a:prstGeom prst="straightConnector1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65FEB4FF-38E0-A400-7BD4-63B51A1F573C}"/>
              </a:ext>
            </a:extLst>
          </p:cNvPr>
          <p:cNvCxnSpPr>
            <a:cxnSpLocks/>
          </p:cNvCxnSpPr>
          <p:nvPr/>
        </p:nvCxnSpPr>
        <p:spPr>
          <a:xfrm>
            <a:off x="9664526" y="1936783"/>
            <a:ext cx="6967" cy="868934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2E74FCA9-E993-48A1-FBFD-58CDF6B05F7C}"/>
              </a:ext>
            </a:extLst>
          </p:cNvPr>
          <p:cNvCxnSpPr>
            <a:cxnSpLocks/>
            <a:endCxn id="26" idx="0"/>
          </p:cNvCxnSpPr>
          <p:nvPr/>
        </p:nvCxnSpPr>
        <p:spPr>
          <a:xfrm>
            <a:off x="9678297" y="3360151"/>
            <a:ext cx="789892" cy="706575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AE44CC3F-A23E-3DC8-47B2-A22851B4D0B1}"/>
              </a:ext>
            </a:extLst>
          </p:cNvPr>
          <p:cNvCxnSpPr>
            <a:cxnSpLocks/>
          </p:cNvCxnSpPr>
          <p:nvPr/>
        </p:nvCxnSpPr>
        <p:spPr>
          <a:xfrm>
            <a:off x="10468189" y="4617652"/>
            <a:ext cx="0" cy="544016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4F82DA04-F857-E105-13A7-E35DB1C7BFA9}"/>
              </a:ext>
            </a:extLst>
          </p:cNvPr>
          <p:cNvSpPr txBox="1"/>
          <p:nvPr/>
        </p:nvSpPr>
        <p:spPr>
          <a:xfrm>
            <a:off x="8459489" y="2024956"/>
            <a:ext cx="14142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i="1" dirty="0">
                <a:latin typeface="Consolas" panose="020B0609020204030204" pitchFamily="49" charset="0"/>
              </a:rPr>
              <a:t>(None,1)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D780F3B9-C653-2159-12D4-B9943B50FCED}"/>
              </a:ext>
            </a:extLst>
          </p:cNvPr>
          <p:cNvSpPr txBox="1"/>
          <p:nvPr/>
        </p:nvSpPr>
        <p:spPr>
          <a:xfrm>
            <a:off x="524778" y="4231054"/>
            <a:ext cx="721855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i="1" dirty="0">
                <a:solidFill>
                  <a:srgbClr val="C00000"/>
                </a:solidFill>
                <a:latin typeface="Consolas" panose="020B0609020204030204" pitchFamily="49" charset="0"/>
              </a:rPr>
              <a:t># Running the session</a:t>
            </a:r>
          </a:p>
          <a:p>
            <a:r>
              <a:rPr lang="en-IN" sz="2000" dirty="0" err="1">
                <a:latin typeface="Consolas" panose="020B0609020204030204" pitchFamily="49" charset="0"/>
              </a:rPr>
              <a:t>init</a:t>
            </a:r>
            <a:r>
              <a:rPr lang="en-IN" sz="2000" dirty="0">
                <a:latin typeface="Consolas" panose="020B0609020204030204" pitchFamily="49" charset="0"/>
              </a:rPr>
              <a:t>=</a:t>
            </a:r>
            <a:r>
              <a:rPr lang="en-IN" sz="2000" dirty="0">
                <a:solidFill>
                  <a:srgbClr val="00B0F0"/>
                </a:solidFill>
                <a:latin typeface="Consolas" panose="020B0609020204030204" pitchFamily="49" charset="0"/>
              </a:rPr>
              <a:t>tf.compat.v1.global_variables_initializer</a:t>
            </a:r>
            <a:r>
              <a:rPr lang="en-IN" sz="2000" dirty="0">
                <a:latin typeface="Consolas" panose="020B0609020204030204" pitchFamily="49" charset="0"/>
              </a:rPr>
              <a:t>();</a:t>
            </a:r>
          </a:p>
          <a:p>
            <a:r>
              <a:rPr lang="en-IN" sz="2000" dirty="0" err="1">
                <a:latin typeface="Consolas" panose="020B0609020204030204" pitchFamily="49" charset="0"/>
              </a:rPr>
              <a:t>sess.</a:t>
            </a:r>
            <a:r>
              <a:rPr lang="en-IN" sz="2000" dirty="0" err="1">
                <a:solidFill>
                  <a:srgbClr val="00B0F0"/>
                </a:solidFill>
                <a:latin typeface="Consolas" panose="020B0609020204030204" pitchFamily="49" charset="0"/>
              </a:rPr>
              <a:t>run</a:t>
            </a:r>
            <a:r>
              <a:rPr lang="en-IN" sz="2000" dirty="0">
                <a:latin typeface="Consolas" panose="020B0609020204030204" pitchFamily="49" charset="0"/>
              </a:rPr>
              <a:t>(</a:t>
            </a:r>
            <a:r>
              <a:rPr lang="en-IN" sz="2000" dirty="0" err="1">
                <a:latin typeface="Consolas" panose="020B0609020204030204" pitchFamily="49" charset="0"/>
              </a:rPr>
              <a:t>init</a:t>
            </a:r>
            <a:r>
              <a:rPr lang="en-IN" sz="2000" dirty="0">
                <a:latin typeface="Consolas" panose="020B0609020204030204" pitchFamily="49" charset="0"/>
              </a:rPr>
              <a:t>); </a:t>
            </a:r>
            <a:r>
              <a:rPr lang="en-IN" sz="2000" i="1" dirty="0">
                <a:solidFill>
                  <a:srgbClr val="C00000"/>
                </a:solidFill>
                <a:latin typeface="Consolas" panose="020B0609020204030204" pitchFamily="49" charset="0"/>
              </a:rPr>
              <a:t># required for variables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C496BC56-186A-9DBE-5C5B-248BEE3012E8}"/>
              </a:ext>
            </a:extLst>
          </p:cNvPr>
          <p:cNvSpPr txBox="1"/>
          <p:nvPr/>
        </p:nvSpPr>
        <p:spPr>
          <a:xfrm>
            <a:off x="10407556" y="4744575"/>
            <a:ext cx="11933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i="1" dirty="0">
                <a:latin typeface="Consolas" panose="020B0609020204030204" pitchFamily="49" charset="0"/>
              </a:rPr>
              <a:t>(</a:t>
            </a:r>
            <a:r>
              <a:rPr lang="en-IN" i="1" dirty="0">
                <a:latin typeface="Consolas" panose="020B0609020204030204" pitchFamily="49" charset="0"/>
              </a:rPr>
              <a:t>None</a:t>
            </a:r>
            <a:r>
              <a:rPr lang="en-IN" sz="1800" i="1" dirty="0">
                <a:latin typeface="Consolas" panose="020B0609020204030204" pitchFamily="49" charset="0"/>
              </a:rPr>
              <a:t>,1)</a:t>
            </a:r>
          </a:p>
        </p:txBody>
      </p:sp>
    </p:spTree>
    <p:extLst>
      <p:ext uri="{BB962C8B-B14F-4D97-AF65-F5344CB8AC3E}">
        <p14:creationId xmlns:p14="http://schemas.microsoft.com/office/powerpoint/2010/main" val="3695631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51" grpId="0"/>
      <p:bldP spid="51" grpId="1"/>
      <p:bldP spid="52" grpId="0"/>
      <p:bldP spid="52" grpId="1"/>
      <p:bldP spid="54" grpId="0"/>
      <p:bldP spid="54" grpId="1"/>
      <p:bldP spid="63" grpId="0"/>
      <p:bldP spid="133" grpId="0"/>
      <p:bldP spid="1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CD1A5-E2C9-7AB1-A5C5-777AE24D4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3D8447D-6FB6-EBDB-20BA-032A29B58F38}"/>
                  </a:ext>
                </a:extLst>
              </p:cNvPr>
              <p:cNvSpPr txBox="1"/>
              <p:nvPr/>
            </p:nvSpPr>
            <p:spPr>
              <a:xfrm>
                <a:off x="8600761" y="1377599"/>
                <a:ext cx="920193" cy="7495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brk m:alnAt="7"/>
                                  </m:rP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3D8447D-6FB6-EBDB-20BA-032A29B58F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0761" y="1377599"/>
                <a:ext cx="920193" cy="7495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5BC6421-1482-A0D9-8C7C-9DC98E913C03}"/>
              </a:ext>
            </a:extLst>
          </p:cNvPr>
          <p:cNvSpPr txBox="1"/>
          <p:nvPr/>
        </p:nvSpPr>
        <p:spPr>
          <a:xfrm>
            <a:off x="0" y="98322"/>
            <a:ext cx="12192000" cy="52322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Session 1: </a:t>
            </a:r>
            <a:r>
              <a:rPr lang="en-US" sz="2800" b="1" dirty="0" err="1">
                <a:solidFill>
                  <a:schemeClr val="bg1"/>
                </a:solidFill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Tensorflow</a:t>
            </a:r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 Basics</a:t>
            </a:r>
            <a:endParaRPr lang="en-IN" sz="2800" b="1" dirty="0">
              <a:solidFill>
                <a:schemeClr val="bg1"/>
              </a:solidFill>
              <a:latin typeface="Century Schoolbook" panose="02040604050505020304" pitchFamily="18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E7A12B5-D99A-25FA-084F-E9B7792FFD3F}"/>
              </a:ext>
            </a:extLst>
          </p:cNvPr>
          <p:cNvSpPr/>
          <p:nvPr/>
        </p:nvSpPr>
        <p:spPr>
          <a:xfrm>
            <a:off x="9525763" y="1659216"/>
            <a:ext cx="298186" cy="28373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AFE82E-447D-FC62-45E7-EEC8C343F2B7}"/>
              </a:ext>
            </a:extLst>
          </p:cNvPr>
          <p:cNvSpPr txBox="1"/>
          <p:nvPr/>
        </p:nvSpPr>
        <p:spPr>
          <a:xfrm>
            <a:off x="9525763" y="1295140"/>
            <a:ext cx="5364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Consolas" panose="020B0609020204030204" pitchFamily="49" charset="0"/>
              </a:rPr>
              <a:t>x</a:t>
            </a:r>
            <a:endParaRPr lang="en-IN" b="1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AB3738A-0DCA-7880-E1DB-B4B5F35974A5}"/>
              </a:ext>
            </a:extLst>
          </p:cNvPr>
          <p:cNvSpPr/>
          <p:nvPr/>
        </p:nvSpPr>
        <p:spPr>
          <a:xfrm>
            <a:off x="11209560" y="1659216"/>
            <a:ext cx="298186" cy="28373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583CAF-E47F-2135-A09F-568298BDC072}"/>
              </a:ext>
            </a:extLst>
          </p:cNvPr>
          <p:cNvSpPr txBox="1"/>
          <p:nvPr/>
        </p:nvSpPr>
        <p:spPr>
          <a:xfrm>
            <a:off x="11221742" y="1273264"/>
            <a:ext cx="5364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y</a:t>
            </a:r>
            <a:endParaRPr lang="en-IN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CA24F36-333E-D6C5-7A5F-6836B9FEA35A}"/>
                  </a:ext>
                </a:extLst>
              </p:cNvPr>
              <p:cNvSpPr txBox="1"/>
              <p:nvPr/>
            </p:nvSpPr>
            <p:spPr>
              <a:xfrm>
                <a:off x="8599418" y="1287864"/>
                <a:ext cx="920193" cy="823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IN" i="1" smtClean="0">
                              <a:solidFill>
                                <a:srgbClr val="0000FF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smtClean="0">
                                  <a:solidFill>
                                    <a:srgbClr val="0000FF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i="1" smtClean="0">
                                  <a:solidFill>
                                    <a:srgbClr val="0000FF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b="0" i="1" smtClean="0">
                                  <a:solidFill>
                                    <a:srgbClr val="0000FF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rgbClr val="0000FF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2.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rgbClr val="0000FF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3.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IN" dirty="0">
                  <a:solidFill>
                    <a:srgbClr val="0000FF"/>
                  </a:solidFill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CA24F36-333E-D6C5-7A5F-6836B9FEA3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9418" y="1287864"/>
                <a:ext cx="920193" cy="823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5EE441C-13DD-A519-2132-36F710AF9589}"/>
                  </a:ext>
                </a:extLst>
              </p:cNvPr>
              <p:cNvSpPr txBox="1"/>
              <p:nvPr/>
            </p:nvSpPr>
            <p:spPr>
              <a:xfrm>
                <a:off x="10468189" y="1568164"/>
                <a:ext cx="9201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5EE441C-13DD-A519-2132-36F710AF95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8189" y="1568164"/>
                <a:ext cx="92019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F1BC2D1C-CD0A-CDB9-C199-95C424BD5D71}"/>
              </a:ext>
            </a:extLst>
          </p:cNvPr>
          <p:cNvSpPr txBox="1"/>
          <p:nvPr/>
        </p:nvSpPr>
        <p:spPr>
          <a:xfrm>
            <a:off x="526543" y="1273264"/>
            <a:ext cx="748986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i="1" dirty="0">
                <a:solidFill>
                  <a:srgbClr val="C00000"/>
                </a:solidFill>
                <a:latin typeface="Consolas" panose="020B0609020204030204" pitchFamily="49" charset="0"/>
              </a:rPr>
              <a:t># Running the session (continued)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a = </a:t>
            </a:r>
            <a:r>
              <a:rPr lang="en-US" sz="2000" dirty="0" err="1">
                <a:latin typeface="Consolas" panose="020B0609020204030204" pitchFamily="49" charset="0"/>
              </a:rPr>
              <a:t>np.linspace</a:t>
            </a:r>
            <a:r>
              <a:rPr lang="en-US" sz="2000" dirty="0">
                <a:latin typeface="Consolas" panose="020B0609020204030204" pitchFamily="49" charset="0"/>
              </a:rPr>
              <a:t>(1,3,3); </a:t>
            </a:r>
            <a:r>
              <a:rPr lang="en-US" sz="2000" i="1" dirty="0">
                <a:solidFill>
                  <a:srgbClr val="C00000"/>
                </a:solidFill>
                <a:latin typeface="Consolas" panose="020B0609020204030204" pitchFamily="49" charset="0"/>
              </a:rPr>
              <a:t># shape: (3,): 1 dimension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a = </a:t>
            </a:r>
            <a:r>
              <a:rPr lang="en-US" sz="2000" dirty="0" err="1">
                <a:latin typeface="Consolas" panose="020B0609020204030204" pitchFamily="49" charset="0"/>
              </a:rPr>
              <a:t>np.reshape</a:t>
            </a:r>
            <a:r>
              <a:rPr lang="en-US" sz="2000" dirty="0">
                <a:latin typeface="Consolas" panose="020B0609020204030204" pitchFamily="49" charset="0"/>
              </a:rPr>
              <a:t>(a,(a.size,1)); </a:t>
            </a:r>
          </a:p>
          <a:p>
            <a:r>
              <a:rPr lang="en-US" sz="2000" i="1" dirty="0">
                <a:solidFill>
                  <a:srgbClr val="C00000"/>
                </a:solidFill>
                <a:latin typeface="Consolas" panose="020B0609020204030204" pitchFamily="49" charset="0"/>
              </a:rPr>
              <a:t>    # converting to shape (3,1) compatible with the  </a:t>
            </a:r>
          </a:p>
          <a:p>
            <a:r>
              <a:rPr lang="en-US" sz="2000" i="1" dirty="0">
                <a:solidFill>
                  <a:srgbClr val="C00000"/>
                </a:solidFill>
                <a:latin typeface="Consolas" panose="020B0609020204030204" pitchFamily="49" charset="0"/>
              </a:rPr>
              <a:t>      placeholder (None,1)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52FBA8-A5F3-B498-040A-E8AA6E43D520}"/>
              </a:ext>
            </a:extLst>
          </p:cNvPr>
          <p:cNvSpPr txBox="1"/>
          <p:nvPr/>
        </p:nvSpPr>
        <p:spPr>
          <a:xfrm>
            <a:off x="2672105" y="707692"/>
            <a:ext cx="70870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Automatic Gradient/Algorithmic Gradient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02E6F871-A24B-61AC-8131-328B64F12A6C}"/>
              </a:ext>
            </a:extLst>
          </p:cNvPr>
          <p:cNvGrpSpPr/>
          <p:nvPr/>
        </p:nvGrpSpPr>
        <p:grpSpPr>
          <a:xfrm>
            <a:off x="9407189" y="1914218"/>
            <a:ext cx="2217143" cy="1438566"/>
            <a:chOff x="9407189" y="1914218"/>
            <a:chExt cx="2217143" cy="1438566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A430268-3F0A-481A-9061-909349E70984}"/>
                </a:ext>
              </a:extLst>
            </p:cNvPr>
            <p:cNvSpPr/>
            <p:nvPr/>
          </p:nvSpPr>
          <p:spPr>
            <a:xfrm>
              <a:off x="9407189" y="2838434"/>
              <a:ext cx="531359" cy="5143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**</a:t>
              </a:r>
              <a:endParaRPr lang="en-IN" b="1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357037B-B174-85A3-465C-8A984D29DC23}"/>
                </a:ext>
              </a:extLst>
            </p:cNvPr>
            <p:cNvSpPr/>
            <p:nvPr/>
          </p:nvSpPr>
          <p:spPr>
            <a:xfrm>
              <a:off x="11092973" y="2838434"/>
              <a:ext cx="531359" cy="5143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**</a:t>
              </a:r>
              <a:endParaRPr lang="en-IN" b="1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3A4DB7F7-C0E5-B4CC-70F1-338CDDAA28A8}"/>
                </a:ext>
              </a:extLst>
            </p:cNvPr>
            <p:cNvSpPr/>
            <p:nvPr/>
          </p:nvSpPr>
          <p:spPr>
            <a:xfrm>
              <a:off x="10196335" y="2953744"/>
              <a:ext cx="298186" cy="283730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3</a:t>
              </a:r>
              <a:endParaRPr lang="en-IN" b="1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4ACEBDE0-CDC7-DCD4-F14F-26B3762EFA81}"/>
                </a:ext>
              </a:extLst>
            </p:cNvPr>
            <p:cNvSpPr/>
            <p:nvPr/>
          </p:nvSpPr>
          <p:spPr>
            <a:xfrm>
              <a:off x="10552347" y="2953744"/>
              <a:ext cx="298186" cy="283730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2</a:t>
              </a:r>
              <a:endParaRPr lang="en-IN" b="1" dirty="0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17D501FB-A17F-1819-2416-401C4AB78A8F}"/>
                </a:ext>
              </a:extLst>
            </p:cNvPr>
            <p:cNvCxnSpPr>
              <a:stCxn id="7" idx="4"/>
              <a:endCxn id="24" idx="0"/>
            </p:cNvCxnSpPr>
            <p:nvPr/>
          </p:nvCxnSpPr>
          <p:spPr>
            <a:xfrm flipH="1">
              <a:off x="9672869" y="1942946"/>
              <a:ext cx="1987" cy="895488"/>
            </a:xfrm>
            <a:prstGeom prst="straightConnector1">
              <a:avLst/>
            </a:prstGeom>
            <a:ln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1ECCA9A0-1A56-E6BC-36EC-24EDCDF23595}"/>
                </a:ext>
              </a:extLst>
            </p:cNvPr>
            <p:cNvCxnSpPr>
              <a:cxnSpLocks/>
              <a:endCxn id="25" idx="0"/>
            </p:cNvCxnSpPr>
            <p:nvPr/>
          </p:nvCxnSpPr>
          <p:spPr>
            <a:xfrm>
              <a:off x="11358652" y="1914218"/>
              <a:ext cx="1" cy="924216"/>
            </a:xfrm>
            <a:prstGeom prst="straightConnector1">
              <a:avLst/>
            </a:prstGeom>
            <a:ln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775ED04C-ECEB-37AE-C305-417B2131DA39}"/>
                </a:ext>
              </a:extLst>
            </p:cNvPr>
            <p:cNvCxnSpPr>
              <a:cxnSpLocks/>
              <a:stCxn id="28" idx="2"/>
              <a:endCxn id="24" idx="3"/>
            </p:cNvCxnSpPr>
            <p:nvPr/>
          </p:nvCxnSpPr>
          <p:spPr>
            <a:xfrm flipH="1">
              <a:off x="9938548" y="3095609"/>
              <a:ext cx="257787" cy="0"/>
            </a:xfrm>
            <a:prstGeom prst="straightConnector1">
              <a:avLst/>
            </a:prstGeom>
            <a:ln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843786C2-4B16-11C0-35EB-9C15B6043EF1}"/>
                </a:ext>
              </a:extLst>
            </p:cNvPr>
            <p:cNvCxnSpPr>
              <a:cxnSpLocks/>
              <a:stCxn id="29" idx="6"/>
              <a:endCxn id="25" idx="1"/>
            </p:cNvCxnSpPr>
            <p:nvPr/>
          </p:nvCxnSpPr>
          <p:spPr>
            <a:xfrm>
              <a:off x="10850533" y="3095609"/>
              <a:ext cx="242440" cy="0"/>
            </a:xfrm>
            <a:prstGeom prst="straightConnector1">
              <a:avLst/>
            </a:prstGeom>
            <a:ln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886BFF59-EC82-B505-F266-2B1FD4AEB24D}"/>
              </a:ext>
            </a:extLst>
          </p:cNvPr>
          <p:cNvGrpSpPr/>
          <p:nvPr/>
        </p:nvGrpSpPr>
        <p:grpSpPr>
          <a:xfrm>
            <a:off x="9672869" y="3352784"/>
            <a:ext cx="1685784" cy="1847104"/>
            <a:chOff x="9672869" y="3352784"/>
            <a:chExt cx="1685784" cy="1847104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BA7F40A-875B-F4C7-BAD5-6834FD98B224}"/>
                </a:ext>
              </a:extLst>
            </p:cNvPr>
            <p:cNvSpPr/>
            <p:nvPr/>
          </p:nvSpPr>
          <p:spPr>
            <a:xfrm>
              <a:off x="10202509" y="4066726"/>
              <a:ext cx="531359" cy="5143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+</a:t>
              </a:r>
              <a:endParaRPr lang="en-IN" b="1" dirty="0"/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2B50079F-E569-5118-1204-4B22D1A8324B}"/>
                </a:ext>
              </a:extLst>
            </p:cNvPr>
            <p:cNvCxnSpPr>
              <a:cxnSpLocks/>
              <a:stCxn id="24" idx="2"/>
              <a:endCxn id="26" idx="0"/>
            </p:cNvCxnSpPr>
            <p:nvPr/>
          </p:nvCxnSpPr>
          <p:spPr>
            <a:xfrm>
              <a:off x="9672869" y="3352784"/>
              <a:ext cx="795320" cy="713942"/>
            </a:xfrm>
            <a:prstGeom prst="straightConnector1">
              <a:avLst/>
            </a:prstGeom>
            <a:ln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E242968A-4553-6DD7-9782-7DE8DE2BB880}"/>
                </a:ext>
              </a:extLst>
            </p:cNvPr>
            <p:cNvCxnSpPr>
              <a:cxnSpLocks/>
              <a:stCxn id="25" idx="2"/>
              <a:endCxn id="26" idx="0"/>
            </p:cNvCxnSpPr>
            <p:nvPr/>
          </p:nvCxnSpPr>
          <p:spPr>
            <a:xfrm flipH="1">
              <a:off x="10468189" y="3352784"/>
              <a:ext cx="890464" cy="713942"/>
            </a:xfrm>
            <a:prstGeom prst="straightConnector1">
              <a:avLst/>
            </a:prstGeom>
            <a:ln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BC510D2C-E7DF-C085-B352-B240BB0FE787}"/>
                </a:ext>
              </a:extLst>
            </p:cNvPr>
            <p:cNvCxnSpPr>
              <a:cxnSpLocks/>
              <a:stCxn id="26" idx="2"/>
            </p:cNvCxnSpPr>
            <p:nvPr/>
          </p:nvCxnSpPr>
          <p:spPr>
            <a:xfrm flipH="1">
              <a:off x="10468188" y="4581076"/>
              <a:ext cx="1" cy="618812"/>
            </a:xfrm>
            <a:prstGeom prst="straightConnector1">
              <a:avLst/>
            </a:prstGeom>
            <a:ln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D80B0782-7D7A-3CBF-C060-EC28751F1FDD}"/>
              </a:ext>
            </a:extLst>
          </p:cNvPr>
          <p:cNvGrpSpPr/>
          <p:nvPr/>
        </p:nvGrpSpPr>
        <p:grpSpPr>
          <a:xfrm>
            <a:off x="10468188" y="2386897"/>
            <a:ext cx="1723809" cy="4325041"/>
            <a:chOff x="10468188" y="2386897"/>
            <a:chExt cx="1723809" cy="432504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A06978A-690C-6BEC-9A59-012BB6718ABE}"/>
                </a:ext>
              </a:extLst>
            </p:cNvPr>
            <p:cNvSpPr txBox="1"/>
            <p:nvPr/>
          </p:nvSpPr>
          <p:spPr>
            <a:xfrm>
              <a:off x="11254648" y="6342606"/>
              <a:ext cx="8286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800" i="1" dirty="0">
                  <a:latin typeface="Consolas" panose="020B0609020204030204" pitchFamily="49" charset="0"/>
                </a:rPr>
                <a:t>(1,)</a:t>
              </a:r>
            </a:p>
          </p:txBody>
        </p: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D07C3054-8836-D98A-D196-EAFC0E70C1F5}"/>
                </a:ext>
              </a:extLst>
            </p:cNvPr>
            <p:cNvGrpSpPr/>
            <p:nvPr/>
          </p:nvGrpSpPr>
          <p:grpSpPr>
            <a:xfrm>
              <a:off x="10468188" y="2386897"/>
              <a:ext cx="1723809" cy="4200565"/>
              <a:chOff x="10468188" y="2386897"/>
              <a:chExt cx="1723809" cy="4200565"/>
            </a:xfrm>
          </p:grpSpPr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ACE41469-4293-2BB0-640D-8E5F9AAC69B8}"/>
                  </a:ext>
                </a:extLst>
              </p:cNvPr>
              <p:cNvCxnSpPr>
                <a:cxnSpLocks/>
                <a:stCxn id="67" idx="2"/>
              </p:cNvCxnSpPr>
              <p:nvPr/>
            </p:nvCxnSpPr>
            <p:spPr>
              <a:xfrm flipH="1">
                <a:off x="11219776" y="5968650"/>
                <a:ext cx="1" cy="618812"/>
              </a:xfrm>
              <a:prstGeom prst="straightConnector1">
                <a:avLst/>
              </a:prstGeom>
              <a:ln>
                <a:headEnd w="lg" len="lg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7F294FE2-40CA-422B-537F-A57DBE7534B1}"/>
                  </a:ext>
                </a:extLst>
              </p:cNvPr>
              <p:cNvGrpSpPr/>
              <p:nvPr/>
            </p:nvGrpSpPr>
            <p:grpSpPr>
              <a:xfrm>
                <a:off x="10468188" y="2386897"/>
                <a:ext cx="1723809" cy="4017327"/>
                <a:chOff x="10468188" y="2386897"/>
                <a:chExt cx="1723809" cy="4017327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7" name="Rectangle 66">
                      <a:extLst>
                        <a:ext uri="{FF2B5EF4-FFF2-40B4-BE49-F238E27FC236}">
                          <a16:creationId xmlns:a16="http://schemas.microsoft.com/office/drawing/2014/main" id="{376CB9F6-E09F-86A8-81FF-F6991E2287C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54097" y="5454300"/>
                      <a:ext cx="531359" cy="514350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I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𝛁</m:t>
                            </m:r>
                          </m:oMath>
                        </m:oMathPara>
                      </a14:m>
                      <a:endParaRPr lang="en-IN" b="1" dirty="0"/>
                    </a:p>
                  </p:txBody>
                </p:sp>
              </mc:Choice>
              <mc:Fallback xmlns="">
                <p:sp>
                  <p:nvSpPr>
                    <p:cNvPr id="67" name="Rectangle 66">
                      <a:extLst>
                        <a:ext uri="{FF2B5EF4-FFF2-40B4-BE49-F238E27FC236}">
                          <a16:creationId xmlns:a16="http://schemas.microsoft.com/office/drawing/2014/main" id="{376CB9F6-E09F-86A8-81FF-F6991E2287C9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954097" y="5454300"/>
                      <a:ext cx="531359" cy="514350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68" name="Straight Arrow Connector 67">
                  <a:extLst>
                    <a:ext uri="{FF2B5EF4-FFF2-40B4-BE49-F238E27FC236}">
                      <a16:creationId xmlns:a16="http://schemas.microsoft.com/office/drawing/2014/main" id="{8238FEDA-73AB-A15C-305E-330C112A0F2E}"/>
                    </a:ext>
                  </a:extLst>
                </p:cNvPr>
                <p:cNvCxnSpPr>
                  <a:cxnSpLocks/>
                  <a:endCxn id="67" idx="0"/>
                </p:cNvCxnSpPr>
                <p:nvPr/>
              </p:nvCxnSpPr>
              <p:spPr>
                <a:xfrm>
                  <a:off x="10468188" y="5198784"/>
                  <a:ext cx="751589" cy="255516"/>
                </a:xfrm>
                <a:prstGeom prst="straightConnector1">
                  <a:avLst/>
                </a:prstGeom>
                <a:ln>
                  <a:headEnd w="lg" len="lg"/>
                  <a:tailEnd type="triangl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Straight Arrow Connector 68">
                  <a:extLst>
                    <a:ext uri="{FF2B5EF4-FFF2-40B4-BE49-F238E27FC236}">
                      <a16:creationId xmlns:a16="http://schemas.microsoft.com/office/drawing/2014/main" id="{56ED22F4-7C75-5CA3-0C97-E13506978BB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1884220" y="2386897"/>
                  <a:ext cx="1987" cy="2811887"/>
                </a:xfrm>
                <a:prstGeom prst="straightConnector1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FA656D62-EB3D-B055-D243-79FCC41D375E}"/>
                    </a:ext>
                  </a:extLst>
                </p:cNvPr>
                <p:cNvSpPr txBox="1"/>
                <p:nvPr/>
              </p:nvSpPr>
              <p:spPr>
                <a:xfrm>
                  <a:off x="11254648" y="6034892"/>
                  <a:ext cx="93734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IN" sz="1800" b="1" dirty="0" err="1">
                      <a:latin typeface="Consolas" panose="020B0609020204030204" pitchFamily="49" charset="0"/>
                    </a:rPr>
                    <a:t>dz_dy</a:t>
                  </a:r>
                  <a:endParaRPr lang="en-IN" b="1" dirty="0"/>
                </a:p>
              </p:txBody>
            </p:sp>
            <p:cxnSp>
              <p:nvCxnSpPr>
                <p:cNvPr id="75" name="Straight Arrow Connector 74">
                  <a:extLst>
                    <a:ext uri="{FF2B5EF4-FFF2-40B4-BE49-F238E27FC236}">
                      <a16:creationId xmlns:a16="http://schemas.microsoft.com/office/drawing/2014/main" id="{0A771713-B12F-7509-C9A9-99F5F163E3BE}"/>
                    </a:ext>
                  </a:extLst>
                </p:cNvPr>
                <p:cNvCxnSpPr>
                  <a:cxnSpLocks/>
                  <a:endCxn id="67" idx="0"/>
                </p:cNvCxnSpPr>
                <p:nvPr/>
              </p:nvCxnSpPr>
              <p:spPr>
                <a:xfrm flipH="1">
                  <a:off x="11219777" y="5198784"/>
                  <a:ext cx="683590" cy="255516"/>
                </a:xfrm>
                <a:prstGeom prst="straightConnector1">
                  <a:avLst/>
                </a:prstGeom>
                <a:ln>
                  <a:headEnd w="lg" len="lg"/>
                  <a:tailEnd type="triangl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Straight Arrow Connector 79">
                  <a:extLst>
                    <a:ext uri="{FF2B5EF4-FFF2-40B4-BE49-F238E27FC236}">
                      <a16:creationId xmlns:a16="http://schemas.microsoft.com/office/drawing/2014/main" id="{0E1F5025-C48B-3F60-2E2D-CD870839F70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358652" y="2386897"/>
                  <a:ext cx="544715" cy="0"/>
                </a:xfrm>
                <a:prstGeom prst="straightConnector1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259E7955-B07C-9DB4-5F58-1723A1D397BE}"/>
              </a:ext>
            </a:extLst>
          </p:cNvPr>
          <p:cNvCxnSpPr>
            <a:cxnSpLocks/>
          </p:cNvCxnSpPr>
          <p:nvPr/>
        </p:nvCxnSpPr>
        <p:spPr>
          <a:xfrm flipH="1">
            <a:off x="10451029" y="3360151"/>
            <a:ext cx="890464" cy="713942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F80515B7-C677-6E46-71A5-CF91B250D4FB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11351686" y="1969500"/>
            <a:ext cx="6967" cy="868934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F2243B25-388E-60DA-13A2-B9C71B95F6C9}"/>
              </a:ext>
            </a:extLst>
          </p:cNvPr>
          <p:cNvCxnSpPr>
            <a:cxnSpLocks/>
            <a:stCxn id="26" idx="2"/>
          </p:cNvCxnSpPr>
          <p:nvPr/>
        </p:nvCxnSpPr>
        <p:spPr>
          <a:xfrm>
            <a:off x="10468189" y="4581076"/>
            <a:ext cx="0" cy="617708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0E112D81-CFA1-61E4-CCB4-05A007B97E6C}"/>
              </a:ext>
            </a:extLst>
          </p:cNvPr>
          <p:cNvSpPr txBox="1"/>
          <p:nvPr/>
        </p:nvSpPr>
        <p:spPr>
          <a:xfrm>
            <a:off x="10572436" y="1907593"/>
            <a:ext cx="8286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i="1" dirty="0">
                <a:latin typeface="Consolas" panose="020B0609020204030204" pitchFamily="49" charset="0"/>
              </a:rPr>
              <a:t>(1,)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9C45F7A-CB49-558F-2F3C-CABC7E9990AC}"/>
              </a:ext>
            </a:extLst>
          </p:cNvPr>
          <p:cNvSpPr txBox="1"/>
          <p:nvPr/>
        </p:nvSpPr>
        <p:spPr>
          <a:xfrm>
            <a:off x="8606132" y="6342606"/>
            <a:ext cx="11933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i="1" dirty="0">
                <a:latin typeface="Consolas" panose="020B0609020204030204" pitchFamily="49" charset="0"/>
              </a:rPr>
              <a:t>(</a:t>
            </a:r>
            <a:r>
              <a:rPr lang="en-IN" i="1" dirty="0">
                <a:latin typeface="Consolas" panose="020B0609020204030204" pitchFamily="49" charset="0"/>
              </a:rPr>
              <a:t>None</a:t>
            </a:r>
            <a:r>
              <a:rPr lang="en-IN" sz="1800" i="1" dirty="0">
                <a:latin typeface="Consolas" panose="020B0609020204030204" pitchFamily="49" charset="0"/>
              </a:rPr>
              <a:t>,1)</a:t>
            </a: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89515969-D590-551E-F4C0-BB2659C56D86}"/>
              </a:ext>
            </a:extLst>
          </p:cNvPr>
          <p:cNvGrpSpPr/>
          <p:nvPr/>
        </p:nvGrpSpPr>
        <p:grpSpPr>
          <a:xfrm>
            <a:off x="8839746" y="2419460"/>
            <a:ext cx="1655100" cy="4182975"/>
            <a:chOff x="10248267" y="2404487"/>
            <a:chExt cx="1655100" cy="4182975"/>
          </a:xfrm>
        </p:grpSpPr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2F79EC8F-5AC5-8279-4EE3-7F3F4BFA8053}"/>
                </a:ext>
              </a:extLst>
            </p:cNvPr>
            <p:cNvCxnSpPr>
              <a:cxnSpLocks/>
              <a:stCxn id="106" idx="2"/>
            </p:cNvCxnSpPr>
            <p:nvPr/>
          </p:nvCxnSpPr>
          <p:spPr>
            <a:xfrm flipH="1">
              <a:off x="11219776" y="5968650"/>
              <a:ext cx="1" cy="618812"/>
            </a:xfrm>
            <a:prstGeom prst="straightConnector1">
              <a:avLst/>
            </a:prstGeom>
            <a:ln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F5D055C0-7F0F-2C04-5934-379EC45D20B2}"/>
                </a:ext>
              </a:extLst>
            </p:cNvPr>
            <p:cNvGrpSpPr/>
            <p:nvPr/>
          </p:nvGrpSpPr>
          <p:grpSpPr>
            <a:xfrm>
              <a:off x="10248267" y="2404487"/>
              <a:ext cx="1655100" cy="3984764"/>
              <a:chOff x="10248267" y="2404487"/>
              <a:chExt cx="1655100" cy="398476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6" name="Rectangle 105">
                    <a:extLst>
                      <a:ext uri="{FF2B5EF4-FFF2-40B4-BE49-F238E27FC236}">
                        <a16:creationId xmlns:a16="http://schemas.microsoft.com/office/drawing/2014/main" id="{AB6C28AF-7C9A-C05D-6891-64F477E4D4DA}"/>
                      </a:ext>
                    </a:extLst>
                  </p:cNvPr>
                  <p:cNvSpPr/>
                  <p:nvPr/>
                </p:nvSpPr>
                <p:spPr>
                  <a:xfrm>
                    <a:off x="10954097" y="5454300"/>
                    <a:ext cx="531359" cy="51435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𝛁</m:t>
                          </m:r>
                        </m:oMath>
                      </m:oMathPara>
                    </a14:m>
                    <a:endParaRPr lang="en-IN" b="1" dirty="0"/>
                  </a:p>
                </p:txBody>
              </p:sp>
            </mc:Choice>
            <mc:Fallback xmlns="">
              <p:sp>
                <p:nvSpPr>
                  <p:cNvPr id="106" name="Rectangle 105">
                    <a:extLst>
                      <a:ext uri="{FF2B5EF4-FFF2-40B4-BE49-F238E27FC236}">
                        <a16:creationId xmlns:a16="http://schemas.microsoft.com/office/drawing/2014/main" id="{AB6C28AF-7C9A-C05D-6891-64F477E4D4D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54097" y="5454300"/>
                    <a:ext cx="531359" cy="51435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07" name="Straight Arrow Connector 106">
                <a:extLst>
                  <a:ext uri="{FF2B5EF4-FFF2-40B4-BE49-F238E27FC236}">
                    <a16:creationId xmlns:a16="http://schemas.microsoft.com/office/drawing/2014/main" id="{85BC4A30-81E8-671D-4B91-D27FE60FA99E}"/>
                  </a:ext>
                </a:extLst>
              </p:cNvPr>
              <p:cNvCxnSpPr>
                <a:cxnSpLocks/>
                <a:endCxn id="106" idx="0"/>
              </p:cNvCxnSpPr>
              <p:nvPr/>
            </p:nvCxnSpPr>
            <p:spPr>
              <a:xfrm>
                <a:off x="10507168" y="5210018"/>
                <a:ext cx="712609" cy="244282"/>
              </a:xfrm>
              <a:prstGeom prst="straightConnector1">
                <a:avLst/>
              </a:prstGeom>
              <a:ln>
                <a:headEnd w="lg" len="lg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6C388375-CEBB-E4A5-DEEF-6C7B97B2640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00472" y="2404487"/>
                <a:ext cx="1987" cy="2811887"/>
              </a:xfrm>
              <a:prstGeom prst="straightConnector1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DB37372C-6E5C-02F9-151F-B9F475EFB2DA}"/>
                  </a:ext>
                </a:extLst>
              </p:cNvPr>
              <p:cNvSpPr txBox="1"/>
              <p:nvPr/>
            </p:nvSpPr>
            <p:spPr>
              <a:xfrm>
                <a:off x="10248267" y="6019919"/>
                <a:ext cx="93734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800" b="1" dirty="0" err="1">
                    <a:latin typeface="Consolas" panose="020B0609020204030204" pitchFamily="49" charset="0"/>
                  </a:rPr>
                  <a:t>dz_dx</a:t>
                </a:r>
                <a:endParaRPr lang="en-IN" b="1" dirty="0"/>
              </a:p>
            </p:txBody>
          </p:sp>
          <p:cxnSp>
            <p:nvCxnSpPr>
              <p:cNvPr id="110" name="Straight Arrow Connector 109">
                <a:extLst>
                  <a:ext uri="{FF2B5EF4-FFF2-40B4-BE49-F238E27FC236}">
                    <a16:creationId xmlns:a16="http://schemas.microsoft.com/office/drawing/2014/main" id="{D942C9D4-740E-D89C-C7E3-6E97186CFDF0}"/>
                  </a:ext>
                </a:extLst>
              </p:cNvPr>
              <p:cNvCxnSpPr>
                <a:cxnSpLocks/>
                <a:endCxn id="106" idx="0"/>
              </p:cNvCxnSpPr>
              <p:nvPr/>
            </p:nvCxnSpPr>
            <p:spPr>
              <a:xfrm flipH="1">
                <a:off x="11219777" y="5198784"/>
                <a:ext cx="683590" cy="255516"/>
              </a:xfrm>
              <a:prstGeom prst="straightConnector1">
                <a:avLst/>
              </a:prstGeom>
              <a:ln>
                <a:headEnd w="lg" len="lg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Arrow Connector 110">
                <a:extLst>
                  <a:ext uri="{FF2B5EF4-FFF2-40B4-BE49-F238E27FC236}">
                    <a16:creationId xmlns:a16="http://schemas.microsoft.com/office/drawing/2014/main" id="{9F207810-A9FF-EE0A-071D-F72F4F6FB0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07168" y="2421290"/>
                <a:ext cx="552292" cy="0"/>
              </a:xfrm>
              <a:prstGeom prst="straightConnector1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47ABD205-BC8C-1BBE-5C41-C9465B6FDD9D}"/>
              </a:ext>
            </a:extLst>
          </p:cNvPr>
          <p:cNvCxnSpPr>
            <a:cxnSpLocks/>
          </p:cNvCxnSpPr>
          <p:nvPr/>
        </p:nvCxnSpPr>
        <p:spPr>
          <a:xfrm>
            <a:off x="9664526" y="1936783"/>
            <a:ext cx="6967" cy="868934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DEBE2EE5-E9A5-ADF2-9AD8-0F958B43E847}"/>
              </a:ext>
            </a:extLst>
          </p:cNvPr>
          <p:cNvCxnSpPr>
            <a:cxnSpLocks/>
            <a:endCxn id="26" idx="0"/>
          </p:cNvCxnSpPr>
          <p:nvPr/>
        </p:nvCxnSpPr>
        <p:spPr>
          <a:xfrm>
            <a:off x="9678297" y="3360151"/>
            <a:ext cx="789892" cy="706575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CAFB3ACA-A2C7-C8A6-B4A5-16B593CD3267}"/>
              </a:ext>
            </a:extLst>
          </p:cNvPr>
          <p:cNvCxnSpPr>
            <a:cxnSpLocks/>
          </p:cNvCxnSpPr>
          <p:nvPr/>
        </p:nvCxnSpPr>
        <p:spPr>
          <a:xfrm>
            <a:off x="10468189" y="4617652"/>
            <a:ext cx="0" cy="544016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D6A70FF6-92DA-A8E5-9F99-70D2E3A70B5B}"/>
              </a:ext>
            </a:extLst>
          </p:cNvPr>
          <p:cNvSpPr txBox="1"/>
          <p:nvPr/>
        </p:nvSpPr>
        <p:spPr>
          <a:xfrm>
            <a:off x="8459489" y="2024956"/>
            <a:ext cx="14142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i="1" dirty="0">
                <a:latin typeface="Consolas" panose="020B0609020204030204" pitchFamily="49" charset="0"/>
              </a:rPr>
              <a:t>(None,1)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DAB16A-929B-A4F3-A643-AE3045A9D1EF}"/>
              </a:ext>
            </a:extLst>
          </p:cNvPr>
          <p:cNvSpPr txBox="1"/>
          <p:nvPr/>
        </p:nvSpPr>
        <p:spPr>
          <a:xfrm>
            <a:off x="549888" y="3702045"/>
            <a:ext cx="718943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 err="1">
                <a:latin typeface="Consolas" panose="020B0609020204030204" pitchFamily="49" charset="0"/>
              </a:rPr>
              <a:t>grad_z_x</a:t>
            </a:r>
            <a:r>
              <a:rPr lang="en-IN" sz="2000" dirty="0">
                <a:latin typeface="Consolas" panose="020B0609020204030204" pitchFamily="49" charset="0"/>
              </a:rPr>
              <a:t> = </a:t>
            </a:r>
            <a:r>
              <a:rPr lang="en-IN" sz="2000" dirty="0" err="1">
                <a:latin typeface="Consolas" panose="020B0609020204030204" pitchFamily="49" charset="0"/>
              </a:rPr>
              <a:t>sess.</a:t>
            </a:r>
            <a:r>
              <a:rPr lang="en-IN" sz="2000" dirty="0" err="1">
                <a:solidFill>
                  <a:srgbClr val="00B0F0"/>
                </a:solidFill>
                <a:latin typeface="Consolas" panose="020B0609020204030204" pitchFamily="49" charset="0"/>
              </a:rPr>
              <a:t>run</a:t>
            </a:r>
            <a:r>
              <a:rPr lang="en-IN" sz="2000" dirty="0">
                <a:latin typeface="Consolas" panose="020B0609020204030204" pitchFamily="49" charset="0"/>
              </a:rPr>
              <a:t>(</a:t>
            </a:r>
            <a:r>
              <a:rPr lang="en-IN" sz="2000" dirty="0" err="1">
                <a:latin typeface="Consolas" panose="020B0609020204030204" pitchFamily="49" charset="0"/>
              </a:rPr>
              <a:t>dz_dx,</a:t>
            </a:r>
            <a:r>
              <a:rPr lang="en-IN" sz="2000" b="1" dirty="0" err="1">
                <a:solidFill>
                  <a:srgbClr val="00B0F0"/>
                </a:solidFill>
                <a:latin typeface="Consolas" panose="020B0609020204030204" pitchFamily="49" charset="0"/>
              </a:rPr>
              <a:t>feed_dict</a:t>
            </a:r>
            <a:r>
              <a:rPr lang="en-IN" sz="2000" dirty="0">
                <a:latin typeface="Consolas" panose="020B0609020204030204" pitchFamily="49" charset="0"/>
              </a:rPr>
              <a:t>={</a:t>
            </a:r>
            <a:r>
              <a:rPr lang="en-IN" sz="2000" dirty="0" err="1">
                <a:latin typeface="Consolas" panose="020B0609020204030204" pitchFamily="49" charset="0"/>
              </a:rPr>
              <a:t>x:a</a:t>
            </a:r>
            <a:r>
              <a:rPr lang="en-IN" sz="2000" dirty="0">
                <a:latin typeface="Consolas" panose="020B0609020204030204" pitchFamily="49" charset="0"/>
              </a:rPr>
              <a:t>});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print(</a:t>
            </a:r>
            <a:r>
              <a:rPr lang="en-IN" sz="2000" dirty="0" err="1">
                <a:latin typeface="Consolas" panose="020B0609020204030204" pitchFamily="49" charset="0"/>
              </a:rPr>
              <a:t>grad_z_x</a:t>
            </a:r>
            <a:r>
              <a:rPr lang="en-IN" sz="20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528C1C-B319-F1BF-CBFC-05D9C3221BC7}"/>
              </a:ext>
            </a:extLst>
          </p:cNvPr>
          <p:cNvSpPr txBox="1"/>
          <p:nvPr/>
        </p:nvSpPr>
        <p:spPr>
          <a:xfrm>
            <a:off x="786463" y="5156849"/>
            <a:ext cx="9373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[18.]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D65DEC-10D2-F96B-7F6F-678D00D786AA}"/>
              </a:ext>
            </a:extLst>
          </p:cNvPr>
          <p:cNvSpPr txBox="1"/>
          <p:nvPr/>
        </p:nvSpPr>
        <p:spPr>
          <a:xfrm>
            <a:off x="549888" y="2984048"/>
            <a:ext cx="739267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grad_z_y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sess.</a:t>
            </a: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run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dz_dy,</a:t>
            </a:r>
            <a:r>
              <a:rPr kumimoji="0" lang="en-I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feed_dict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={</a:t>
            </a: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x:a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print(</a:t>
            </a: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grad_z_y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7AAA44-B824-ACD6-09EC-D270B0BB48F9}"/>
              </a:ext>
            </a:extLst>
          </p:cNvPr>
          <p:cNvSpPr txBox="1"/>
          <p:nvPr/>
        </p:nvSpPr>
        <p:spPr>
          <a:xfrm>
            <a:off x="763079" y="5569099"/>
            <a:ext cx="9373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[[ 3.]</a:t>
            </a:r>
          </a:p>
          <a:p>
            <a:r>
              <a:rPr lang="en-IN" dirty="0"/>
              <a:t> [12.]</a:t>
            </a:r>
          </a:p>
          <a:p>
            <a:r>
              <a:rPr lang="en-IN" dirty="0"/>
              <a:t> [27.]]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E968B53-2281-1543-EB69-D7F0ED08BF14}"/>
              </a:ext>
            </a:extLst>
          </p:cNvPr>
          <p:cNvGrpSpPr/>
          <p:nvPr/>
        </p:nvGrpSpPr>
        <p:grpSpPr>
          <a:xfrm>
            <a:off x="651510" y="4727419"/>
            <a:ext cx="2448540" cy="1860043"/>
            <a:chOff x="651510" y="4727419"/>
            <a:chExt cx="2448540" cy="18600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A5303F7-FEF9-8FE3-BE07-49686EBB7CD3}"/>
                </a:ext>
              </a:extLst>
            </p:cNvPr>
            <p:cNvSpPr/>
            <p:nvPr/>
          </p:nvSpPr>
          <p:spPr>
            <a:xfrm>
              <a:off x="651510" y="5017770"/>
              <a:ext cx="2441844" cy="156969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36F8009-DFA3-3840-C97D-4605D4F6945F}"/>
                </a:ext>
              </a:extLst>
            </p:cNvPr>
            <p:cNvSpPr/>
            <p:nvPr/>
          </p:nvSpPr>
          <p:spPr>
            <a:xfrm>
              <a:off x="658206" y="4727419"/>
              <a:ext cx="2441844" cy="2474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Output</a:t>
              </a:r>
              <a:endParaRPr lang="en-IN" dirty="0">
                <a:solidFill>
                  <a:schemeClr val="tx1"/>
                </a:solidFill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3228C812-4198-8D14-D8C6-BBA1FBD58497}"/>
              </a:ext>
            </a:extLst>
          </p:cNvPr>
          <p:cNvSpPr txBox="1"/>
          <p:nvPr/>
        </p:nvSpPr>
        <p:spPr>
          <a:xfrm>
            <a:off x="8667657" y="2042950"/>
            <a:ext cx="14142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i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(3,1)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CB1F1CA-3C16-0C9B-AE72-D436B10BA8E0}"/>
              </a:ext>
            </a:extLst>
          </p:cNvPr>
          <p:cNvSpPr txBox="1"/>
          <p:nvPr/>
        </p:nvSpPr>
        <p:spPr>
          <a:xfrm>
            <a:off x="10456365" y="4790186"/>
            <a:ext cx="14142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i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(3,1)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1B04FD9-FB04-A4CC-9FB0-696EA5E62E11}"/>
              </a:ext>
            </a:extLst>
          </p:cNvPr>
          <p:cNvSpPr txBox="1"/>
          <p:nvPr/>
        </p:nvSpPr>
        <p:spPr>
          <a:xfrm>
            <a:off x="8817800" y="6342606"/>
            <a:ext cx="14142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i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(3,1)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BDC6302-96EC-DC34-A46B-A49AC7F3EDFA}"/>
              </a:ext>
            </a:extLst>
          </p:cNvPr>
          <p:cNvSpPr txBox="1"/>
          <p:nvPr/>
        </p:nvSpPr>
        <p:spPr>
          <a:xfrm>
            <a:off x="10524318" y="4503155"/>
            <a:ext cx="5364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Consolas" panose="020B0609020204030204" pitchFamily="49" charset="0"/>
              </a:rPr>
              <a:t>z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674143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13" grpId="0"/>
      <p:bldP spid="19" grpId="0"/>
      <p:bldP spid="102" grpId="0"/>
      <p:bldP spid="131" grpId="0"/>
      <p:bldP spid="3" grpId="0"/>
      <p:bldP spid="6" grpId="0"/>
      <p:bldP spid="14" grpId="0"/>
      <p:bldP spid="20" grpId="0"/>
      <p:bldP spid="30" grpId="0"/>
      <p:bldP spid="33" grpId="0"/>
      <p:bldP spid="34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135CE-5CE9-3263-2DAC-6AF8BE01E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E252DE6-AC5E-25F5-B3FA-9CB7BDE7815B}"/>
              </a:ext>
            </a:extLst>
          </p:cNvPr>
          <p:cNvSpPr txBox="1"/>
          <p:nvPr/>
        </p:nvSpPr>
        <p:spPr>
          <a:xfrm>
            <a:off x="0" y="98322"/>
            <a:ext cx="12192000" cy="52322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Session 1: </a:t>
            </a:r>
            <a:r>
              <a:rPr lang="en-US" sz="2800" b="1" dirty="0" err="1">
                <a:solidFill>
                  <a:schemeClr val="bg1"/>
                </a:solidFill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Tensorflow</a:t>
            </a:r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 Basics</a:t>
            </a:r>
            <a:endParaRPr lang="en-IN" sz="2800" b="1" dirty="0">
              <a:solidFill>
                <a:schemeClr val="bg1"/>
              </a:solidFill>
              <a:latin typeface="Century Schoolbook" panose="02040604050505020304" pitchFamily="18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F46CDF2-9896-F683-9074-76A1E893C758}"/>
              </a:ext>
            </a:extLst>
          </p:cNvPr>
          <p:cNvSpPr/>
          <p:nvPr/>
        </p:nvSpPr>
        <p:spPr>
          <a:xfrm>
            <a:off x="9525763" y="1659216"/>
            <a:ext cx="298186" cy="28373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0721E2-984E-A91E-41A2-B5FB203F638C}"/>
              </a:ext>
            </a:extLst>
          </p:cNvPr>
          <p:cNvSpPr txBox="1"/>
          <p:nvPr/>
        </p:nvSpPr>
        <p:spPr>
          <a:xfrm>
            <a:off x="9525763" y="1295140"/>
            <a:ext cx="5364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Consolas" panose="020B0609020204030204" pitchFamily="49" charset="0"/>
              </a:rPr>
              <a:t>x</a:t>
            </a:r>
            <a:endParaRPr lang="en-IN" b="1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7379E6B-861E-240B-CD9A-23AE0706677B}"/>
              </a:ext>
            </a:extLst>
          </p:cNvPr>
          <p:cNvSpPr/>
          <p:nvPr/>
        </p:nvSpPr>
        <p:spPr>
          <a:xfrm>
            <a:off x="11209560" y="1659216"/>
            <a:ext cx="298186" cy="28373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F8DB40-E6F9-0FD5-1AB5-C9AAE85A44D3}"/>
              </a:ext>
            </a:extLst>
          </p:cNvPr>
          <p:cNvSpPr txBox="1"/>
          <p:nvPr/>
        </p:nvSpPr>
        <p:spPr>
          <a:xfrm>
            <a:off x="11221742" y="1273264"/>
            <a:ext cx="5364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y</a:t>
            </a:r>
            <a:endParaRPr lang="en-IN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FBAB605-BCB6-D82E-43A2-10E7C01A3F4E}"/>
                  </a:ext>
                </a:extLst>
              </p:cNvPr>
              <p:cNvSpPr txBox="1"/>
              <p:nvPr/>
            </p:nvSpPr>
            <p:spPr>
              <a:xfrm>
                <a:off x="8599418" y="1287864"/>
                <a:ext cx="920193" cy="823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IN" i="1" smtClean="0">
                              <a:solidFill>
                                <a:srgbClr val="0000FF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smtClean="0">
                                  <a:solidFill>
                                    <a:srgbClr val="0000FF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i="1" smtClean="0">
                                  <a:solidFill>
                                    <a:srgbClr val="0000FF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b="0" i="1" smtClean="0">
                                  <a:solidFill>
                                    <a:srgbClr val="0000FF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rgbClr val="0000FF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2.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rgbClr val="0000FF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3.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IN" dirty="0">
                  <a:solidFill>
                    <a:srgbClr val="0000FF"/>
                  </a:solidFill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FBAB605-BCB6-D82E-43A2-10E7C01A3F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9418" y="1287864"/>
                <a:ext cx="920193" cy="823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B5DC730-4F1B-3551-D1D3-E0A8DC7AEFB8}"/>
                  </a:ext>
                </a:extLst>
              </p:cNvPr>
              <p:cNvSpPr txBox="1"/>
              <p:nvPr/>
            </p:nvSpPr>
            <p:spPr>
              <a:xfrm>
                <a:off x="10468189" y="1568164"/>
                <a:ext cx="9201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B5DC730-4F1B-3551-D1D3-E0A8DC7AE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8189" y="1568164"/>
                <a:ext cx="92019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53DC726C-9D61-9DBD-F088-E1187797ADC6}"/>
              </a:ext>
            </a:extLst>
          </p:cNvPr>
          <p:cNvSpPr txBox="1"/>
          <p:nvPr/>
        </p:nvSpPr>
        <p:spPr>
          <a:xfrm>
            <a:off x="2672105" y="707692"/>
            <a:ext cx="70870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Automatic Gradient/Algorithmic Gradient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7A31089F-163C-8A96-7D78-EDE626D84C42}"/>
              </a:ext>
            </a:extLst>
          </p:cNvPr>
          <p:cNvGrpSpPr/>
          <p:nvPr/>
        </p:nvGrpSpPr>
        <p:grpSpPr>
          <a:xfrm>
            <a:off x="9407189" y="1914218"/>
            <a:ext cx="2217143" cy="1438566"/>
            <a:chOff x="9407189" y="1914218"/>
            <a:chExt cx="2217143" cy="1438566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3E708F9-E3E0-E2AA-7273-7C1284DCA7A3}"/>
                </a:ext>
              </a:extLst>
            </p:cNvPr>
            <p:cNvSpPr/>
            <p:nvPr/>
          </p:nvSpPr>
          <p:spPr>
            <a:xfrm>
              <a:off x="9407189" y="2838434"/>
              <a:ext cx="531359" cy="5143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**</a:t>
              </a:r>
              <a:endParaRPr lang="en-IN" b="1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0589B9C-0B34-4CBB-C083-6C713EDAB551}"/>
                </a:ext>
              </a:extLst>
            </p:cNvPr>
            <p:cNvSpPr/>
            <p:nvPr/>
          </p:nvSpPr>
          <p:spPr>
            <a:xfrm>
              <a:off x="11092973" y="2838434"/>
              <a:ext cx="531359" cy="5143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**</a:t>
              </a:r>
              <a:endParaRPr lang="en-IN" b="1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6356A4EE-2BA1-D0DE-F564-AA8F13A55C5D}"/>
                </a:ext>
              </a:extLst>
            </p:cNvPr>
            <p:cNvSpPr/>
            <p:nvPr/>
          </p:nvSpPr>
          <p:spPr>
            <a:xfrm>
              <a:off x="10196335" y="2953744"/>
              <a:ext cx="298186" cy="283730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3</a:t>
              </a:r>
              <a:endParaRPr lang="en-IN" b="1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E56DB12F-632D-4B1A-EC10-6F2D7A891AC3}"/>
                </a:ext>
              </a:extLst>
            </p:cNvPr>
            <p:cNvSpPr/>
            <p:nvPr/>
          </p:nvSpPr>
          <p:spPr>
            <a:xfrm>
              <a:off x="10552347" y="2953744"/>
              <a:ext cx="298186" cy="283730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2</a:t>
              </a:r>
              <a:endParaRPr lang="en-IN" b="1" dirty="0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0FCF3327-384B-FA7E-E7AB-55777D6348A9}"/>
                </a:ext>
              </a:extLst>
            </p:cNvPr>
            <p:cNvCxnSpPr>
              <a:stCxn id="7" idx="4"/>
              <a:endCxn id="24" idx="0"/>
            </p:cNvCxnSpPr>
            <p:nvPr/>
          </p:nvCxnSpPr>
          <p:spPr>
            <a:xfrm flipH="1">
              <a:off x="9672869" y="1942946"/>
              <a:ext cx="1987" cy="895488"/>
            </a:xfrm>
            <a:prstGeom prst="straightConnector1">
              <a:avLst/>
            </a:prstGeom>
            <a:ln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833C7B90-72A7-0748-32BC-4C337C8F2551}"/>
                </a:ext>
              </a:extLst>
            </p:cNvPr>
            <p:cNvCxnSpPr>
              <a:cxnSpLocks/>
              <a:endCxn id="25" idx="0"/>
            </p:cNvCxnSpPr>
            <p:nvPr/>
          </p:nvCxnSpPr>
          <p:spPr>
            <a:xfrm>
              <a:off x="11358652" y="1914218"/>
              <a:ext cx="1" cy="924216"/>
            </a:xfrm>
            <a:prstGeom prst="straightConnector1">
              <a:avLst/>
            </a:prstGeom>
            <a:ln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E3EA2B3B-FD5A-CD03-33A2-0ED5FC317B51}"/>
                </a:ext>
              </a:extLst>
            </p:cNvPr>
            <p:cNvCxnSpPr>
              <a:cxnSpLocks/>
              <a:stCxn id="28" idx="2"/>
              <a:endCxn id="24" idx="3"/>
            </p:cNvCxnSpPr>
            <p:nvPr/>
          </p:nvCxnSpPr>
          <p:spPr>
            <a:xfrm flipH="1">
              <a:off x="9938548" y="3095609"/>
              <a:ext cx="257787" cy="0"/>
            </a:xfrm>
            <a:prstGeom prst="straightConnector1">
              <a:avLst/>
            </a:prstGeom>
            <a:ln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BFA74796-CB65-5111-DE19-A3FF4D02BFC7}"/>
                </a:ext>
              </a:extLst>
            </p:cNvPr>
            <p:cNvCxnSpPr>
              <a:cxnSpLocks/>
              <a:stCxn id="29" idx="6"/>
              <a:endCxn id="25" idx="1"/>
            </p:cNvCxnSpPr>
            <p:nvPr/>
          </p:nvCxnSpPr>
          <p:spPr>
            <a:xfrm>
              <a:off x="10850533" y="3095609"/>
              <a:ext cx="242440" cy="0"/>
            </a:xfrm>
            <a:prstGeom prst="straightConnector1">
              <a:avLst/>
            </a:prstGeom>
            <a:ln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D2C8D977-90A7-153D-6274-6EB4512274C9}"/>
              </a:ext>
            </a:extLst>
          </p:cNvPr>
          <p:cNvGrpSpPr/>
          <p:nvPr/>
        </p:nvGrpSpPr>
        <p:grpSpPr>
          <a:xfrm>
            <a:off x="9672869" y="3352784"/>
            <a:ext cx="1685784" cy="1847104"/>
            <a:chOff x="9672869" y="3352784"/>
            <a:chExt cx="1685784" cy="1847104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1E152A3-9592-F9FB-3B1E-B54257DD34BC}"/>
                </a:ext>
              </a:extLst>
            </p:cNvPr>
            <p:cNvSpPr/>
            <p:nvPr/>
          </p:nvSpPr>
          <p:spPr>
            <a:xfrm>
              <a:off x="10202509" y="4066726"/>
              <a:ext cx="531359" cy="5143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+</a:t>
              </a:r>
              <a:endParaRPr lang="en-IN" b="1" dirty="0"/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54B84366-39AA-7351-B594-EC2DAB8E278B}"/>
                </a:ext>
              </a:extLst>
            </p:cNvPr>
            <p:cNvCxnSpPr>
              <a:cxnSpLocks/>
              <a:stCxn id="24" idx="2"/>
              <a:endCxn id="26" idx="0"/>
            </p:cNvCxnSpPr>
            <p:nvPr/>
          </p:nvCxnSpPr>
          <p:spPr>
            <a:xfrm>
              <a:off x="9672869" y="3352784"/>
              <a:ext cx="795320" cy="713942"/>
            </a:xfrm>
            <a:prstGeom prst="straightConnector1">
              <a:avLst/>
            </a:prstGeom>
            <a:ln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8627EC5A-C603-E056-717B-CA1D6086AB16}"/>
                </a:ext>
              </a:extLst>
            </p:cNvPr>
            <p:cNvCxnSpPr>
              <a:cxnSpLocks/>
              <a:stCxn id="25" idx="2"/>
              <a:endCxn id="26" idx="0"/>
            </p:cNvCxnSpPr>
            <p:nvPr/>
          </p:nvCxnSpPr>
          <p:spPr>
            <a:xfrm flipH="1">
              <a:off x="10468189" y="3352784"/>
              <a:ext cx="890464" cy="713942"/>
            </a:xfrm>
            <a:prstGeom prst="straightConnector1">
              <a:avLst/>
            </a:prstGeom>
            <a:ln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5FA6EE0F-F897-ED8A-2C34-E4400D117E6D}"/>
                </a:ext>
              </a:extLst>
            </p:cNvPr>
            <p:cNvCxnSpPr>
              <a:cxnSpLocks/>
              <a:stCxn id="26" idx="2"/>
            </p:cNvCxnSpPr>
            <p:nvPr/>
          </p:nvCxnSpPr>
          <p:spPr>
            <a:xfrm flipH="1">
              <a:off x="10468188" y="4581076"/>
              <a:ext cx="1" cy="618812"/>
            </a:xfrm>
            <a:prstGeom prst="straightConnector1">
              <a:avLst/>
            </a:prstGeom>
            <a:ln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0F9B9AB9-6B80-1EFB-6DE9-32C8B99598D0}"/>
              </a:ext>
            </a:extLst>
          </p:cNvPr>
          <p:cNvGrpSpPr/>
          <p:nvPr/>
        </p:nvGrpSpPr>
        <p:grpSpPr>
          <a:xfrm>
            <a:off x="10468188" y="2386897"/>
            <a:ext cx="1723809" cy="4325041"/>
            <a:chOff x="10468188" y="2386897"/>
            <a:chExt cx="1723809" cy="432504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1CBEF47-D87E-047E-635E-914A5B776D55}"/>
                </a:ext>
              </a:extLst>
            </p:cNvPr>
            <p:cNvSpPr txBox="1"/>
            <p:nvPr/>
          </p:nvSpPr>
          <p:spPr>
            <a:xfrm>
              <a:off x="11254648" y="6342606"/>
              <a:ext cx="82864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IN" sz="1800" i="1" dirty="0">
                  <a:latin typeface="Consolas" panose="020B0609020204030204" pitchFamily="49" charset="0"/>
                </a:rPr>
                <a:t>(1,)</a:t>
              </a:r>
            </a:p>
          </p:txBody>
        </p: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0D16D1E9-AC3E-AA9E-DBFD-E546FBC7C7C6}"/>
                </a:ext>
              </a:extLst>
            </p:cNvPr>
            <p:cNvGrpSpPr/>
            <p:nvPr/>
          </p:nvGrpSpPr>
          <p:grpSpPr>
            <a:xfrm>
              <a:off x="10468188" y="2386897"/>
              <a:ext cx="1723809" cy="4200565"/>
              <a:chOff x="10468188" y="2386897"/>
              <a:chExt cx="1723809" cy="4200565"/>
            </a:xfrm>
          </p:grpSpPr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474D71EB-EE8B-6A41-61E2-A8CF2C9F88DE}"/>
                  </a:ext>
                </a:extLst>
              </p:cNvPr>
              <p:cNvCxnSpPr>
                <a:cxnSpLocks/>
                <a:stCxn id="67" idx="2"/>
              </p:cNvCxnSpPr>
              <p:nvPr/>
            </p:nvCxnSpPr>
            <p:spPr>
              <a:xfrm flipH="1">
                <a:off x="11219776" y="5968650"/>
                <a:ext cx="1" cy="618812"/>
              </a:xfrm>
              <a:prstGeom prst="straightConnector1">
                <a:avLst/>
              </a:prstGeom>
              <a:ln>
                <a:solidFill>
                  <a:schemeClr val="accent4">
                    <a:lumMod val="40000"/>
                    <a:lumOff val="60000"/>
                  </a:schemeClr>
                </a:solidFill>
                <a:headEnd w="lg" len="lg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A1A5427E-628D-15B8-7FFF-A771EA6BFF09}"/>
                  </a:ext>
                </a:extLst>
              </p:cNvPr>
              <p:cNvGrpSpPr/>
              <p:nvPr/>
            </p:nvGrpSpPr>
            <p:grpSpPr>
              <a:xfrm>
                <a:off x="10468188" y="2386897"/>
                <a:ext cx="1723809" cy="4017327"/>
                <a:chOff x="10468188" y="2386897"/>
                <a:chExt cx="1723809" cy="4017327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7" name="Rectangle 66">
                      <a:extLst>
                        <a:ext uri="{FF2B5EF4-FFF2-40B4-BE49-F238E27FC236}">
                          <a16:creationId xmlns:a16="http://schemas.microsoft.com/office/drawing/2014/main" id="{48DED972-24F0-338C-5DC1-59E206C75D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54097" y="5454300"/>
                      <a:ext cx="531359" cy="514350"/>
                    </a:xfrm>
                    <a:prstGeom prst="rect">
                      <a:avLst/>
                    </a:prstGeom>
                    <a:solidFill>
                      <a:schemeClr val="accent4">
                        <a:lumMod val="40000"/>
                        <a:lumOff val="60000"/>
                      </a:schemeClr>
                    </a:solidFill>
                    <a:ln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I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𝛁</m:t>
                            </m:r>
                          </m:oMath>
                        </m:oMathPara>
                      </a14:m>
                      <a:endParaRPr lang="en-IN" b="1" dirty="0"/>
                    </a:p>
                  </p:txBody>
                </p:sp>
              </mc:Choice>
              <mc:Fallback xmlns="">
                <p:sp>
                  <p:nvSpPr>
                    <p:cNvPr id="67" name="Rectangle 66">
                      <a:extLst>
                        <a:ext uri="{FF2B5EF4-FFF2-40B4-BE49-F238E27FC236}">
                          <a16:creationId xmlns:a16="http://schemas.microsoft.com/office/drawing/2014/main" id="{48DED972-24F0-338C-5DC1-59E206C75D85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954097" y="5454300"/>
                      <a:ext cx="531359" cy="51435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  <a:ln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68" name="Straight Arrow Connector 67">
                  <a:extLst>
                    <a:ext uri="{FF2B5EF4-FFF2-40B4-BE49-F238E27FC236}">
                      <a16:creationId xmlns:a16="http://schemas.microsoft.com/office/drawing/2014/main" id="{278A51CD-6491-D1FB-3BFF-96A46B178049}"/>
                    </a:ext>
                  </a:extLst>
                </p:cNvPr>
                <p:cNvCxnSpPr>
                  <a:cxnSpLocks/>
                  <a:endCxn id="67" idx="0"/>
                </p:cNvCxnSpPr>
                <p:nvPr/>
              </p:nvCxnSpPr>
              <p:spPr>
                <a:xfrm>
                  <a:off x="10468188" y="5198784"/>
                  <a:ext cx="751589" cy="255516"/>
                </a:xfrm>
                <a:prstGeom prst="straightConnector1">
                  <a:avLst/>
                </a:prstGeom>
                <a:ln>
                  <a:solidFill>
                    <a:schemeClr val="accent4">
                      <a:lumMod val="40000"/>
                      <a:lumOff val="60000"/>
                    </a:schemeClr>
                  </a:solidFill>
                  <a:headEnd w="lg" len="lg"/>
                  <a:tailEnd type="triangl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Straight Arrow Connector 68">
                  <a:extLst>
                    <a:ext uri="{FF2B5EF4-FFF2-40B4-BE49-F238E27FC236}">
                      <a16:creationId xmlns:a16="http://schemas.microsoft.com/office/drawing/2014/main" id="{D7D466EF-2B06-7FB2-6461-3F42A6A2E5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1884220" y="2386897"/>
                  <a:ext cx="1987" cy="2811887"/>
                </a:xfrm>
                <a:prstGeom prst="straightConnector1">
                  <a:avLst/>
                </a:prstGeom>
                <a:ln>
                  <a:solidFill>
                    <a:schemeClr val="accent4">
                      <a:lumMod val="40000"/>
                      <a:lumOff val="6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31A4DEDB-B1A4-5962-6F31-8899519A296A}"/>
                    </a:ext>
                  </a:extLst>
                </p:cNvPr>
                <p:cNvSpPr txBox="1"/>
                <p:nvPr/>
              </p:nvSpPr>
              <p:spPr>
                <a:xfrm>
                  <a:off x="11254648" y="6034892"/>
                  <a:ext cx="937349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IN" sz="1800" b="1" dirty="0" err="1">
                      <a:latin typeface="Consolas" panose="020B0609020204030204" pitchFamily="49" charset="0"/>
                    </a:rPr>
                    <a:t>dz_dy</a:t>
                  </a:r>
                  <a:endParaRPr lang="en-IN" b="1" dirty="0"/>
                </a:p>
              </p:txBody>
            </p:sp>
            <p:cxnSp>
              <p:nvCxnSpPr>
                <p:cNvPr id="75" name="Straight Arrow Connector 74">
                  <a:extLst>
                    <a:ext uri="{FF2B5EF4-FFF2-40B4-BE49-F238E27FC236}">
                      <a16:creationId xmlns:a16="http://schemas.microsoft.com/office/drawing/2014/main" id="{59196619-4606-706A-49E9-F86BB429DF91}"/>
                    </a:ext>
                  </a:extLst>
                </p:cNvPr>
                <p:cNvCxnSpPr>
                  <a:cxnSpLocks/>
                  <a:endCxn id="67" idx="0"/>
                </p:cNvCxnSpPr>
                <p:nvPr/>
              </p:nvCxnSpPr>
              <p:spPr>
                <a:xfrm flipH="1">
                  <a:off x="11219777" y="5198784"/>
                  <a:ext cx="683590" cy="255516"/>
                </a:xfrm>
                <a:prstGeom prst="straightConnector1">
                  <a:avLst/>
                </a:prstGeom>
                <a:ln>
                  <a:solidFill>
                    <a:schemeClr val="accent4">
                      <a:lumMod val="40000"/>
                      <a:lumOff val="60000"/>
                    </a:schemeClr>
                  </a:solidFill>
                  <a:headEnd w="lg" len="lg"/>
                  <a:tailEnd type="triangl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Straight Arrow Connector 79">
                  <a:extLst>
                    <a:ext uri="{FF2B5EF4-FFF2-40B4-BE49-F238E27FC236}">
                      <a16:creationId xmlns:a16="http://schemas.microsoft.com/office/drawing/2014/main" id="{A0127CFB-5FE8-87C5-E3E6-4A5ED1B59B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358652" y="2386897"/>
                  <a:ext cx="544715" cy="0"/>
                </a:xfrm>
                <a:prstGeom prst="straightConnector1">
                  <a:avLst/>
                </a:prstGeom>
                <a:ln>
                  <a:solidFill>
                    <a:schemeClr val="accent4">
                      <a:lumMod val="40000"/>
                      <a:lumOff val="6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894F9178-1EFE-9C54-E7CF-3126EF2C332F}"/>
              </a:ext>
            </a:extLst>
          </p:cNvPr>
          <p:cNvCxnSpPr>
            <a:cxnSpLocks/>
          </p:cNvCxnSpPr>
          <p:nvPr/>
        </p:nvCxnSpPr>
        <p:spPr>
          <a:xfrm flipH="1">
            <a:off x="10451029" y="3360151"/>
            <a:ext cx="890464" cy="713942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BF24F1C5-6741-6B38-C609-BCE69E3D37B0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11351686" y="1969500"/>
            <a:ext cx="6967" cy="868934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1C207574-BDFA-1416-FFB0-490718920055}"/>
              </a:ext>
            </a:extLst>
          </p:cNvPr>
          <p:cNvCxnSpPr>
            <a:cxnSpLocks/>
            <a:stCxn id="26" idx="2"/>
          </p:cNvCxnSpPr>
          <p:nvPr/>
        </p:nvCxnSpPr>
        <p:spPr>
          <a:xfrm>
            <a:off x="10468189" y="4581076"/>
            <a:ext cx="0" cy="617708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8D3D02E5-82AE-011F-B5D1-38A0E5E57081}"/>
              </a:ext>
            </a:extLst>
          </p:cNvPr>
          <p:cNvSpPr txBox="1"/>
          <p:nvPr/>
        </p:nvSpPr>
        <p:spPr>
          <a:xfrm>
            <a:off x="10572436" y="1907593"/>
            <a:ext cx="8286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i="1" dirty="0">
                <a:latin typeface="Consolas" panose="020B0609020204030204" pitchFamily="49" charset="0"/>
              </a:rPr>
              <a:t>(1,)</a:t>
            </a: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B0C04D79-90E7-1423-C29B-E60103916B35}"/>
              </a:ext>
            </a:extLst>
          </p:cNvPr>
          <p:cNvGrpSpPr/>
          <p:nvPr/>
        </p:nvGrpSpPr>
        <p:grpSpPr>
          <a:xfrm>
            <a:off x="8839746" y="2419460"/>
            <a:ext cx="1655100" cy="4182975"/>
            <a:chOff x="10248267" y="2404487"/>
            <a:chExt cx="1655100" cy="4182975"/>
          </a:xfrm>
        </p:grpSpPr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23B21C41-4ACE-77A2-BC39-57A30FEC8510}"/>
                </a:ext>
              </a:extLst>
            </p:cNvPr>
            <p:cNvCxnSpPr>
              <a:cxnSpLocks/>
              <a:stCxn id="106" idx="2"/>
            </p:cNvCxnSpPr>
            <p:nvPr/>
          </p:nvCxnSpPr>
          <p:spPr>
            <a:xfrm flipH="1">
              <a:off x="11219776" y="5968650"/>
              <a:ext cx="1" cy="618812"/>
            </a:xfrm>
            <a:prstGeom prst="straightConnector1">
              <a:avLst/>
            </a:prstGeom>
            <a:ln>
              <a:solidFill>
                <a:schemeClr val="accent4">
                  <a:lumMod val="40000"/>
                  <a:lumOff val="60000"/>
                </a:schemeClr>
              </a:solidFill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53739A55-0412-3233-AD7E-7E9E6091BF25}"/>
                </a:ext>
              </a:extLst>
            </p:cNvPr>
            <p:cNvGrpSpPr/>
            <p:nvPr/>
          </p:nvGrpSpPr>
          <p:grpSpPr>
            <a:xfrm>
              <a:off x="10248267" y="2404487"/>
              <a:ext cx="1655100" cy="3984764"/>
              <a:chOff x="10248267" y="2404487"/>
              <a:chExt cx="1655100" cy="398476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6" name="Rectangle 105">
                    <a:extLst>
                      <a:ext uri="{FF2B5EF4-FFF2-40B4-BE49-F238E27FC236}">
                        <a16:creationId xmlns:a16="http://schemas.microsoft.com/office/drawing/2014/main" id="{DF96C48A-A349-5388-2979-C26F5A2184E4}"/>
                      </a:ext>
                    </a:extLst>
                  </p:cNvPr>
                  <p:cNvSpPr/>
                  <p:nvPr/>
                </p:nvSpPr>
                <p:spPr>
                  <a:xfrm>
                    <a:off x="10954097" y="5454300"/>
                    <a:ext cx="531359" cy="514350"/>
                  </a:xfrm>
                  <a:prstGeom prst="rect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>
                    <a:solidFill>
                      <a:schemeClr val="accent4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𝛁</m:t>
                          </m:r>
                        </m:oMath>
                      </m:oMathPara>
                    </a14:m>
                    <a:endParaRPr lang="en-IN" b="1" dirty="0"/>
                  </a:p>
                </p:txBody>
              </p:sp>
            </mc:Choice>
            <mc:Fallback xmlns="">
              <p:sp>
                <p:nvSpPr>
                  <p:cNvPr id="106" name="Rectangle 105">
                    <a:extLst>
                      <a:ext uri="{FF2B5EF4-FFF2-40B4-BE49-F238E27FC236}">
                        <a16:creationId xmlns:a16="http://schemas.microsoft.com/office/drawing/2014/main" id="{DF96C48A-A349-5388-2979-C26F5A2184E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54097" y="5454300"/>
                    <a:ext cx="531359" cy="51435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>
                    <a:solidFill>
                      <a:schemeClr val="accent4">
                        <a:lumMod val="40000"/>
                        <a:lumOff val="60000"/>
                      </a:schemeClr>
                    </a:solidFill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07" name="Straight Arrow Connector 106">
                <a:extLst>
                  <a:ext uri="{FF2B5EF4-FFF2-40B4-BE49-F238E27FC236}">
                    <a16:creationId xmlns:a16="http://schemas.microsoft.com/office/drawing/2014/main" id="{445879DD-CF77-34F9-61C1-6BC55A2C044C}"/>
                  </a:ext>
                </a:extLst>
              </p:cNvPr>
              <p:cNvCxnSpPr>
                <a:cxnSpLocks/>
                <a:endCxn id="106" idx="0"/>
              </p:cNvCxnSpPr>
              <p:nvPr/>
            </p:nvCxnSpPr>
            <p:spPr>
              <a:xfrm>
                <a:off x="10507168" y="5210018"/>
                <a:ext cx="712609" cy="244282"/>
              </a:xfrm>
              <a:prstGeom prst="straightConnector1">
                <a:avLst/>
              </a:prstGeom>
              <a:ln>
                <a:solidFill>
                  <a:schemeClr val="accent4">
                    <a:lumMod val="40000"/>
                    <a:lumOff val="60000"/>
                  </a:schemeClr>
                </a:solidFill>
                <a:headEnd w="lg" len="lg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ED462078-7A78-4842-0F2C-71B89FBC29E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00472" y="2404487"/>
                <a:ext cx="1987" cy="2811887"/>
              </a:xfrm>
              <a:prstGeom prst="straightConnector1">
                <a:avLst/>
              </a:prstGeom>
              <a:ln>
                <a:solidFill>
                  <a:schemeClr val="accent4">
                    <a:lumMod val="40000"/>
                    <a:lumOff val="6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78461AEE-FA9A-6B94-9ED5-EA8B7E8E7498}"/>
                  </a:ext>
                </a:extLst>
              </p:cNvPr>
              <p:cNvSpPr txBox="1"/>
              <p:nvPr/>
            </p:nvSpPr>
            <p:spPr>
              <a:xfrm>
                <a:off x="10248267" y="6019919"/>
                <a:ext cx="93734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IN" sz="1800" b="1" dirty="0" err="1">
                    <a:latin typeface="Consolas" panose="020B0609020204030204" pitchFamily="49" charset="0"/>
                  </a:rPr>
                  <a:t>dz_dx</a:t>
                </a:r>
                <a:endParaRPr lang="en-IN" b="1" dirty="0"/>
              </a:p>
            </p:txBody>
          </p:sp>
          <p:cxnSp>
            <p:nvCxnSpPr>
              <p:cNvPr id="110" name="Straight Arrow Connector 109">
                <a:extLst>
                  <a:ext uri="{FF2B5EF4-FFF2-40B4-BE49-F238E27FC236}">
                    <a16:creationId xmlns:a16="http://schemas.microsoft.com/office/drawing/2014/main" id="{BA21A2E8-7AF9-2437-D321-DAD3B4FD494B}"/>
                  </a:ext>
                </a:extLst>
              </p:cNvPr>
              <p:cNvCxnSpPr>
                <a:cxnSpLocks/>
                <a:endCxn id="106" idx="0"/>
              </p:cNvCxnSpPr>
              <p:nvPr/>
            </p:nvCxnSpPr>
            <p:spPr>
              <a:xfrm flipH="1">
                <a:off x="11219777" y="5198784"/>
                <a:ext cx="683590" cy="255516"/>
              </a:xfrm>
              <a:prstGeom prst="straightConnector1">
                <a:avLst/>
              </a:prstGeom>
              <a:ln>
                <a:solidFill>
                  <a:schemeClr val="accent4">
                    <a:lumMod val="40000"/>
                    <a:lumOff val="60000"/>
                  </a:schemeClr>
                </a:solidFill>
                <a:headEnd w="lg" len="lg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Arrow Connector 110">
                <a:extLst>
                  <a:ext uri="{FF2B5EF4-FFF2-40B4-BE49-F238E27FC236}">
                    <a16:creationId xmlns:a16="http://schemas.microsoft.com/office/drawing/2014/main" id="{7DF1F00F-038B-7D46-3F21-559903E703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07168" y="2421290"/>
                <a:ext cx="552292" cy="0"/>
              </a:xfrm>
              <a:prstGeom prst="straightConnector1">
                <a:avLst/>
              </a:prstGeom>
              <a:ln>
                <a:solidFill>
                  <a:schemeClr val="accent4">
                    <a:lumMod val="40000"/>
                    <a:lumOff val="6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11CEBDEC-8974-3432-823C-9813C89DBB4E}"/>
              </a:ext>
            </a:extLst>
          </p:cNvPr>
          <p:cNvCxnSpPr>
            <a:cxnSpLocks/>
          </p:cNvCxnSpPr>
          <p:nvPr/>
        </p:nvCxnSpPr>
        <p:spPr>
          <a:xfrm>
            <a:off x="9664526" y="1936783"/>
            <a:ext cx="6967" cy="868934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23013341-68ED-E8BA-4B12-BDBBC90F5FDF}"/>
              </a:ext>
            </a:extLst>
          </p:cNvPr>
          <p:cNvCxnSpPr>
            <a:cxnSpLocks/>
            <a:endCxn id="26" idx="0"/>
          </p:cNvCxnSpPr>
          <p:nvPr/>
        </p:nvCxnSpPr>
        <p:spPr>
          <a:xfrm>
            <a:off x="9678297" y="3360151"/>
            <a:ext cx="789892" cy="706575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218E2F8B-5728-AA0A-AAEB-6F3CB4EE509C}"/>
              </a:ext>
            </a:extLst>
          </p:cNvPr>
          <p:cNvCxnSpPr>
            <a:cxnSpLocks/>
          </p:cNvCxnSpPr>
          <p:nvPr/>
        </p:nvCxnSpPr>
        <p:spPr>
          <a:xfrm>
            <a:off x="10468189" y="4617652"/>
            <a:ext cx="0" cy="544016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AEF6190-6CA7-39F3-DB9E-55EBF8BC8191}"/>
              </a:ext>
            </a:extLst>
          </p:cNvPr>
          <p:cNvSpPr txBox="1"/>
          <p:nvPr/>
        </p:nvSpPr>
        <p:spPr>
          <a:xfrm>
            <a:off x="8667657" y="2042950"/>
            <a:ext cx="14142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i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(3,1)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E6E1971-2A0D-960E-1439-AC10BE0F55A5}"/>
              </a:ext>
            </a:extLst>
          </p:cNvPr>
          <p:cNvSpPr txBox="1"/>
          <p:nvPr/>
        </p:nvSpPr>
        <p:spPr>
          <a:xfrm>
            <a:off x="10456365" y="4790186"/>
            <a:ext cx="14142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i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(3,1)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6513C4C-C80F-BF86-533B-ABA7B327D6B1}"/>
              </a:ext>
            </a:extLst>
          </p:cNvPr>
          <p:cNvSpPr txBox="1"/>
          <p:nvPr/>
        </p:nvSpPr>
        <p:spPr>
          <a:xfrm>
            <a:off x="8817800" y="6342606"/>
            <a:ext cx="14142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i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(3,1)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65F9F4A-3E10-1F1D-C0CB-B1571354EDFF}"/>
              </a:ext>
            </a:extLst>
          </p:cNvPr>
          <p:cNvSpPr txBox="1"/>
          <p:nvPr/>
        </p:nvSpPr>
        <p:spPr>
          <a:xfrm>
            <a:off x="10524318" y="4503155"/>
            <a:ext cx="5364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Consolas" panose="020B0609020204030204" pitchFamily="49" charset="0"/>
              </a:rPr>
              <a:t>z</a:t>
            </a:r>
            <a:endParaRPr lang="en-IN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C52B30-8656-3405-A889-80985A807774}"/>
              </a:ext>
            </a:extLst>
          </p:cNvPr>
          <p:cNvSpPr txBox="1"/>
          <p:nvPr/>
        </p:nvSpPr>
        <p:spPr>
          <a:xfrm>
            <a:off x="4210135" y="1115989"/>
            <a:ext cx="37717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Understanding output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0E5E9FD-B462-F184-8AA2-A3BA575CF41D}"/>
              </a:ext>
            </a:extLst>
          </p:cNvPr>
          <p:cNvSpPr txBox="1"/>
          <p:nvPr/>
        </p:nvSpPr>
        <p:spPr>
          <a:xfrm>
            <a:off x="9574369" y="3469907"/>
            <a:ext cx="5364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Consolas" panose="020B0609020204030204" pitchFamily="49" charset="0"/>
              </a:rPr>
              <a:t>a</a:t>
            </a:r>
            <a:endParaRPr lang="en-IN" b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7B49EC5-BD21-A720-B871-49DEEB557F6D}"/>
              </a:ext>
            </a:extLst>
          </p:cNvPr>
          <p:cNvSpPr txBox="1"/>
          <p:nvPr/>
        </p:nvSpPr>
        <p:spPr>
          <a:xfrm>
            <a:off x="11011504" y="3554508"/>
            <a:ext cx="5364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Consolas" panose="020B0609020204030204" pitchFamily="49" charset="0"/>
              </a:rPr>
              <a:t>b</a:t>
            </a:r>
            <a:endParaRPr lang="en-IN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93A821E-2053-BA7E-E855-94B6BE49BFA8}"/>
              </a:ext>
            </a:extLst>
          </p:cNvPr>
          <p:cNvSpPr txBox="1"/>
          <p:nvPr/>
        </p:nvSpPr>
        <p:spPr>
          <a:xfrm>
            <a:off x="9332166" y="3773586"/>
            <a:ext cx="14142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i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(3,1)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E528C7E-BBE0-199A-D30A-F97D18D2E0C1}"/>
              </a:ext>
            </a:extLst>
          </p:cNvPr>
          <p:cNvSpPr txBox="1"/>
          <p:nvPr/>
        </p:nvSpPr>
        <p:spPr>
          <a:xfrm>
            <a:off x="10850533" y="3777470"/>
            <a:ext cx="14142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i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(1,)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41095A2-4E9A-1D33-3335-CECC5D600668}"/>
                  </a:ext>
                </a:extLst>
              </p:cNvPr>
              <p:cNvSpPr txBox="1"/>
              <p:nvPr/>
            </p:nvSpPr>
            <p:spPr>
              <a:xfrm>
                <a:off x="2105476" y="2048441"/>
                <a:ext cx="1750143" cy="9041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IN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000" b="1" i="0" smtClean="0">
                                  <a:latin typeface="Cambria Math" panose="02040503050406030204" pitchFamily="18" charset="0"/>
                                </a:rPr>
                                <m:t>𝐳𝟏</m:t>
                              </m:r>
                            </m:e>
                            <m:e>
                              <m:r>
                                <a:rPr lang="en-US" sz="2000" b="1" i="0" smtClean="0">
                                  <a:latin typeface="Cambria Math" panose="02040503050406030204" pitchFamily="18" charset="0"/>
                                </a:rPr>
                                <m:t>𝐳𝟐</m:t>
                              </m:r>
                            </m:e>
                            <m:e>
                              <m:r>
                                <a:rPr lang="en-US" sz="2000" b="1" i="0" smtClean="0">
                                  <a:latin typeface="Cambria Math" panose="02040503050406030204" pitchFamily="18" charset="0"/>
                                </a:rPr>
                                <m:t>𝐳𝟑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IN" sz="2000" b="1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41095A2-4E9A-1D33-3335-CECC5D6006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5476" y="2048441"/>
                <a:ext cx="1750143" cy="90415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D28D6F9-60DC-0ECB-9A45-127F3AEA6279}"/>
                  </a:ext>
                </a:extLst>
              </p:cNvPr>
              <p:cNvSpPr txBox="1"/>
              <p:nvPr/>
            </p:nvSpPr>
            <p:spPr>
              <a:xfrm>
                <a:off x="3200620" y="2033514"/>
                <a:ext cx="1750143" cy="9041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IN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000" b="1" i="0" smtClean="0">
                                  <a:latin typeface="Cambria Math" panose="02040503050406030204" pitchFamily="18" charset="0"/>
                                </a:rPr>
                                <m:t>𝐚𝟏</m:t>
                              </m:r>
                            </m:e>
                            <m:e>
                              <m:r>
                                <a:rPr lang="en-US" sz="2000" b="1" i="0" smtClean="0">
                                  <a:latin typeface="Cambria Math" panose="02040503050406030204" pitchFamily="18" charset="0"/>
                                </a:rPr>
                                <m:t>𝐚𝟐</m:t>
                              </m:r>
                            </m:e>
                            <m:e>
                              <m:r>
                                <a:rPr lang="en-US" sz="2000" b="1" i="0" smtClean="0">
                                  <a:latin typeface="Cambria Math" panose="02040503050406030204" pitchFamily="18" charset="0"/>
                                </a:rPr>
                                <m:t>𝐚𝟑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IN" sz="2000" b="1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D28D6F9-60DC-0ECB-9A45-127F3AEA6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620" y="2033514"/>
                <a:ext cx="1750143" cy="90415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0AF57CD-93F0-02DD-C894-774DA17D5F53}"/>
                  </a:ext>
                </a:extLst>
              </p:cNvPr>
              <p:cNvSpPr txBox="1"/>
              <p:nvPr/>
            </p:nvSpPr>
            <p:spPr>
              <a:xfrm>
                <a:off x="-131983" y="3844099"/>
                <a:ext cx="7061521" cy="21908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b="1" i="1" smtClean="0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num>
                        <m:den>
                          <m:r>
                            <a:rPr lang="en-IN" sz="2000" b="1" i="1" smtClean="0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m:rPr>
                              <m:nor/>
                            </m:rPr>
                            <a:rPr lang="en-IN" sz="2000" b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</m:t>
                          </m:r>
                        </m:den>
                      </m:f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m:rPr>
                                      <m:nor/>
                                    </m:rPr>
                                    <a:rPr lang="en-IN" sz="2000" b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a</m:t>
                                  </m:r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den>
                              </m:f>
                              <m:r>
                                <a:rPr lang="en-US" sz="2000" b="1" i="0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f>
                                <m:fPr>
                                  <m:ctrlP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num>
                                <m:den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m:rPr>
                                      <m:nor/>
                                    </m:rPr>
                                    <a:rPr lang="en-IN" sz="2000" b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a</m:t>
                                  </m:r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den>
                              </m:f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f>
                                <m:fPr>
                                  <m:ctrlP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num>
                                <m:den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m:rPr>
                                      <m:nor/>
                                    </m:rPr>
                                    <a:rPr lang="en-IN" sz="2000" b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a</m:t>
                                  </m:r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den>
                              </m:f>
                            </m:e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m:rPr>
                                      <m:nor/>
                                    </m:rPr>
                                    <a:rPr lang="en-IN" sz="2000" b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a</m:t>
                                  </m:r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f>
                                <m:fPr>
                                  <m:ctrlP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num>
                                <m:den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m:rPr>
                                      <m:nor/>
                                    </m:rPr>
                                    <a:rPr lang="en-IN" sz="2000" b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a</m:t>
                                  </m:r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f>
                                <m:fPr>
                                  <m:ctrlP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num>
                                <m:den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m:rPr>
                                      <m:nor/>
                                    </m:rPr>
                                    <a:rPr lang="en-IN" sz="2000" b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a</m:t>
                                  </m:r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e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m:rPr>
                                      <m:nor/>
                                    </m:rPr>
                                    <a:rPr lang="en-IN" sz="2000" b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a</m:t>
                                  </m:r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den>
                              </m:f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f>
                                <m:fPr>
                                  <m:ctrlP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num>
                                <m:den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m:rPr>
                                      <m:nor/>
                                    </m:rPr>
                                    <a:rPr lang="en-IN" sz="2000" b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a</m:t>
                                  </m:r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den>
                              </m:f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f>
                                <m:fPr>
                                  <m:ctrlP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num>
                                <m:den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m:rPr>
                                      <m:nor/>
                                    </m:rPr>
                                    <a:rPr lang="en-IN" sz="2000" b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a</m:t>
                                  </m:r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den>
                              </m:f>
                            </m:e>
                          </m:eqArr>
                        </m:e>
                      </m:d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IN" sz="2000" b="1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0AF57CD-93F0-02DD-C894-774DA17D5F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1983" y="3844099"/>
                <a:ext cx="7061521" cy="219085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3A850729-1113-F413-1550-828F0FB583C2}"/>
              </a:ext>
            </a:extLst>
          </p:cNvPr>
          <p:cNvGrpSpPr/>
          <p:nvPr/>
        </p:nvGrpSpPr>
        <p:grpSpPr>
          <a:xfrm>
            <a:off x="298945" y="1377599"/>
            <a:ext cx="2957005" cy="1847104"/>
            <a:chOff x="298945" y="1377599"/>
            <a:chExt cx="2957005" cy="1847104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650D7F8A-7898-2177-4133-920370AEE093}"/>
                </a:ext>
              </a:extLst>
            </p:cNvPr>
            <p:cNvGrpSpPr/>
            <p:nvPr/>
          </p:nvGrpSpPr>
          <p:grpSpPr>
            <a:xfrm>
              <a:off x="298945" y="1377599"/>
              <a:ext cx="2548763" cy="1847104"/>
              <a:chOff x="5016738" y="2099062"/>
              <a:chExt cx="2548763" cy="1847104"/>
            </a:xfrm>
          </p:grpSpPr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780EE94F-6923-ABA0-8976-021A0B6E3841}"/>
                  </a:ext>
                </a:extLst>
              </p:cNvPr>
              <p:cNvGrpSpPr/>
              <p:nvPr/>
            </p:nvGrpSpPr>
            <p:grpSpPr>
              <a:xfrm>
                <a:off x="5342273" y="2099062"/>
                <a:ext cx="1060999" cy="1847104"/>
                <a:chOff x="9672869" y="3352784"/>
                <a:chExt cx="1060999" cy="1847104"/>
              </a:xfrm>
            </p:grpSpPr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72ADA75D-03D4-5695-8BDB-EB748DB5FF84}"/>
                    </a:ext>
                  </a:extLst>
                </p:cNvPr>
                <p:cNvSpPr/>
                <p:nvPr/>
              </p:nvSpPr>
              <p:spPr>
                <a:xfrm>
                  <a:off x="10202509" y="4066726"/>
                  <a:ext cx="531359" cy="514350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/>
                    <a:t>+</a:t>
                  </a:r>
                  <a:endParaRPr lang="en-IN" b="1" dirty="0"/>
                </a:p>
              </p:txBody>
            </p:sp>
            <p:cxnSp>
              <p:nvCxnSpPr>
                <p:cNvPr id="50" name="Straight Arrow Connector 49">
                  <a:extLst>
                    <a:ext uri="{FF2B5EF4-FFF2-40B4-BE49-F238E27FC236}">
                      <a16:creationId xmlns:a16="http://schemas.microsoft.com/office/drawing/2014/main" id="{CA9E6E2D-07BB-E74B-3185-B88DE51D5906}"/>
                    </a:ext>
                  </a:extLst>
                </p:cNvPr>
                <p:cNvCxnSpPr>
                  <a:cxnSpLocks/>
                  <a:endCxn id="49" idx="0"/>
                </p:cNvCxnSpPr>
                <p:nvPr/>
              </p:nvCxnSpPr>
              <p:spPr>
                <a:xfrm>
                  <a:off x="9672869" y="3352784"/>
                  <a:ext cx="795320" cy="713942"/>
                </a:xfrm>
                <a:prstGeom prst="straightConnector1">
                  <a:avLst/>
                </a:prstGeom>
                <a:ln>
                  <a:headEnd w="lg" len="lg"/>
                  <a:tailEnd type="triangl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Arrow Connector 51">
                  <a:extLst>
                    <a:ext uri="{FF2B5EF4-FFF2-40B4-BE49-F238E27FC236}">
                      <a16:creationId xmlns:a16="http://schemas.microsoft.com/office/drawing/2014/main" id="{2B02D2B8-1CA1-A2A0-77DE-F61840BCAADB}"/>
                    </a:ext>
                  </a:extLst>
                </p:cNvPr>
                <p:cNvCxnSpPr>
                  <a:cxnSpLocks/>
                  <a:stCxn id="49" idx="2"/>
                </p:cNvCxnSpPr>
                <p:nvPr/>
              </p:nvCxnSpPr>
              <p:spPr>
                <a:xfrm flipH="1">
                  <a:off x="10468188" y="4581076"/>
                  <a:ext cx="1" cy="618812"/>
                </a:xfrm>
                <a:prstGeom prst="straightConnector1">
                  <a:avLst/>
                </a:prstGeom>
                <a:ln>
                  <a:headEnd w="lg" len="lg"/>
                  <a:tailEnd type="triangl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256B931-8D56-96E9-A44E-14809932F093}"/>
                  </a:ext>
                </a:extLst>
              </p:cNvPr>
              <p:cNvSpPr txBox="1"/>
              <p:nvPr/>
            </p:nvSpPr>
            <p:spPr>
              <a:xfrm>
                <a:off x="5243773" y="2216185"/>
                <a:ext cx="53644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800" b="1" dirty="0">
                    <a:latin typeface="Consolas" panose="020B0609020204030204" pitchFamily="49" charset="0"/>
                  </a:rPr>
                  <a:t>a</a:t>
                </a:r>
                <a:endParaRPr lang="en-IN" b="1" dirty="0"/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7983BBE9-5431-CB1D-23C8-3F06387215B3}"/>
                  </a:ext>
                </a:extLst>
              </p:cNvPr>
              <p:cNvSpPr txBox="1"/>
              <p:nvPr/>
            </p:nvSpPr>
            <p:spPr>
              <a:xfrm>
                <a:off x="6151229" y="3576834"/>
                <a:ext cx="141427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800" i="1" dirty="0">
                    <a:solidFill>
                      <a:srgbClr val="0000FF"/>
                    </a:solidFill>
                    <a:highlight>
                      <a:srgbClr val="FFFF00"/>
                    </a:highlight>
                    <a:latin typeface="Consolas" panose="020B0609020204030204" pitchFamily="49" charset="0"/>
                  </a:rPr>
                  <a:t>(3,1)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15A31C44-F548-D063-4C8C-074B1AB24355}"/>
                  </a:ext>
                </a:extLst>
              </p:cNvPr>
              <p:cNvSpPr txBox="1"/>
              <p:nvPr/>
            </p:nvSpPr>
            <p:spPr>
              <a:xfrm>
                <a:off x="6219182" y="3289803"/>
                <a:ext cx="53644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800" b="1" dirty="0">
                    <a:latin typeface="Consolas" panose="020B0609020204030204" pitchFamily="49" charset="0"/>
                  </a:rPr>
                  <a:t>z</a:t>
                </a:r>
                <a:endParaRPr lang="en-IN" b="1" dirty="0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D5764A1-9D12-6625-0D5A-A3F029E53118}"/>
                  </a:ext>
                </a:extLst>
              </p:cNvPr>
              <p:cNvSpPr txBox="1"/>
              <p:nvPr/>
            </p:nvSpPr>
            <p:spPr>
              <a:xfrm>
                <a:off x="5016738" y="2500278"/>
                <a:ext cx="141427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800" i="1" dirty="0">
                    <a:solidFill>
                      <a:srgbClr val="0000FF"/>
                    </a:solidFill>
                    <a:highlight>
                      <a:srgbClr val="FFFF00"/>
                    </a:highlight>
                    <a:latin typeface="Consolas" panose="020B0609020204030204" pitchFamily="49" charset="0"/>
                  </a:rPr>
                  <a:t>(3,1)</a:t>
                </a:r>
              </a:p>
            </p:txBody>
          </p:sp>
        </p:grp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340B52A4-F1A9-B2C6-DD62-244FE839EBD7}"/>
                </a:ext>
              </a:extLst>
            </p:cNvPr>
            <p:cNvSpPr txBox="1"/>
            <p:nvPr/>
          </p:nvSpPr>
          <p:spPr>
            <a:xfrm>
              <a:off x="2002649" y="1554033"/>
              <a:ext cx="53644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800" b="1" dirty="0">
                  <a:solidFill>
                    <a:schemeClr val="bg1">
                      <a:lumMod val="75000"/>
                    </a:schemeClr>
                  </a:solidFill>
                  <a:latin typeface="Consolas" panose="020B0609020204030204" pitchFamily="49" charset="0"/>
                </a:rPr>
                <a:t>b</a:t>
              </a:r>
              <a:endParaRPr lang="en-IN" b="1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D16FA747-2187-924F-3A94-E5E99DEEF036}"/>
                </a:ext>
              </a:extLst>
            </p:cNvPr>
            <p:cNvSpPr txBox="1"/>
            <p:nvPr/>
          </p:nvSpPr>
          <p:spPr>
            <a:xfrm>
              <a:off x="1841678" y="1776995"/>
              <a:ext cx="141427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800" i="1" dirty="0">
                  <a:solidFill>
                    <a:schemeClr val="bg1">
                      <a:lumMod val="75000"/>
                    </a:schemeClr>
                  </a:solidFill>
                  <a:latin typeface="Consolas" panose="020B0609020204030204" pitchFamily="49" charset="0"/>
                </a:rPr>
                <a:t>(1,)</a:t>
              </a:r>
            </a:p>
          </p:txBody>
        </p: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893D3F58-B89C-0103-6BF3-781C96FADE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25010" y="1406505"/>
              <a:ext cx="796709" cy="679296"/>
            </a:xfrm>
            <a:prstGeom prst="straightConnector1">
              <a:avLst/>
            </a:prstGeom>
            <a:ln>
              <a:solidFill>
                <a:schemeClr val="accent4">
                  <a:lumMod val="40000"/>
                  <a:lumOff val="60000"/>
                </a:schemeClr>
              </a:solidFill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F940D036-CD2D-3976-84F4-3BE81C48D4C1}"/>
              </a:ext>
            </a:extLst>
          </p:cNvPr>
          <p:cNvSpPr txBox="1"/>
          <p:nvPr/>
        </p:nvSpPr>
        <p:spPr>
          <a:xfrm>
            <a:off x="3921046" y="1568740"/>
            <a:ext cx="5056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endParaRPr lang="en-IN" sz="2000" b="1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E80EF6B-7C90-7EF7-6FBD-CF17F4A8FB3E}"/>
              </a:ext>
            </a:extLst>
          </p:cNvPr>
          <p:cNvSpPr txBox="1"/>
          <p:nvPr/>
        </p:nvSpPr>
        <p:spPr>
          <a:xfrm>
            <a:off x="2812102" y="1585793"/>
            <a:ext cx="5383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z</a:t>
            </a:r>
            <a:endParaRPr lang="en-IN" sz="2000" b="1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D52298F-9A59-283E-5689-1C5DB0E0189C}"/>
              </a:ext>
            </a:extLst>
          </p:cNvPr>
          <p:cNvSpPr txBox="1"/>
          <p:nvPr/>
        </p:nvSpPr>
        <p:spPr>
          <a:xfrm>
            <a:off x="4487927" y="2314376"/>
            <a:ext cx="5056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endParaRPr lang="en-IN" sz="2000" b="1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0E952A3-ADC4-D66E-B5A3-C5441896E0BB}"/>
              </a:ext>
            </a:extLst>
          </p:cNvPr>
          <p:cNvSpPr txBox="1"/>
          <p:nvPr/>
        </p:nvSpPr>
        <p:spPr>
          <a:xfrm>
            <a:off x="3361006" y="2300465"/>
            <a:ext cx="5056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en-IN" sz="2000" b="1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1B5A907-156B-A743-5A13-AACB447D0098}"/>
              </a:ext>
            </a:extLst>
          </p:cNvPr>
          <p:cNvSpPr txBox="1"/>
          <p:nvPr/>
        </p:nvSpPr>
        <p:spPr>
          <a:xfrm>
            <a:off x="4999645" y="1603975"/>
            <a:ext cx="30570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b (broadcasting)</a:t>
            </a:r>
            <a:endParaRPr lang="en-IN" sz="2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C82338B7-43E9-57BD-85B8-79FBE103D240}"/>
                  </a:ext>
                </a:extLst>
              </p:cNvPr>
              <p:cNvSpPr txBox="1"/>
              <p:nvPr/>
            </p:nvSpPr>
            <p:spPr>
              <a:xfrm>
                <a:off x="4323869" y="2017041"/>
                <a:ext cx="1750143" cy="9327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IN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000" b="1" i="0" smtClean="0"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e>
                            <m:e>
                              <m:r>
                                <a:rPr lang="en-US" sz="2000" b="1" i="0" smtClean="0"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e>
                            <m:e>
                              <m:r>
                                <a:rPr lang="en-US" sz="2000" b="1" i="0" smtClean="0"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IN" sz="2000" b="1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C82338B7-43E9-57BD-85B8-79FBE103D2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3869" y="2017041"/>
                <a:ext cx="1750143" cy="93275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987FACD8-D7BE-57A3-6611-478C4BE2C67C}"/>
              </a:ext>
            </a:extLst>
          </p:cNvPr>
          <p:cNvSpPr txBox="1"/>
          <p:nvPr/>
        </p:nvSpPr>
        <p:spPr>
          <a:xfrm>
            <a:off x="1806716" y="6048171"/>
            <a:ext cx="24751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The Jacobian matrix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069344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74076 0.28564 L 0.74076 0.28657 C 0.73295 0.2787 0.72487 0.27083 0.71719 0.26481 C 0.68164 0.24051 0.59961 0.20972 0.56576 0.19375 C 0.5319 0.17754 0.53438 0.17777 0.51407 0.16852 C 0.49414 0.15902 0.46537 0.14629 0.44519 0.13657 C 0.42487 0.12685 0.41042 0.11828 0.39258 0.11018 C 0.37279 0.10115 0.35235 0.09375 0.33282 0.08495 C 0.27917 0.06088 0.29636 0.06481 0.25274 0.04907 C 0.24323 0.04606 0.23386 0.04282 0.22435 0.04051 C 0.18724 0.02893 0.18086 0.0287 0.16368 0.0243 C 0.14649 0.01875 0.13243 0.01296 0.12214 0.01018 C 0.11185 0.0074 0.10183 0.00578 0.10183 0.00602 C 0.09479 0.00023 0.08034 -0.00209 0.07383 -0.00463 C 0.06732 -0.00672 0.06524 -0.00695 0.06146 -0.00695 C 0.04323 -0.00695 0.02539 -0.00556 0.00716 -0.00463 C 0.00078 -0.0007 0.00287 -0.00371 -3.125E-6 3.33333E-6 " pathEditMode="relative" rAng="0" ptsTypes="AAAAAAAAAAAAAAAAA">
                                      <p:cBhvr>
                                        <p:cTn id="18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7044" y="-145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40" grpId="0"/>
      <p:bldP spid="41" grpId="0"/>
      <p:bldP spid="43" grpId="0"/>
      <p:bldP spid="44" grpId="0"/>
      <p:bldP spid="46" grpId="0"/>
      <p:bldP spid="60" grpId="0"/>
      <p:bldP spid="74" grpId="0"/>
      <p:bldP spid="76" grpId="0"/>
      <p:bldP spid="77" grpId="0"/>
      <p:bldP spid="78" grpId="0"/>
      <p:bldP spid="79" grpId="0"/>
      <p:bldP spid="81" grpId="0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0F1DC-CCB3-0553-9C39-7E580FE61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roup 83">
            <a:extLst>
              <a:ext uri="{FF2B5EF4-FFF2-40B4-BE49-F238E27FC236}">
                <a16:creationId xmlns:a16="http://schemas.microsoft.com/office/drawing/2014/main" id="{804DACB2-19CE-85F4-C636-2304A1C7C62E}"/>
              </a:ext>
            </a:extLst>
          </p:cNvPr>
          <p:cNvGrpSpPr/>
          <p:nvPr/>
        </p:nvGrpSpPr>
        <p:grpSpPr>
          <a:xfrm>
            <a:off x="91863" y="3356390"/>
            <a:ext cx="8463469" cy="3004733"/>
            <a:chOff x="1918012" y="3868941"/>
            <a:chExt cx="7061521" cy="300473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3E73B195-933C-DDCD-1894-5391E2614B09}"/>
                    </a:ext>
                  </a:extLst>
                </p:cNvPr>
                <p:cNvSpPr txBox="1"/>
                <p:nvPr/>
              </p:nvSpPr>
              <p:spPr>
                <a:xfrm>
                  <a:off x="1918012" y="3868941"/>
                  <a:ext cx="7061521" cy="300473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IN" sz="2000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1" i="1" smtClean="0">
                                <a:latin typeface="Cambria Math" panose="02040503050406030204" pitchFamily="18" charset="0"/>
                              </a:rPr>
                              <m:t>𝝏</m:t>
                            </m:r>
                            <m:r>
                              <m:rPr>
                                <m:nor/>
                              </m:rPr>
                              <a:rPr lang="en-IN" sz="2000" b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a</m:t>
                            </m:r>
                            <m:r>
                              <m:rPr>
                                <m:nor/>
                              </m:rPr>
                              <a:rPr lang="en-IN" sz="2000" b="1" dirty="0"/>
                              <m:t> </m:t>
                            </m:r>
                          </m:num>
                          <m:den>
                            <m:r>
                              <a:rPr lang="en-IN" sz="2000" b="1" i="1" smtClean="0">
                                <a:latin typeface="Cambria Math" panose="02040503050406030204" pitchFamily="18" charset="0"/>
                              </a:rPr>
                              <m:t>𝝏</m:t>
                            </m:r>
                            <m:r>
                              <a:rPr lang="en-US" sz="2000" b="1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den>
                        </m:f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2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f>
                                  <m:fPr>
                                    <m:ctrlP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2000" b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a</m:t>
                                    </m:r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sz="2000" b="1"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den>
                                </m:f>
                                <m:r>
                                  <a:rPr lang="en-US" sz="2000" b="1" i="0" smtClean="0">
                                    <a:latin typeface="Cambria Math" panose="02040503050406030204" pitchFamily="18" charset="0"/>
                                  </a:rPr>
                                  <m:t>     </m:t>
                                </m:r>
                                <m:f>
                                  <m:fPr>
                                    <m:ctrlP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2000" b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a</m:t>
                                    </m:r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sz="2000" b="1"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den>
                                </m:f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     </m:t>
                                </m:r>
                                <m:f>
                                  <m:fPr>
                                    <m:ctrlP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2000" b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a</m:t>
                                    </m:r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sz="2000" b="1"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2000" b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a</m:t>
                                    </m:r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sz="2000" b="1"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     </m:t>
                                </m:r>
                                <m:f>
                                  <m:fPr>
                                    <m:ctrlP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2000" b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a</m:t>
                                    </m:r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sz="2000" b="1"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     </m:t>
                                </m:r>
                                <m:f>
                                  <m:fPr>
                                    <m:ctrlP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2000" b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a</m:t>
                                    </m:r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sz="2000" b="1"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2000" b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a</m:t>
                                    </m:r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sz="2000" b="1"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den>
                                </m:f>
                                <m:r>
                                  <a:rPr lang="en-US" sz="2000" b="1" i="0" smtClean="0">
                                    <a:latin typeface="Cambria Math" panose="02040503050406030204" pitchFamily="18" charset="0"/>
                                  </a:rPr>
                                  <m:t>     </m:t>
                                </m:r>
                                <m:f>
                                  <m:fPr>
                                    <m:ctrlP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2000" b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a</m:t>
                                    </m:r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sz="2000" b="1"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den>
                                </m:f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     </m:t>
                                </m:r>
                                <m:f>
                                  <m:fPr>
                                    <m:ctrlP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2000" b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a</m:t>
                                    </m:r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sz="2000" b="1"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den>
                                </m:f>
                              </m:e>
                            </m:eqArr>
                          </m:e>
                        </m:d>
                        <m:r>
                          <a:rPr lang="en-US" sz="2000" b="1" i="0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20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  <m:sSup>
                                    <m:sSupPr>
                                      <m:ctrlPr>
                                        <a:rPr lang="en-US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∙</m:t>
                                      </m:r>
                                      <m:r>
                                        <a:rPr lang="en-US" sz="2000" b="1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  <m:r>
                                        <a:rPr lang="en-US" sz="2000" b="1" i="1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  <m:sup>
                                      <m:r>
                                        <a:rPr lang="en-US" sz="2000" b="1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e>
                                <m:e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  <m:e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  <m:e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sSup>
                                    <m:sSupPr>
                                      <m:ctrlPr>
                                        <a:rPr lang="en-US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1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  <m:r>
                                        <a:rPr lang="en-US" sz="2000" b="1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  <m:sup>
                                      <m:r>
                                        <a:rPr lang="en-US" sz="2000" b="1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e>
                                <m:e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  <m:e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  <m:e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  <m:sSup>
                                    <m:sSupPr>
                                      <m:ctrlPr>
                                        <a:rPr lang="en-US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∙</m:t>
                                      </m:r>
                                      <m:r>
                                        <a:rPr lang="en-US" sz="2000" b="1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  <m:r>
                                        <a:rPr lang="en-US" sz="2000" b="1" i="1"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e>
                                    <m:sup>
                                      <m:r>
                                        <a:rPr lang="en-US" sz="2000" b="1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e>
                              </m:mr>
                            </m:m>
                          </m:e>
                        </m:d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20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000" b="1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</m:e>
                                <m:e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  <m:e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  <m:e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𝟏𝟐</m:t>
                                  </m:r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</m:e>
                                <m:e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  <m:e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  <m:e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𝟐𝟕</m:t>
                                  </m:r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IN" sz="2000" b="1" dirty="0"/>
                </a:p>
              </p:txBody>
            </p:sp>
          </mc:Choice>
          <mc:Fallback xmlns="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3E73B195-933C-DDCD-1894-5391E2614B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8012" y="3868941"/>
                  <a:ext cx="7061521" cy="3004733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5DD0444B-4BD0-5920-5B94-954936340684}"/>
                </a:ext>
              </a:extLst>
            </p:cNvPr>
            <p:cNvSpPr txBox="1"/>
            <p:nvPr/>
          </p:nvSpPr>
          <p:spPr>
            <a:xfrm>
              <a:off x="2589594" y="6096064"/>
              <a:ext cx="247518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000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The Jacobian matrix</a:t>
              </a:r>
              <a:endParaRPr lang="en-IN" sz="2000" b="1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4F758F7-234F-CD47-D8F1-D07484E91F61}"/>
              </a:ext>
            </a:extLst>
          </p:cNvPr>
          <p:cNvSpPr txBox="1"/>
          <p:nvPr/>
        </p:nvSpPr>
        <p:spPr>
          <a:xfrm>
            <a:off x="0" y="98322"/>
            <a:ext cx="12192000" cy="52322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Session 1: </a:t>
            </a:r>
            <a:r>
              <a:rPr lang="en-US" sz="2800" b="1" dirty="0" err="1">
                <a:solidFill>
                  <a:schemeClr val="bg1"/>
                </a:solidFill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Tensorflow</a:t>
            </a:r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 Basics</a:t>
            </a:r>
            <a:endParaRPr lang="en-IN" sz="2800" b="1" dirty="0">
              <a:solidFill>
                <a:schemeClr val="bg1"/>
              </a:solidFill>
              <a:latin typeface="Century Schoolbook" panose="02040604050505020304" pitchFamily="18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693ED8E-BC67-92CB-BB28-04A1B92891E6}"/>
              </a:ext>
            </a:extLst>
          </p:cNvPr>
          <p:cNvSpPr/>
          <p:nvPr/>
        </p:nvSpPr>
        <p:spPr>
          <a:xfrm>
            <a:off x="9525763" y="1659216"/>
            <a:ext cx="298186" cy="28373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BCA456-B614-D996-0DDD-896CC7E1B8F5}"/>
              </a:ext>
            </a:extLst>
          </p:cNvPr>
          <p:cNvSpPr txBox="1"/>
          <p:nvPr/>
        </p:nvSpPr>
        <p:spPr>
          <a:xfrm>
            <a:off x="9525763" y="1295140"/>
            <a:ext cx="5364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Consolas" panose="020B0609020204030204" pitchFamily="49" charset="0"/>
              </a:rPr>
              <a:t>x</a:t>
            </a:r>
            <a:endParaRPr lang="en-IN" b="1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F9676E1-5C69-9DBB-4596-AB3A81D0B034}"/>
              </a:ext>
            </a:extLst>
          </p:cNvPr>
          <p:cNvSpPr/>
          <p:nvPr/>
        </p:nvSpPr>
        <p:spPr>
          <a:xfrm>
            <a:off x="11209560" y="1659216"/>
            <a:ext cx="298186" cy="28373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F8C9F4-9368-F43E-B7C2-1805F53C239A}"/>
              </a:ext>
            </a:extLst>
          </p:cNvPr>
          <p:cNvSpPr txBox="1"/>
          <p:nvPr/>
        </p:nvSpPr>
        <p:spPr>
          <a:xfrm>
            <a:off x="11221742" y="1273264"/>
            <a:ext cx="5364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y</a:t>
            </a:r>
            <a:endParaRPr lang="en-IN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4088661-44CC-810E-4B99-E5830AC2746E}"/>
                  </a:ext>
                </a:extLst>
              </p:cNvPr>
              <p:cNvSpPr txBox="1"/>
              <p:nvPr/>
            </p:nvSpPr>
            <p:spPr>
              <a:xfrm>
                <a:off x="8599418" y="1287864"/>
                <a:ext cx="920193" cy="823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IN" i="1" smtClean="0">
                              <a:solidFill>
                                <a:srgbClr val="0000FF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smtClean="0">
                                  <a:solidFill>
                                    <a:srgbClr val="0000FF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i="1" smtClean="0">
                                  <a:solidFill>
                                    <a:srgbClr val="0000FF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b="0" i="1" smtClean="0">
                                  <a:solidFill>
                                    <a:srgbClr val="0000FF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rgbClr val="0000FF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2.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rgbClr val="0000FF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3.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IN" dirty="0">
                  <a:solidFill>
                    <a:srgbClr val="0000FF"/>
                  </a:solidFill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4088661-44CC-810E-4B99-E5830AC274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9418" y="1287864"/>
                <a:ext cx="920193" cy="823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8BF7626-D946-A976-36D9-DDB01C34F315}"/>
                  </a:ext>
                </a:extLst>
              </p:cNvPr>
              <p:cNvSpPr txBox="1"/>
              <p:nvPr/>
            </p:nvSpPr>
            <p:spPr>
              <a:xfrm>
                <a:off x="10468189" y="1568164"/>
                <a:ext cx="9201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8BF7626-D946-A976-36D9-DDB01C34F3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8189" y="1568164"/>
                <a:ext cx="92019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08FAD27C-5A9C-2337-6B83-75016464A4B6}"/>
              </a:ext>
            </a:extLst>
          </p:cNvPr>
          <p:cNvSpPr txBox="1"/>
          <p:nvPr/>
        </p:nvSpPr>
        <p:spPr>
          <a:xfrm>
            <a:off x="2672105" y="707692"/>
            <a:ext cx="70870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Automatic Gradient/Algorithmic Gradient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F8AF8BB9-ED47-4B51-6F4D-396D94AC9067}"/>
              </a:ext>
            </a:extLst>
          </p:cNvPr>
          <p:cNvGrpSpPr/>
          <p:nvPr/>
        </p:nvGrpSpPr>
        <p:grpSpPr>
          <a:xfrm>
            <a:off x="9407189" y="1914218"/>
            <a:ext cx="2217143" cy="1438566"/>
            <a:chOff x="9407189" y="1914218"/>
            <a:chExt cx="2217143" cy="1438566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2587A36-3C85-2FFD-EC5F-491B445D7943}"/>
                </a:ext>
              </a:extLst>
            </p:cNvPr>
            <p:cNvSpPr/>
            <p:nvPr/>
          </p:nvSpPr>
          <p:spPr>
            <a:xfrm>
              <a:off x="9407189" y="2838434"/>
              <a:ext cx="531359" cy="5143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**</a:t>
              </a:r>
              <a:endParaRPr lang="en-IN" b="1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91D3427-CDF2-3119-8298-1F12C368680A}"/>
                </a:ext>
              </a:extLst>
            </p:cNvPr>
            <p:cNvSpPr/>
            <p:nvPr/>
          </p:nvSpPr>
          <p:spPr>
            <a:xfrm>
              <a:off x="11092973" y="2838434"/>
              <a:ext cx="531359" cy="5143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**</a:t>
              </a:r>
              <a:endParaRPr lang="en-IN" b="1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ED035729-93D8-2BB5-2145-B3D7CDBCB3C3}"/>
                </a:ext>
              </a:extLst>
            </p:cNvPr>
            <p:cNvSpPr/>
            <p:nvPr/>
          </p:nvSpPr>
          <p:spPr>
            <a:xfrm>
              <a:off x="10196335" y="2953744"/>
              <a:ext cx="298186" cy="283730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3</a:t>
              </a:r>
              <a:endParaRPr lang="en-IN" b="1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6B362C4-1293-8A76-65D1-D9485F4758E9}"/>
                </a:ext>
              </a:extLst>
            </p:cNvPr>
            <p:cNvSpPr/>
            <p:nvPr/>
          </p:nvSpPr>
          <p:spPr>
            <a:xfrm>
              <a:off x="10552347" y="2953744"/>
              <a:ext cx="298186" cy="283730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2</a:t>
              </a:r>
              <a:endParaRPr lang="en-IN" b="1" dirty="0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5D15D165-EB99-21F1-A73B-84A1A2EF164C}"/>
                </a:ext>
              </a:extLst>
            </p:cNvPr>
            <p:cNvCxnSpPr>
              <a:stCxn id="7" idx="4"/>
              <a:endCxn id="24" idx="0"/>
            </p:cNvCxnSpPr>
            <p:nvPr/>
          </p:nvCxnSpPr>
          <p:spPr>
            <a:xfrm flipH="1">
              <a:off x="9672869" y="1942946"/>
              <a:ext cx="1987" cy="895488"/>
            </a:xfrm>
            <a:prstGeom prst="straightConnector1">
              <a:avLst/>
            </a:prstGeom>
            <a:ln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C7AD320D-9DD3-DC2E-B1DC-7A7B7184F0B8}"/>
                </a:ext>
              </a:extLst>
            </p:cNvPr>
            <p:cNvCxnSpPr>
              <a:cxnSpLocks/>
              <a:endCxn id="25" idx="0"/>
            </p:cNvCxnSpPr>
            <p:nvPr/>
          </p:nvCxnSpPr>
          <p:spPr>
            <a:xfrm>
              <a:off x="11358652" y="1914218"/>
              <a:ext cx="1" cy="924216"/>
            </a:xfrm>
            <a:prstGeom prst="straightConnector1">
              <a:avLst/>
            </a:prstGeom>
            <a:ln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18701986-FAF4-ED8B-8B70-CBB34CE952B9}"/>
                </a:ext>
              </a:extLst>
            </p:cNvPr>
            <p:cNvCxnSpPr>
              <a:cxnSpLocks/>
              <a:stCxn id="28" idx="2"/>
              <a:endCxn id="24" idx="3"/>
            </p:cNvCxnSpPr>
            <p:nvPr/>
          </p:nvCxnSpPr>
          <p:spPr>
            <a:xfrm flipH="1">
              <a:off x="9938548" y="3095609"/>
              <a:ext cx="257787" cy="0"/>
            </a:xfrm>
            <a:prstGeom prst="straightConnector1">
              <a:avLst/>
            </a:prstGeom>
            <a:ln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C2A61B16-A3D6-7031-2810-58AFED328055}"/>
                </a:ext>
              </a:extLst>
            </p:cNvPr>
            <p:cNvCxnSpPr>
              <a:cxnSpLocks/>
              <a:stCxn id="29" idx="6"/>
              <a:endCxn id="25" idx="1"/>
            </p:cNvCxnSpPr>
            <p:nvPr/>
          </p:nvCxnSpPr>
          <p:spPr>
            <a:xfrm>
              <a:off x="10850533" y="3095609"/>
              <a:ext cx="242440" cy="0"/>
            </a:xfrm>
            <a:prstGeom prst="straightConnector1">
              <a:avLst/>
            </a:prstGeom>
            <a:ln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0B2B271C-8A94-9C37-19E2-27FD00B9C917}"/>
              </a:ext>
            </a:extLst>
          </p:cNvPr>
          <p:cNvGrpSpPr/>
          <p:nvPr/>
        </p:nvGrpSpPr>
        <p:grpSpPr>
          <a:xfrm>
            <a:off x="9672869" y="3352784"/>
            <a:ext cx="1685784" cy="1847104"/>
            <a:chOff x="9672869" y="3352784"/>
            <a:chExt cx="1685784" cy="1847104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573F57B-225A-6CE0-7135-420B15B5B0A2}"/>
                </a:ext>
              </a:extLst>
            </p:cNvPr>
            <p:cNvSpPr/>
            <p:nvPr/>
          </p:nvSpPr>
          <p:spPr>
            <a:xfrm>
              <a:off x="10202509" y="4066726"/>
              <a:ext cx="531359" cy="5143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+</a:t>
              </a:r>
              <a:endParaRPr lang="en-IN" b="1" dirty="0"/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7E95E2FB-0EF8-13E9-030E-5BD33218ED65}"/>
                </a:ext>
              </a:extLst>
            </p:cNvPr>
            <p:cNvCxnSpPr>
              <a:cxnSpLocks/>
              <a:stCxn id="24" idx="2"/>
              <a:endCxn id="26" idx="0"/>
            </p:cNvCxnSpPr>
            <p:nvPr/>
          </p:nvCxnSpPr>
          <p:spPr>
            <a:xfrm>
              <a:off x="9672869" y="3352784"/>
              <a:ext cx="795320" cy="713942"/>
            </a:xfrm>
            <a:prstGeom prst="straightConnector1">
              <a:avLst/>
            </a:prstGeom>
            <a:ln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2AE257DE-8D4F-5592-73B9-4827D8F1AED2}"/>
                </a:ext>
              </a:extLst>
            </p:cNvPr>
            <p:cNvCxnSpPr>
              <a:cxnSpLocks/>
              <a:stCxn id="25" idx="2"/>
              <a:endCxn id="26" idx="0"/>
            </p:cNvCxnSpPr>
            <p:nvPr/>
          </p:nvCxnSpPr>
          <p:spPr>
            <a:xfrm flipH="1">
              <a:off x="10468189" y="3352784"/>
              <a:ext cx="890464" cy="713942"/>
            </a:xfrm>
            <a:prstGeom prst="straightConnector1">
              <a:avLst/>
            </a:prstGeom>
            <a:ln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8CBD2838-8E5E-AB5E-E37B-A45D3BEA5F0C}"/>
                </a:ext>
              </a:extLst>
            </p:cNvPr>
            <p:cNvCxnSpPr>
              <a:cxnSpLocks/>
              <a:stCxn id="26" idx="2"/>
            </p:cNvCxnSpPr>
            <p:nvPr/>
          </p:nvCxnSpPr>
          <p:spPr>
            <a:xfrm flipH="1">
              <a:off x="10468188" y="4581076"/>
              <a:ext cx="1" cy="618812"/>
            </a:xfrm>
            <a:prstGeom prst="straightConnector1">
              <a:avLst/>
            </a:prstGeom>
            <a:ln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53B01528-A4D8-C2F5-7AF9-3526534ED0D6}"/>
              </a:ext>
            </a:extLst>
          </p:cNvPr>
          <p:cNvGrpSpPr/>
          <p:nvPr/>
        </p:nvGrpSpPr>
        <p:grpSpPr>
          <a:xfrm>
            <a:off x="10468188" y="2386897"/>
            <a:ext cx="1723809" cy="4325041"/>
            <a:chOff x="10468188" y="2386897"/>
            <a:chExt cx="1723809" cy="432504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391B8D7-91C1-7A1E-8C8D-524837D7C697}"/>
                </a:ext>
              </a:extLst>
            </p:cNvPr>
            <p:cNvSpPr txBox="1"/>
            <p:nvPr/>
          </p:nvSpPr>
          <p:spPr>
            <a:xfrm>
              <a:off x="11254648" y="6342606"/>
              <a:ext cx="82864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IN" sz="1800" i="1" dirty="0">
                  <a:latin typeface="Consolas" panose="020B0609020204030204" pitchFamily="49" charset="0"/>
                </a:rPr>
                <a:t>(1,)</a:t>
              </a:r>
            </a:p>
          </p:txBody>
        </p: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4080AE45-2762-7716-4A2D-33B89570F036}"/>
                </a:ext>
              </a:extLst>
            </p:cNvPr>
            <p:cNvGrpSpPr/>
            <p:nvPr/>
          </p:nvGrpSpPr>
          <p:grpSpPr>
            <a:xfrm>
              <a:off x="10468188" y="2386897"/>
              <a:ext cx="1723809" cy="4200565"/>
              <a:chOff x="10468188" y="2386897"/>
              <a:chExt cx="1723809" cy="4200565"/>
            </a:xfrm>
          </p:grpSpPr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315E79B3-2C58-AF8E-8232-963391DBE1D7}"/>
                  </a:ext>
                </a:extLst>
              </p:cNvPr>
              <p:cNvCxnSpPr>
                <a:cxnSpLocks/>
                <a:stCxn id="67" idx="2"/>
              </p:cNvCxnSpPr>
              <p:nvPr/>
            </p:nvCxnSpPr>
            <p:spPr>
              <a:xfrm flipH="1">
                <a:off x="11219776" y="5968650"/>
                <a:ext cx="1" cy="618812"/>
              </a:xfrm>
              <a:prstGeom prst="straightConnector1">
                <a:avLst/>
              </a:prstGeom>
              <a:ln>
                <a:solidFill>
                  <a:schemeClr val="accent4">
                    <a:lumMod val="40000"/>
                    <a:lumOff val="60000"/>
                  </a:schemeClr>
                </a:solidFill>
                <a:headEnd w="lg" len="lg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E86A758C-BADE-70D1-CCF1-10FFC87EB414}"/>
                  </a:ext>
                </a:extLst>
              </p:cNvPr>
              <p:cNvGrpSpPr/>
              <p:nvPr/>
            </p:nvGrpSpPr>
            <p:grpSpPr>
              <a:xfrm>
                <a:off x="10468188" y="2386897"/>
                <a:ext cx="1723809" cy="4017327"/>
                <a:chOff x="10468188" y="2386897"/>
                <a:chExt cx="1723809" cy="4017327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7" name="Rectangle 66">
                      <a:extLst>
                        <a:ext uri="{FF2B5EF4-FFF2-40B4-BE49-F238E27FC236}">
                          <a16:creationId xmlns:a16="http://schemas.microsoft.com/office/drawing/2014/main" id="{3764D511-A47F-DB4D-8498-8A3ECE50D55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54097" y="5454300"/>
                      <a:ext cx="531359" cy="514350"/>
                    </a:xfrm>
                    <a:prstGeom prst="rect">
                      <a:avLst/>
                    </a:prstGeom>
                    <a:solidFill>
                      <a:schemeClr val="accent4">
                        <a:lumMod val="40000"/>
                        <a:lumOff val="60000"/>
                      </a:schemeClr>
                    </a:solidFill>
                    <a:ln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I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𝛁</m:t>
                            </m:r>
                          </m:oMath>
                        </m:oMathPara>
                      </a14:m>
                      <a:endParaRPr lang="en-IN" b="1" dirty="0"/>
                    </a:p>
                  </p:txBody>
                </p:sp>
              </mc:Choice>
              <mc:Fallback xmlns="">
                <p:sp>
                  <p:nvSpPr>
                    <p:cNvPr id="67" name="Rectangle 66">
                      <a:extLst>
                        <a:ext uri="{FF2B5EF4-FFF2-40B4-BE49-F238E27FC236}">
                          <a16:creationId xmlns:a16="http://schemas.microsoft.com/office/drawing/2014/main" id="{3764D511-A47F-DB4D-8498-8A3ECE50D553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954097" y="5454300"/>
                      <a:ext cx="531359" cy="514350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  <a:ln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68" name="Straight Arrow Connector 67">
                  <a:extLst>
                    <a:ext uri="{FF2B5EF4-FFF2-40B4-BE49-F238E27FC236}">
                      <a16:creationId xmlns:a16="http://schemas.microsoft.com/office/drawing/2014/main" id="{A6ABDC9D-52C6-FF06-EC50-4673F1DD0D12}"/>
                    </a:ext>
                  </a:extLst>
                </p:cNvPr>
                <p:cNvCxnSpPr>
                  <a:cxnSpLocks/>
                  <a:endCxn id="67" idx="0"/>
                </p:cNvCxnSpPr>
                <p:nvPr/>
              </p:nvCxnSpPr>
              <p:spPr>
                <a:xfrm>
                  <a:off x="10468188" y="5198784"/>
                  <a:ext cx="751589" cy="255516"/>
                </a:xfrm>
                <a:prstGeom prst="straightConnector1">
                  <a:avLst/>
                </a:prstGeom>
                <a:ln>
                  <a:solidFill>
                    <a:schemeClr val="accent4">
                      <a:lumMod val="40000"/>
                      <a:lumOff val="60000"/>
                    </a:schemeClr>
                  </a:solidFill>
                  <a:headEnd w="lg" len="lg"/>
                  <a:tailEnd type="triangl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Straight Arrow Connector 68">
                  <a:extLst>
                    <a:ext uri="{FF2B5EF4-FFF2-40B4-BE49-F238E27FC236}">
                      <a16:creationId xmlns:a16="http://schemas.microsoft.com/office/drawing/2014/main" id="{7B2A402F-E9B6-7CDB-AD68-66866365F4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1884220" y="2386897"/>
                  <a:ext cx="1987" cy="2811887"/>
                </a:xfrm>
                <a:prstGeom prst="straightConnector1">
                  <a:avLst/>
                </a:prstGeom>
                <a:ln>
                  <a:solidFill>
                    <a:schemeClr val="accent4">
                      <a:lumMod val="40000"/>
                      <a:lumOff val="6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E318C1A8-A442-D9A9-1A0D-AA0FC9DDDB32}"/>
                    </a:ext>
                  </a:extLst>
                </p:cNvPr>
                <p:cNvSpPr txBox="1"/>
                <p:nvPr/>
              </p:nvSpPr>
              <p:spPr>
                <a:xfrm>
                  <a:off x="11254648" y="6034892"/>
                  <a:ext cx="937349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IN" sz="1800" b="1" dirty="0" err="1">
                      <a:latin typeface="Consolas" panose="020B0609020204030204" pitchFamily="49" charset="0"/>
                    </a:rPr>
                    <a:t>dz_dy</a:t>
                  </a:r>
                  <a:endParaRPr lang="en-IN" b="1" dirty="0"/>
                </a:p>
              </p:txBody>
            </p:sp>
            <p:cxnSp>
              <p:nvCxnSpPr>
                <p:cNvPr id="75" name="Straight Arrow Connector 74">
                  <a:extLst>
                    <a:ext uri="{FF2B5EF4-FFF2-40B4-BE49-F238E27FC236}">
                      <a16:creationId xmlns:a16="http://schemas.microsoft.com/office/drawing/2014/main" id="{40B73B91-E038-21BB-2A06-CF4A2F3B12A6}"/>
                    </a:ext>
                  </a:extLst>
                </p:cNvPr>
                <p:cNvCxnSpPr>
                  <a:cxnSpLocks/>
                  <a:endCxn id="67" idx="0"/>
                </p:cNvCxnSpPr>
                <p:nvPr/>
              </p:nvCxnSpPr>
              <p:spPr>
                <a:xfrm flipH="1">
                  <a:off x="11219777" y="5198784"/>
                  <a:ext cx="683590" cy="255516"/>
                </a:xfrm>
                <a:prstGeom prst="straightConnector1">
                  <a:avLst/>
                </a:prstGeom>
                <a:ln>
                  <a:solidFill>
                    <a:schemeClr val="accent4">
                      <a:lumMod val="40000"/>
                      <a:lumOff val="60000"/>
                    </a:schemeClr>
                  </a:solidFill>
                  <a:headEnd w="lg" len="lg"/>
                  <a:tailEnd type="triangl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Straight Arrow Connector 79">
                  <a:extLst>
                    <a:ext uri="{FF2B5EF4-FFF2-40B4-BE49-F238E27FC236}">
                      <a16:creationId xmlns:a16="http://schemas.microsoft.com/office/drawing/2014/main" id="{B83AFF60-A2F4-6059-4C43-4BC5C14BFF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358652" y="2386897"/>
                  <a:ext cx="544715" cy="0"/>
                </a:xfrm>
                <a:prstGeom prst="straightConnector1">
                  <a:avLst/>
                </a:prstGeom>
                <a:ln>
                  <a:solidFill>
                    <a:schemeClr val="accent4">
                      <a:lumMod val="40000"/>
                      <a:lumOff val="6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D2F95AFD-286C-A17A-9624-2E61C9487EF8}"/>
              </a:ext>
            </a:extLst>
          </p:cNvPr>
          <p:cNvCxnSpPr>
            <a:cxnSpLocks/>
          </p:cNvCxnSpPr>
          <p:nvPr/>
        </p:nvCxnSpPr>
        <p:spPr>
          <a:xfrm flipH="1">
            <a:off x="10451029" y="3360151"/>
            <a:ext cx="890464" cy="713942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48D6A225-CE31-AF0A-66C7-98E081E14D53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11351686" y="1969500"/>
            <a:ext cx="6967" cy="868934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23C01440-A3B3-E4BD-3FD6-1963A95A3587}"/>
              </a:ext>
            </a:extLst>
          </p:cNvPr>
          <p:cNvCxnSpPr>
            <a:cxnSpLocks/>
            <a:stCxn id="26" idx="2"/>
          </p:cNvCxnSpPr>
          <p:nvPr/>
        </p:nvCxnSpPr>
        <p:spPr>
          <a:xfrm>
            <a:off x="10468189" y="4581076"/>
            <a:ext cx="0" cy="617708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3DBD4006-EB66-DA0C-4353-18C532C2CDDA}"/>
              </a:ext>
            </a:extLst>
          </p:cNvPr>
          <p:cNvSpPr txBox="1"/>
          <p:nvPr/>
        </p:nvSpPr>
        <p:spPr>
          <a:xfrm>
            <a:off x="10572436" y="1907593"/>
            <a:ext cx="8286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i="1" dirty="0">
                <a:latin typeface="Consolas" panose="020B0609020204030204" pitchFamily="49" charset="0"/>
              </a:rPr>
              <a:t>(1,)</a:t>
            </a: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14E5C2E1-6D87-4DD3-FD4C-0198C8A94596}"/>
              </a:ext>
            </a:extLst>
          </p:cNvPr>
          <p:cNvGrpSpPr/>
          <p:nvPr/>
        </p:nvGrpSpPr>
        <p:grpSpPr>
          <a:xfrm>
            <a:off x="8839746" y="2419460"/>
            <a:ext cx="1655100" cy="4182975"/>
            <a:chOff x="10248267" y="2404487"/>
            <a:chExt cx="1655100" cy="4182975"/>
          </a:xfrm>
        </p:grpSpPr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154287E2-B164-50D5-D539-4B7735226429}"/>
                </a:ext>
              </a:extLst>
            </p:cNvPr>
            <p:cNvCxnSpPr>
              <a:cxnSpLocks/>
              <a:stCxn id="106" idx="2"/>
            </p:cNvCxnSpPr>
            <p:nvPr/>
          </p:nvCxnSpPr>
          <p:spPr>
            <a:xfrm flipH="1">
              <a:off x="11219776" y="5968650"/>
              <a:ext cx="1" cy="618812"/>
            </a:xfrm>
            <a:prstGeom prst="straightConnector1">
              <a:avLst/>
            </a:prstGeom>
            <a:ln>
              <a:solidFill>
                <a:schemeClr val="accent4">
                  <a:lumMod val="40000"/>
                  <a:lumOff val="60000"/>
                </a:schemeClr>
              </a:solidFill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2BA2028D-8C50-CB0C-C529-8BDD919E849E}"/>
                </a:ext>
              </a:extLst>
            </p:cNvPr>
            <p:cNvGrpSpPr/>
            <p:nvPr/>
          </p:nvGrpSpPr>
          <p:grpSpPr>
            <a:xfrm>
              <a:off x="10248267" y="2404487"/>
              <a:ext cx="1655100" cy="3984764"/>
              <a:chOff x="10248267" y="2404487"/>
              <a:chExt cx="1655100" cy="398476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6" name="Rectangle 105">
                    <a:extLst>
                      <a:ext uri="{FF2B5EF4-FFF2-40B4-BE49-F238E27FC236}">
                        <a16:creationId xmlns:a16="http://schemas.microsoft.com/office/drawing/2014/main" id="{3102B770-36F1-247C-DD1D-35EB4708F2E1}"/>
                      </a:ext>
                    </a:extLst>
                  </p:cNvPr>
                  <p:cNvSpPr/>
                  <p:nvPr/>
                </p:nvSpPr>
                <p:spPr>
                  <a:xfrm>
                    <a:off x="10954097" y="5454300"/>
                    <a:ext cx="531359" cy="514350"/>
                  </a:xfrm>
                  <a:prstGeom prst="rect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>
                    <a:solidFill>
                      <a:schemeClr val="accent4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𝛁</m:t>
                          </m:r>
                        </m:oMath>
                      </m:oMathPara>
                    </a14:m>
                    <a:endParaRPr lang="en-IN" b="1" dirty="0"/>
                  </a:p>
                </p:txBody>
              </p:sp>
            </mc:Choice>
            <mc:Fallback xmlns="">
              <p:sp>
                <p:nvSpPr>
                  <p:cNvPr id="106" name="Rectangle 105">
                    <a:extLst>
                      <a:ext uri="{FF2B5EF4-FFF2-40B4-BE49-F238E27FC236}">
                        <a16:creationId xmlns:a16="http://schemas.microsoft.com/office/drawing/2014/main" id="{3102B770-36F1-247C-DD1D-35EB4708F2E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54097" y="5454300"/>
                    <a:ext cx="531359" cy="51435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>
                    <a:solidFill>
                      <a:schemeClr val="accent4">
                        <a:lumMod val="40000"/>
                        <a:lumOff val="60000"/>
                      </a:schemeClr>
                    </a:solidFill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07" name="Straight Arrow Connector 106">
                <a:extLst>
                  <a:ext uri="{FF2B5EF4-FFF2-40B4-BE49-F238E27FC236}">
                    <a16:creationId xmlns:a16="http://schemas.microsoft.com/office/drawing/2014/main" id="{02531BC5-0B50-2404-3646-7BF92E75D132}"/>
                  </a:ext>
                </a:extLst>
              </p:cNvPr>
              <p:cNvCxnSpPr>
                <a:cxnSpLocks/>
                <a:endCxn id="106" idx="0"/>
              </p:cNvCxnSpPr>
              <p:nvPr/>
            </p:nvCxnSpPr>
            <p:spPr>
              <a:xfrm>
                <a:off x="10507168" y="5210018"/>
                <a:ext cx="712609" cy="244282"/>
              </a:xfrm>
              <a:prstGeom prst="straightConnector1">
                <a:avLst/>
              </a:prstGeom>
              <a:ln>
                <a:solidFill>
                  <a:schemeClr val="accent4">
                    <a:lumMod val="40000"/>
                    <a:lumOff val="60000"/>
                  </a:schemeClr>
                </a:solidFill>
                <a:headEnd w="lg" len="lg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86F9CBB2-7868-44A9-E7CF-FCEC490131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00472" y="2404487"/>
                <a:ext cx="1987" cy="2811887"/>
              </a:xfrm>
              <a:prstGeom prst="straightConnector1">
                <a:avLst/>
              </a:prstGeom>
              <a:ln>
                <a:solidFill>
                  <a:schemeClr val="accent4">
                    <a:lumMod val="40000"/>
                    <a:lumOff val="6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3DE49F54-54E0-35F7-8A8A-2C99E093C121}"/>
                  </a:ext>
                </a:extLst>
              </p:cNvPr>
              <p:cNvSpPr txBox="1"/>
              <p:nvPr/>
            </p:nvSpPr>
            <p:spPr>
              <a:xfrm>
                <a:off x="10248267" y="6019919"/>
                <a:ext cx="93734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IN" sz="1800" b="1" dirty="0" err="1">
                    <a:latin typeface="Consolas" panose="020B0609020204030204" pitchFamily="49" charset="0"/>
                  </a:rPr>
                  <a:t>dz_dx</a:t>
                </a:r>
                <a:endParaRPr lang="en-IN" b="1" dirty="0"/>
              </a:p>
            </p:txBody>
          </p:sp>
          <p:cxnSp>
            <p:nvCxnSpPr>
              <p:cNvPr id="110" name="Straight Arrow Connector 109">
                <a:extLst>
                  <a:ext uri="{FF2B5EF4-FFF2-40B4-BE49-F238E27FC236}">
                    <a16:creationId xmlns:a16="http://schemas.microsoft.com/office/drawing/2014/main" id="{E074A822-4C0F-5E3F-57E4-69BE33124417}"/>
                  </a:ext>
                </a:extLst>
              </p:cNvPr>
              <p:cNvCxnSpPr>
                <a:cxnSpLocks/>
                <a:endCxn id="106" idx="0"/>
              </p:cNvCxnSpPr>
              <p:nvPr/>
            </p:nvCxnSpPr>
            <p:spPr>
              <a:xfrm flipH="1">
                <a:off x="11219777" y="5198784"/>
                <a:ext cx="683590" cy="255516"/>
              </a:xfrm>
              <a:prstGeom prst="straightConnector1">
                <a:avLst/>
              </a:prstGeom>
              <a:ln>
                <a:solidFill>
                  <a:schemeClr val="accent4">
                    <a:lumMod val="40000"/>
                    <a:lumOff val="60000"/>
                  </a:schemeClr>
                </a:solidFill>
                <a:headEnd w="lg" len="lg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Arrow Connector 110">
                <a:extLst>
                  <a:ext uri="{FF2B5EF4-FFF2-40B4-BE49-F238E27FC236}">
                    <a16:creationId xmlns:a16="http://schemas.microsoft.com/office/drawing/2014/main" id="{C22ADC45-EC30-089D-5843-7DE1AB63D7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07168" y="2421290"/>
                <a:ext cx="552292" cy="0"/>
              </a:xfrm>
              <a:prstGeom prst="straightConnector1">
                <a:avLst/>
              </a:prstGeom>
              <a:ln>
                <a:solidFill>
                  <a:schemeClr val="accent4">
                    <a:lumMod val="40000"/>
                    <a:lumOff val="6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515066CD-4013-7A15-EF53-53155609D889}"/>
              </a:ext>
            </a:extLst>
          </p:cNvPr>
          <p:cNvCxnSpPr>
            <a:cxnSpLocks/>
          </p:cNvCxnSpPr>
          <p:nvPr/>
        </p:nvCxnSpPr>
        <p:spPr>
          <a:xfrm>
            <a:off x="9664526" y="1936783"/>
            <a:ext cx="6967" cy="868934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9C67AE76-3F23-D608-D463-A8FA6A30E7CB}"/>
              </a:ext>
            </a:extLst>
          </p:cNvPr>
          <p:cNvCxnSpPr>
            <a:cxnSpLocks/>
            <a:endCxn id="26" idx="0"/>
          </p:cNvCxnSpPr>
          <p:nvPr/>
        </p:nvCxnSpPr>
        <p:spPr>
          <a:xfrm>
            <a:off x="9678297" y="3360151"/>
            <a:ext cx="789892" cy="706575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199F3BBC-729D-28E4-ADE9-CB18B9FA1456}"/>
              </a:ext>
            </a:extLst>
          </p:cNvPr>
          <p:cNvCxnSpPr>
            <a:cxnSpLocks/>
          </p:cNvCxnSpPr>
          <p:nvPr/>
        </p:nvCxnSpPr>
        <p:spPr>
          <a:xfrm>
            <a:off x="10468189" y="4617652"/>
            <a:ext cx="0" cy="544016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C8269503-E2B8-3894-5436-9EF9A66B3CCD}"/>
              </a:ext>
            </a:extLst>
          </p:cNvPr>
          <p:cNvSpPr txBox="1"/>
          <p:nvPr/>
        </p:nvSpPr>
        <p:spPr>
          <a:xfrm>
            <a:off x="8667657" y="2042950"/>
            <a:ext cx="14142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i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(3,1)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508FC7F-8E8E-1B93-F044-D417C83053F8}"/>
              </a:ext>
            </a:extLst>
          </p:cNvPr>
          <p:cNvSpPr txBox="1"/>
          <p:nvPr/>
        </p:nvSpPr>
        <p:spPr>
          <a:xfrm>
            <a:off x="10456365" y="4790186"/>
            <a:ext cx="14142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i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(3,1)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A5FC2CD-AB77-799F-C741-585C6410512B}"/>
              </a:ext>
            </a:extLst>
          </p:cNvPr>
          <p:cNvSpPr txBox="1"/>
          <p:nvPr/>
        </p:nvSpPr>
        <p:spPr>
          <a:xfrm>
            <a:off x="8817800" y="6342606"/>
            <a:ext cx="14142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i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(3,1)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1B31555-86D5-564B-BD95-D09769E59C67}"/>
              </a:ext>
            </a:extLst>
          </p:cNvPr>
          <p:cNvSpPr txBox="1"/>
          <p:nvPr/>
        </p:nvSpPr>
        <p:spPr>
          <a:xfrm>
            <a:off x="10524318" y="4503155"/>
            <a:ext cx="5364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Consolas" panose="020B0609020204030204" pitchFamily="49" charset="0"/>
              </a:rPr>
              <a:t>z</a:t>
            </a:r>
            <a:endParaRPr lang="en-IN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F2F72B-65C7-3701-7B68-9AE5428729E8}"/>
              </a:ext>
            </a:extLst>
          </p:cNvPr>
          <p:cNvSpPr txBox="1"/>
          <p:nvPr/>
        </p:nvSpPr>
        <p:spPr>
          <a:xfrm>
            <a:off x="4210135" y="1115989"/>
            <a:ext cx="37717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Understanding output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E738F79-77D0-329C-CB37-4FA552F8E217}"/>
              </a:ext>
            </a:extLst>
          </p:cNvPr>
          <p:cNvSpPr txBox="1"/>
          <p:nvPr/>
        </p:nvSpPr>
        <p:spPr>
          <a:xfrm>
            <a:off x="9574369" y="3469907"/>
            <a:ext cx="5364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Consolas" panose="020B0609020204030204" pitchFamily="49" charset="0"/>
              </a:rPr>
              <a:t>a</a:t>
            </a:r>
            <a:endParaRPr lang="en-IN" b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DE0AA91-1353-8E85-3C53-10374CEE6D10}"/>
              </a:ext>
            </a:extLst>
          </p:cNvPr>
          <p:cNvSpPr txBox="1"/>
          <p:nvPr/>
        </p:nvSpPr>
        <p:spPr>
          <a:xfrm>
            <a:off x="11011504" y="3554508"/>
            <a:ext cx="5364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Consolas" panose="020B0609020204030204" pitchFamily="49" charset="0"/>
              </a:rPr>
              <a:t>b</a:t>
            </a:r>
            <a:endParaRPr lang="en-IN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ACBAEE8-924B-E2E3-91E5-A1371EC07C4A}"/>
              </a:ext>
            </a:extLst>
          </p:cNvPr>
          <p:cNvSpPr txBox="1"/>
          <p:nvPr/>
        </p:nvSpPr>
        <p:spPr>
          <a:xfrm>
            <a:off x="9332166" y="3773586"/>
            <a:ext cx="14142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i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(3,1)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D6C01C5-D6F2-4A91-18A5-C69B46CE756C}"/>
              </a:ext>
            </a:extLst>
          </p:cNvPr>
          <p:cNvSpPr txBox="1"/>
          <p:nvPr/>
        </p:nvSpPr>
        <p:spPr>
          <a:xfrm>
            <a:off x="10850533" y="3777470"/>
            <a:ext cx="14142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i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(1,)</a:t>
            </a: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C3F2A232-2B1A-7AB1-DA3A-D2DC2BA3A3CD}"/>
              </a:ext>
            </a:extLst>
          </p:cNvPr>
          <p:cNvGrpSpPr/>
          <p:nvPr/>
        </p:nvGrpSpPr>
        <p:grpSpPr>
          <a:xfrm>
            <a:off x="2249423" y="1508964"/>
            <a:ext cx="2705783" cy="1438592"/>
            <a:chOff x="2249423" y="1508964"/>
            <a:chExt cx="2705783" cy="14385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17A19852-8801-F562-AF1B-D24F0ADA41C7}"/>
                    </a:ext>
                  </a:extLst>
                </p:cNvPr>
                <p:cNvSpPr txBox="1"/>
                <p:nvPr/>
              </p:nvSpPr>
              <p:spPr>
                <a:xfrm>
                  <a:off x="2249423" y="1973738"/>
                  <a:ext cx="1750143" cy="90415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IN" sz="2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sz="2000" b="1" i="0" smtClean="0">
                                    <a:latin typeface="Cambria Math" panose="02040503050406030204" pitchFamily="18" charset="0"/>
                                  </a:rPr>
                                  <m:t>𝐚𝟏</m:t>
                                </m:r>
                              </m:e>
                              <m:e>
                                <m:r>
                                  <a:rPr lang="en-US" sz="2000" b="1" i="0" smtClean="0">
                                    <a:latin typeface="Cambria Math" panose="02040503050406030204" pitchFamily="18" charset="0"/>
                                  </a:rPr>
                                  <m:t>𝐚𝟐</m:t>
                                </m:r>
                              </m:e>
                              <m:e>
                                <m:r>
                                  <a:rPr lang="en-US" sz="2000" b="1" i="0" smtClean="0">
                                    <a:latin typeface="Cambria Math" panose="02040503050406030204" pitchFamily="18" charset="0"/>
                                  </a:rPr>
                                  <m:t>𝐚𝟑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en-IN" sz="2000" b="1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17A19852-8801-F562-AF1B-D24F0ADA41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9423" y="1973738"/>
                  <a:ext cx="1750143" cy="904158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9B654614-BB74-36DF-9BB8-215446004CCC}"/>
                </a:ext>
              </a:extLst>
            </p:cNvPr>
            <p:cNvSpPr txBox="1"/>
            <p:nvPr/>
          </p:nvSpPr>
          <p:spPr>
            <a:xfrm>
              <a:off x="2969849" y="1508964"/>
              <a:ext cx="50561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000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a</a:t>
              </a:r>
              <a:endParaRPr lang="en-IN" sz="2000" b="1" dirty="0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D4BD1C39-69DE-CBA4-9DBB-5C18B48B93FC}"/>
                </a:ext>
              </a:extLst>
            </p:cNvPr>
            <p:cNvSpPr txBox="1"/>
            <p:nvPr/>
          </p:nvSpPr>
          <p:spPr>
            <a:xfrm>
              <a:off x="3536730" y="2254600"/>
              <a:ext cx="50561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=</a:t>
              </a:r>
              <a:endParaRPr lang="en-IN" sz="2000" b="1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0697CD39-CE77-3ABB-4014-581A0ED11EC5}"/>
                </a:ext>
              </a:extLst>
            </p:cNvPr>
            <p:cNvSpPr txBox="1"/>
            <p:nvPr/>
          </p:nvSpPr>
          <p:spPr>
            <a:xfrm>
              <a:off x="4048449" y="1544199"/>
              <a:ext cx="69677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000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x**3</a:t>
              </a:r>
              <a:endParaRPr lang="en-IN" sz="20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1344925D-65E6-1AAE-4FF7-2EA93D44AC20}"/>
                    </a:ext>
                  </a:extLst>
                </p:cNvPr>
                <p:cNvSpPr txBox="1"/>
                <p:nvPr/>
              </p:nvSpPr>
              <p:spPr>
                <a:xfrm>
                  <a:off x="3790887" y="1877007"/>
                  <a:ext cx="1164319" cy="107054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IN" sz="2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sSup>
                                  <m:sSupPr>
                                    <m:ctrlP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1"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sup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p>
                                </m:sSup>
                              </m:e>
                              <m:e>
                                <m:sSup>
                                  <m:sSupPr>
                                    <m:ctrlP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1"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e>
                                  <m:sup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p>
                                </m:sSup>
                              </m:e>
                              <m:e>
                                <m:sSup>
                                  <m:sSupPr>
                                    <m:ctrlP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1"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e>
                                  <m:sup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p>
                                </m:sSup>
                              </m:e>
                            </m:eqArr>
                          </m:e>
                        </m:d>
                      </m:oMath>
                    </m:oMathPara>
                  </a14:m>
                  <a:endParaRPr lang="en-IN" sz="2000" b="1" dirty="0"/>
                </a:p>
              </p:txBody>
            </p:sp>
          </mc:Choice>
          <mc:Fallback xmlns="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1344925D-65E6-1AAE-4FF7-2EA93D44AC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90887" y="1877007"/>
                  <a:ext cx="1164319" cy="107054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9A18D18D-6149-5781-247A-4D7503706194}"/>
              </a:ext>
            </a:extLst>
          </p:cNvPr>
          <p:cNvGrpSpPr/>
          <p:nvPr/>
        </p:nvGrpSpPr>
        <p:grpSpPr>
          <a:xfrm>
            <a:off x="241920" y="784636"/>
            <a:ext cx="1671235" cy="2252102"/>
            <a:chOff x="241920" y="784636"/>
            <a:chExt cx="1671235" cy="225210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300785A-DD03-B2FB-8F71-920B8185FC4B}"/>
                </a:ext>
              </a:extLst>
            </p:cNvPr>
            <p:cNvSpPr txBox="1"/>
            <p:nvPr/>
          </p:nvSpPr>
          <p:spPr>
            <a:xfrm>
              <a:off x="241920" y="1076976"/>
              <a:ext cx="141427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800" i="1" dirty="0">
                  <a:solidFill>
                    <a:srgbClr val="0000FF"/>
                  </a:solidFill>
                  <a:highlight>
                    <a:srgbClr val="FFFF00"/>
                  </a:highlight>
                  <a:latin typeface="Consolas" panose="020B0609020204030204" pitchFamily="49" charset="0"/>
                </a:rPr>
                <a:t>(3,1)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4D7A276-059B-27E8-09AE-3EA0B3BD8E70}"/>
                </a:ext>
              </a:extLst>
            </p:cNvPr>
            <p:cNvSpPr txBox="1"/>
            <p:nvPr/>
          </p:nvSpPr>
          <p:spPr>
            <a:xfrm>
              <a:off x="984057" y="2345154"/>
              <a:ext cx="53644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800" b="1" dirty="0">
                  <a:latin typeface="Consolas" panose="020B0609020204030204" pitchFamily="49" charset="0"/>
                </a:rPr>
                <a:t>a</a:t>
              </a:r>
              <a:endParaRPr lang="en-IN" b="1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4A35CA6-FA55-4557-A18E-6F07518AD7F5}"/>
                </a:ext>
              </a:extLst>
            </p:cNvPr>
            <p:cNvSpPr txBox="1"/>
            <p:nvPr/>
          </p:nvSpPr>
          <p:spPr>
            <a:xfrm>
              <a:off x="772790" y="2667406"/>
              <a:ext cx="8522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800" i="1" dirty="0">
                  <a:solidFill>
                    <a:srgbClr val="0000FF"/>
                  </a:solidFill>
                  <a:highlight>
                    <a:srgbClr val="FFFF00"/>
                  </a:highlight>
                  <a:latin typeface="Consolas" panose="020B0609020204030204" pitchFamily="49" charset="0"/>
                </a:rPr>
                <a:t>(3,1)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84C7D58-9676-F220-8B91-0470AAB77CD5}"/>
                </a:ext>
              </a:extLst>
            </p:cNvPr>
            <p:cNvSpPr/>
            <p:nvPr/>
          </p:nvSpPr>
          <p:spPr>
            <a:xfrm>
              <a:off x="836807" y="1704859"/>
              <a:ext cx="531359" cy="5143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**</a:t>
              </a:r>
              <a:endParaRPr lang="en-IN" b="1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75A4DBD-6768-7EA6-2DF7-B342C33D3F03}"/>
                </a:ext>
              </a:extLst>
            </p:cNvPr>
            <p:cNvSpPr txBox="1"/>
            <p:nvPr/>
          </p:nvSpPr>
          <p:spPr>
            <a:xfrm>
              <a:off x="473630" y="784636"/>
              <a:ext cx="53644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800" b="1" dirty="0">
                  <a:latin typeface="Consolas" panose="020B0609020204030204" pitchFamily="49" charset="0"/>
                </a:rPr>
                <a:t>x</a:t>
              </a:r>
              <a:endParaRPr lang="en-IN" b="1" dirty="0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76B645EC-BD22-6299-3409-952405DB90D3}"/>
                </a:ext>
              </a:extLst>
            </p:cNvPr>
            <p:cNvCxnSpPr>
              <a:cxnSpLocks/>
            </p:cNvCxnSpPr>
            <p:nvPr/>
          </p:nvCxnSpPr>
          <p:spPr>
            <a:xfrm>
              <a:off x="1095408" y="2212165"/>
              <a:ext cx="795320" cy="713942"/>
            </a:xfrm>
            <a:prstGeom prst="straightConnector1">
              <a:avLst/>
            </a:prstGeom>
            <a:ln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94B31F0F-2E03-5273-AAF6-1613F930EFEB}"/>
                </a:ext>
              </a:extLst>
            </p:cNvPr>
            <p:cNvCxnSpPr>
              <a:cxnSpLocks/>
              <a:endCxn id="15" idx="0"/>
            </p:cNvCxnSpPr>
            <p:nvPr/>
          </p:nvCxnSpPr>
          <p:spPr>
            <a:xfrm>
              <a:off x="1102487" y="784636"/>
              <a:ext cx="0" cy="920223"/>
            </a:xfrm>
            <a:prstGeom prst="straightConnector1">
              <a:avLst/>
            </a:prstGeom>
            <a:ln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5711CC85-40C8-81FE-2D19-A011CC9E0724}"/>
                </a:ext>
              </a:extLst>
            </p:cNvPr>
            <p:cNvSpPr/>
            <p:nvPr/>
          </p:nvSpPr>
          <p:spPr>
            <a:xfrm>
              <a:off x="1614969" y="1819588"/>
              <a:ext cx="298186" cy="283730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3</a:t>
              </a:r>
              <a:endParaRPr lang="en-IN" b="1" dirty="0"/>
            </a:p>
          </p:txBody>
        </p: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1C15B0DB-85E3-AAC6-F773-C727BF3330F0}"/>
                </a:ext>
              </a:extLst>
            </p:cNvPr>
            <p:cNvCxnSpPr>
              <a:cxnSpLocks/>
              <a:stCxn id="51" idx="2"/>
            </p:cNvCxnSpPr>
            <p:nvPr/>
          </p:nvCxnSpPr>
          <p:spPr>
            <a:xfrm flipH="1">
              <a:off x="1357182" y="1961453"/>
              <a:ext cx="257787" cy="0"/>
            </a:xfrm>
            <a:prstGeom prst="straightConnector1">
              <a:avLst/>
            </a:prstGeom>
            <a:ln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76684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70443 0.1669 L 0.70443 0.16736 C 0.70235 0.16482 0.70052 0.16273 0.69844 0.16088 C 0.6625 0.13079 0.65 0.12986 0.59375 0.11158 C 0.57096 0.10394 0.54805 0.09769 0.52539 0.08912 C 0.50391 0.08079 0.48294 0.06875 0.46133 0.06111 C 0.44831 0.05625 0.35 0.02616 0.32357 0.02199 C 0.30886 0.01968 0.29388 0.0206 0.27917 0.01968 L 0.24206 0.01736 C 0.11979 0.00764 0.34102 0.01667 0.02617 0.01019 C 0.02175 0.01065 0.01732 0.01088 0.01302 0.01134 C 0.01081 0.01158 0.0086 0.01297 0.00638 0.0125 C 0.00547 0.01227 0.00534 0.01042 0.00469 0.00903 C 0.00391 0.00718 0.00326 0.00509 0.00221 0.00324 C 0.00156 0.00185 -1.25E-6 -2.22222E-6 -1.25E-6 0.00023 " pathEditMode="relative" rAng="0" ptsTypes="AAAAAAAAAAAAAAA">
                                      <p:cBhvr>
                                        <p:cTn id="8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221" y="-83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DD04C-7EEF-66B5-83B7-CF00D870F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5F2D473-F0DC-A7A0-7326-E35F0F746F33}"/>
              </a:ext>
            </a:extLst>
          </p:cNvPr>
          <p:cNvSpPr txBox="1"/>
          <p:nvPr/>
        </p:nvSpPr>
        <p:spPr>
          <a:xfrm>
            <a:off x="0" y="98322"/>
            <a:ext cx="12192000" cy="52322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Session 1: </a:t>
            </a:r>
            <a:r>
              <a:rPr lang="en-US" sz="2800" b="1" dirty="0" err="1">
                <a:solidFill>
                  <a:schemeClr val="bg1"/>
                </a:solidFill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Tensorflow</a:t>
            </a:r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 Basics</a:t>
            </a:r>
            <a:endParaRPr lang="en-IN" sz="2800" b="1" dirty="0">
              <a:solidFill>
                <a:schemeClr val="bg1"/>
              </a:solidFill>
              <a:latin typeface="Century Schoolbook" panose="02040604050505020304" pitchFamily="18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FAF569D-13D3-8704-4DAD-DEA3717212E3}"/>
              </a:ext>
            </a:extLst>
          </p:cNvPr>
          <p:cNvSpPr/>
          <p:nvPr/>
        </p:nvSpPr>
        <p:spPr>
          <a:xfrm>
            <a:off x="9525763" y="1659216"/>
            <a:ext cx="298186" cy="28373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B66671-B9EF-8759-92A4-DA74D7C63091}"/>
              </a:ext>
            </a:extLst>
          </p:cNvPr>
          <p:cNvSpPr txBox="1"/>
          <p:nvPr/>
        </p:nvSpPr>
        <p:spPr>
          <a:xfrm>
            <a:off x="9525763" y="1295140"/>
            <a:ext cx="5364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Consolas" panose="020B0609020204030204" pitchFamily="49" charset="0"/>
              </a:rPr>
              <a:t>x</a:t>
            </a:r>
            <a:endParaRPr lang="en-IN" b="1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4CB54F1-F21C-512B-A31B-B5DB679951DC}"/>
              </a:ext>
            </a:extLst>
          </p:cNvPr>
          <p:cNvSpPr/>
          <p:nvPr/>
        </p:nvSpPr>
        <p:spPr>
          <a:xfrm>
            <a:off x="11209560" y="1659216"/>
            <a:ext cx="298186" cy="28373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DC23D8-56BA-5A10-9741-2DD77E430AAB}"/>
              </a:ext>
            </a:extLst>
          </p:cNvPr>
          <p:cNvSpPr txBox="1"/>
          <p:nvPr/>
        </p:nvSpPr>
        <p:spPr>
          <a:xfrm>
            <a:off x="11221742" y="1273264"/>
            <a:ext cx="5364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y</a:t>
            </a:r>
            <a:endParaRPr lang="en-IN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3D1637C-A46A-5B0C-BEB5-C7DFCEBD4199}"/>
                  </a:ext>
                </a:extLst>
              </p:cNvPr>
              <p:cNvSpPr txBox="1"/>
              <p:nvPr/>
            </p:nvSpPr>
            <p:spPr>
              <a:xfrm>
                <a:off x="8599418" y="1287864"/>
                <a:ext cx="920193" cy="823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IN" i="1" smtClean="0">
                              <a:solidFill>
                                <a:srgbClr val="0000FF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smtClean="0">
                                  <a:solidFill>
                                    <a:srgbClr val="0000FF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i="1" smtClean="0">
                                  <a:solidFill>
                                    <a:srgbClr val="0000FF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b="0" i="1" smtClean="0">
                                  <a:solidFill>
                                    <a:srgbClr val="0000FF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rgbClr val="0000FF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2.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rgbClr val="0000FF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3.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IN" dirty="0">
                  <a:solidFill>
                    <a:srgbClr val="0000FF"/>
                  </a:solidFill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4088661-44CC-810E-4B99-E5830AC274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9418" y="1287864"/>
                <a:ext cx="920193" cy="823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0A891F5-1872-38C7-1F25-5E704EDFFAA0}"/>
                  </a:ext>
                </a:extLst>
              </p:cNvPr>
              <p:cNvSpPr txBox="1"/>
              <p:nvPr/>
            </p:nvSpPr>
            <p:spPr>
              <a:xfrm>
                <a:off x="10468189" y="1568164"/>
                <a:ext cx="9201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8BF7626-D946-A976-36D9-DDB01C34F3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8189" y="1568164"/>
                <a:ext cx="92019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3FD3574B-1FDD-873B-5614-49E32F9D852B}"/>
              </a:ext>
            </a:extLst>
          </p:cNvPr>
          <p:cNvSpPr txBox="1"/>
          <p:nvPr/>
        </p:nvSpPr>
        <p:spPr>
          <a:xfrm>
            <a:off x="2672105" y="707692"/>
            <a:ext cx="70870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Automatic Gradient/Algorithmic Gradient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DA8B06E1-9AA8-AEF9-6AC5-1FCED752ECAE}"/>
              </a:ext>
            </a:extLst>
          </p:cNvPr>
          <p:cNvGrpSpPr/>
          <p:nvPr/>
        </p:nvGrpSpPr>
        <p:grpSpPr>
          <a:xfrm>
            <a:off x="9407189" y="1914218"/>
            <a:ext cx="2217143" cy="1438566"/>
            <a:chOff x="9407189" y="1914218"/>
            <a:chExt cx="2217143" cy="1438566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E91A30D-90BE-F2EA-FE08-3BB4FB716DC5}"/>
                </a:ext>
              </a:extLst>
            </p:cNvPr>
            <p:cNvSpPr/>
            <p:nvPr/>
          </p:nvSpPr>
          <p:spPr>
            <a:xfrm>
              <a:off x="9407189" y="2838434"/>
              <a:ext cx="531359" cy="5143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**</a:t>
              </a:r>
              <a:endParaRPr lang="en-IN" b="1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E4C42EE-2775-F9D3-8BE9-76DC4C528E00}"/>
                </a:ext>
              </a:extLst>
            </p:cNvPr>
            <p:cNvSpPr/>
            <p:nvPr/>
          </p:nvSpPr>
          <p:spPr>
            <a:xfrm>
              <a:off x="11092973" y="2838434"/>
              <a:ext cx="531359" cy="5143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**</a:t>
              </a:r>
              <a:endParaRPr lang="en-IN" b="1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C0CF73C-17C4-1708-1C37-2E24C1D815EC}"/>
                </a:ext>
              </a:extLst>
            </p:cNvPr>
            <p:cNvSpPr/>
            <p:nvPr/>
          </p:nvSpPr>
          <p:spPr>
            <a:xfrm>
              <a:off x="10196335" y="2953744"/>
              <a:ext cx="298186" cy="283730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3</a:t>
              </a:r>
              <a:endParaRPr lang="en-IN" b="1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DE176BBA-D3F4-75DB-14FA-179125CA8C18}"/>
                </a:ext>
              </a:extLst>
            </p:cNvPr>
            <p:cNvSpPr/>
            <p:nvPr/>
          </p:nvSpPr>
          <p:spPr>
            <a:xfrm>
              <a:off x="10552347" y="2953744"/>
              <a:ext cx="298186" cy="283730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2</a:t>
              </a:r>
              <a:endParaRPr lang="en-IN" b="1" dirty="0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8601772E-4A74-6B0F-8D13-89FC58EAE9D5}"/>
                </a:ext>
              </a:extLst>
            </p:cNvPr>
            <p:cNvCxnSpPr>
              <a:stCxn id="7" idx="4"/>
              <a:endCxn id="24" idx="0"/>
            </p:cNvCxnSpPr>
            <p:nvPr/>
          </p:nvCxnSpPr>
          <p:spPr>
            <a:xfrm flipH="1">
              <a:off x="9672869" y="1942946"/>
              <a:ext cx="1987" cy="895488"/>
            </a:xfrm>
            <a:prstGeom prst="straightConnector1">
              <a:avLst/>
            </a:prstGeom>
            <a:ln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55EF5E9D-234C-156D-8010-5BDA25DB2AFB}"/>
                </a:ext>
              </a:extLst>
            </p:cNvPr>
            <p:cNvCxnSpPr>
              <a:cxnSpLocks/>
              <a:endCxn id="25" idx="0"/>
            </p:cNvCxnSpPr>
            <p:nvPr/>
          </p:nvCxnSpPr>
          <p:spPr>
            <a:xfrm>
              <a:off x="11358652" y="1914218"/>
              <a:ext cx="1" cy="924216"/>
            </a:xfrm>
            <a:prstGeom prst="straightConnector1">
              <a:avLst/>
            </a:prstGeom>
            <a:ln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2B11C39B-3BB1-9580-6900-B6922E6E95A4}"/>
                </a:ext>
              </a:extLst>
            </p:cNvPr>
            <p:cNvCxnSpPr>
              <a:cxnSpLocks/>
              <a:stCxn id="28" idx="2"/>
              <a:endCxn id="24" idx="3"/>
            </p:cNvCxnSpPr>
            <p:nvPr/>
          </p:nvCxnSpPr>
          <p:spPr>
            <a:xfrm flipH="1">
              <a:off x="9938548" y="3095609"/>
              <a:ext cx="257787" cy="0"/>
            </a:xfrm>
            <a:prstGeom prst="straightConnector1">
              <a:avLst/>
            </a:prstGeom>
            <a:ln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C6520C34-3DB6-EFE2-C20B-BF227E7292AB}"/>
                </a:ext>
              </a:extLst>
            </p:cNvPr>
            <p:cNvCxnSpPr>
              <a:cxnSpLocks/>
              <a:stCxn id="29" idx="6"/>
              <a:endCxn id="25" idx="1"/>
            </p:cNvCxnSpPr>
            <p:nvPr/>
          </p:nvCxnSpPr>
          <p:spPr>
            <a:xfrm>
              <a:off x="10850533" y="3095609"/>
              <a:ext cx="242440" cy="0"/>
            </a:xfrm>
            <a:prstGeom prst="straightConnector1">
              <a:avLst/>
            </a:prstGeom>
            <a:ln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A75AAC0-0761-15A2-06F1-5BC8EA35B150}"/>
              </a:ext>
            </a:extLst>
          </p:cNvPr>
          <p:cNvGrpSpPr/>
          <p:nvPr/>
        </p:nvGrpSpPr>
        <p:grpSpPr>
          <a:xfrm>
            <a:off x="9672869" y="3352784"/>
            <a:ext cx="1685784" cy="1847104"/>
            <a:chOff x="9672869" y="3352784"/>
            <a:chExt cx="1685784" cy="1847104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4D86BBE-3362-B454-D26D-115B573748F2}"/>
                </a:ext>
              </a:extLst>
            </p:cNvPr>
            <p:cNvSpPr/>
            <p:nvPr/>
          </p:nvSpPr>
          <p:spPr>
            <a:xfrm>
              <a:off x="10202509" y="4066726"/>
              <a:ext cx="531359" cy="5143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+</a:t>
              </a:r>
              <a:endParaRPr lang="en-IN" b="1" dirty="0"/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B886ABEF-9A3D-1B7D-1BC9-4FFBB1652AA4}"/>
                </a:ext>
              </a:extLst>
            </p:cNvPr>
            <p:cNvCxnSpPr>
              <a:cxnSpLocks/>
              <a:stCxn id="24" idx="2"/>
              <a:endCxn id="26" idx="0"/>
            </p:cNvCxnSpPr>
            <p:nvPr/>
          </p:nvCxnSpPr>
          <p:spPr>
            <a:xfrm>
              <a:off x="9672869" y="3352784"/>
              <a:ext cx="795320" cy="713942"/>
            </a:xfrm>
            <a:prstGeom prst="straightConnector1">
              <a:avLst/>
            </a:prstGeom>
            <a:ln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0B67CA1A-4B6A-6077-2888-6240F8D51F7F}"/>
                </a:ext>
              </a:extLst>
            </p:cNvPr>
            <p:cNvCxnSpPr>
              <a:cxnSpLocks/>
              <a:stCxn id="25" idx="2"/>
              <a:endCxn id="26" idx="0"/>
            </p:cNvCxnSpPr>
            <p:nvPr/>
          </p:nvCxnSpPr>
          <p:spPr>
            <a:xfrm flipH="1">
              <a:off x="10468189" y="3352784"/>
              <a:ext cx="890464" cy="713942"/>
            </a:xfrm>
            <a:prstGeom prst="straightConnector1">
              <a:avLst/>
            </a:prstGeom>
            <a:ln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5A56345E-436F-CB57-B1EC-9BBC6EDEC541}"/>
                </a:ext>
              </a:extLst>
            </p:cNvPr>
            <p:cNvCxnSpPr>
              <a:cxnSpLocks/>
              <a:stCxn id="26" idx="2"/>
            </p:cNvCxnSpPr>
            <p:nvPr/>
          </p:nvCxnSpPr>
          <p:spPr>
            <a:xfrm flipH="1">
              <a:off x="10468188" y="4581076"/>
              <a:ext cx="1" cy="618812"/>
            </a:xfrm>
            <a:prstGeom prst="straightConnector1">
              <a:avLst/>
            </a:prstGeom>
            <a:ln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6F5EAC3C-A0E8-C865-84E8-EC8AB42D55E3}"/>
              </a:ext>
            </a:extLst>
          </p:cNvPr>
          <p:cNvGrpSpPr/>
          <p:nvPr/>
        </p:nvGrpSpPr>
        <p:grpSpPr>
          <a:xfrm>
            <a:off x="10468188" y="2386897"/>
            <a:ext cx="1723809" cy="4325041"/>
            <a:chOff x="10468188" y="2386897"/>
            <a:chExt cx="1723809" cy="432504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7342F35-1D18-894A-76D6-6C1DD24ECD7C}"/>
                </a:ext>
              </a:extLst>
            </p:cNvPr>
            <p:cNvSpPr txBox="1"/>
            <p:nvPr/>
          </p:nvSpPr>
          <p:spPr>
            <a:xfrm>
              <a:off x="11254648" y="6342606"/>
              <a:ext cx="82864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IN" sz="1800" i="1" dirty="0">
                  <a:latin typeface="Consolas" panose="020B0609020204030204" pitchFamily="49" charset="0"/>
                </a:rPr>
                <a:t>(1,)</a:t>
              </a:r>
            </a:p>
          </p:txBody>
        </p: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065076BA-367B-067D-A0A5-EB462254E53B}"/>
                </a:ext>
              </a:extLst>
            </p:cNvPr>
            <p:cNvGrpSpPr/>
            <p:nvPr/>
          </p:nvGrpSpPr>
          <p:grpSpPr>
            <a:xfrm>
              <a:off x="10468188" y="2386897"/>
              <a:ext cx="1723809" cy="4200565"/>
              <a:chOff x="10468188" y="2386897"/>
              <a:chExt cx="1723809" cy="4200565"/>
            </a:xfrm>
          </p:grpSpPr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20F22D45-7666-2B61-82B6-33794798D8B5}"/>
                  </a:ext>
                </a:extLst>
              </p:cNvPr>
              <p:cNvCxnSpPr>
                <a:cxnSpLocks/>
                <a:stCxn id="67" idx="2"/>
              </p:cNvCxnSpPr>
              <p:nvPr/>
            </p:nvCxnSpPr>
            <p:spPr>
              <a:xfrm flipH="1">
                <a:off x="11219776" y="5968650"/>
                <a:ext cx="1" cy="618812"/>
              </a:xfrm>
              <a:prstGeom prst="straightConnector1">
                <a:avLst/>
              </a:prstGeom>
              <a:ln>
                <a:solidFill>
                  <a:schemeClr val="accent4">
                    <a:lumMod val="40000"/>
                    <a:lumOff val="60000"/>
                  </a:schemeClr>
                </a:solidFill>
                <a:headEnd w="lg" len="lg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94C2EF1E-9571-D37E-A186-C2EE128409F5}"/>
                  </a:ext>
                </a:extLst>
              </p:cNvPr>
              <p:cNvGrpSpPr/>
              <p:nvPr/>
            </p:nvGrpSpPr>
            <p:grpSpPr>
              <a:xfrm>
                <a:off x="10468188" y="2386897"/>
                <a:ext cx="1723809" cy="4017327"/>
                <a:chOff x="10468188" y="2386897"/>
                <a:chExt cx="1723809" cy="4017327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7" name="Rectangle 66">
                      <a:extLst>
                        <a:ext uri="{FF2B5EF4-FFF2-40B4-BE49-F238E27FC236}">
                          <a16:creationId xmlns:a16="http://schemas.microsoft.com/office/drawing/2014/main" id="{38D624B2-C502-C5C4-9019-3E6711FF461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54097" y="5454300"/>
                      <a:ext cx="531359" cy="514350"/>
                    </a:xfrm>
                    <a:prstGeom prst="rect">
                      <a:avLst/>
                    </a:prstGeom>
                    <a:solidFill>
                      <a:schemeClr val="accent4">
                        <a:lumMod val="40000"/>
                        <a:lumOff val="60000"/>
                      </a:schemeClr>
                    </a:solidFill>
                    <a:ln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I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𝛁</m:t>
                            </m:r>
                          </m:oMath>
                        </m:oMathPara>
                      </a14:m>
                      <a:endParaRPr lang="en-IN" b="1" dirty="0"/>
                    </a:p>
                  </p:txBody>
                </p:sp>
              </mc:Choice>
              <mc:Fallback xmlns="">
                <p:sp>
                  <p:nvSpPr>
                    <p:cNvPr id="67" name="Rectangle 66">
                      <a:extLst>
                        <a:ext uri="{FF2B5EF4-FFF2-40B4-BE49-F238E27FC236}">
                          <a16:creationId xmlns:a16="http://schemas.microsoft.com/office/drawing/2014/main" id="{3764D511-A47F-DB4D-8498-8A3ECE50D553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954097" y="5454300"/>
                      <a:ext cx="531359" cy="51435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  <a:ln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68" name="Straight Arrow Connector 67">
                  <a:extLst>
                    <a:ext uri="{FF2B5EF4-FFF2-40B4-BE49-F238E27FC236}">
                      <a16:creationId xmlns:a16="http://schemas.microsoft.com/office/drawing/2014/main" id="{0B458364-A6B9-6578-B931-14BE25392C6D}"/>
                    </a:ext>
                  </a:extLst>
                </p:cNvPr>
                <p:cNvCxnSpPr>
                  <a:cxnSpLocks/>
                  <a:endCxn id="67" idx="0"/>
                </p:cNvCxnSpPr>
                <p:nvPr/>
              </p:nvCxnSpPr>
              <p:spPr>
                <a:xfrm>
                  <a:off x="10468188" y="5198784"/>
                  <a:ext cx="751589" cy="255516"/>
                </a:xfrm>
                <a:prstGeom prst="straightConnector1">
                  <a:avLst/>
                </a:prstGeom>
                <a:ln>
                  <a:solidFill>
                    <a:schemeClr val="accent4">
                      <a:lumMod val="40000"/>
                      <a:lumOff val="60000"/>
                    </a:schemeClr>
                  </a:solidFill>
                  <a:headEnd w="lg" len="lg"/>
                  <a:tailEnd type="triangl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Straight Arrow Connector 68">
                  <a:extLst>
                    <a:ext uri="{FF2B5EF4-FFF2-40B4-BE49-F238E27FC236}">
                      <a16:creationId xmlns:a16="http://schemas.microsoft.com/office/drawing/2014/main" id="{93713C93-57CC-1D74-0962-A5A16DB601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1884220" y="2386897"/>
                  <a:ext cx="1987" cy="2811887"/>
                </a:xfrm>
                <a:prstGeom prst="straightConnector1">
                  <a:avLst/>
                </a:prstGeom>
                <a:ln>
                  <a:solidFill>
                    <a:schemeClr val="accent4">
                      <a:lumMod val="40000"/>
                      <a:lumOff val="6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D1E86E97-1E13-44F0-8384-40AE3AC473B6}"/>
                    </a:ext>
                  </a:extLst>
                </p:cNvPr>
                <p:cNvSpPr txBox="1"/>
                <p:nvPr/>
              </p:nvSpPr>
              <p:spPr>
                <a:xfrm>
                  <a:off x="11254648" y="6034892"/>
                  <a:ext cx="937349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IN" sz="1800" b="1" dirty="0" err="1">
                      <a:latin typeface="Consolas" panose="020B0609020204030204" pitchFamily="49" charset="0"/>
                    </a:rPr>
                    <a:t>dz_dy</a:t>
                  </a:r>
                  <a:endParaRPr lang="en-IN" b="1" dirty="0"/>
                </a:p>
              </p:txBody>
            </p:sp>
            <p:cxnSp>
              <p:nvCxnSpPr>
                <p:cNvPr id="75" name="Straight Arrow Connector 74">
                  <a:extLst>
                    <a:ext uri="{FF2B5EF4-FFF2-40B4-BE49-F238E27FC236}">
                      <a16:creationId xmlns:a16="http://schemas.microsoft.com/office/drawing/2014/main" id="{A412AAE4-0540-C2C6-2C3A-4C8955C62EDF}"/>
                    </a:ext>
                  </a:extLst>
                </p:cNvPr>
                <p:cNvCxnSpPr>
                  <a:cxnSpLocks/>
                  <a:endCxn id="67" idx="0"/>
                </p:cNvCxnSpPr>
                <p:nvPr/>
              </p:nvCxnSpPr>
              <p:spPr>
                <a:xfrm flipH="1">
                  <a:off x="11219777" y="5198784"/>
                  <a:ext cx="683590" cy="255516"/>
                </a:xfrm>
                <a:prstGeom prst="straightConnector1">
                  <a:avLst/>
                </a:prstGeom>
                <a:ln>
                  <a:solidFill>
                    <a:schemeClr val="accent4">
                      <a:lumMod val="40000"/>
                      <a:lumOff val="60000"/>
                    </a:schemeClr>
                  </a:solidFill>
                  <a:headEnd w="lg" len="lg"/>
                  <a:tailEnd type="triangl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Straight Arrow Connector 79">
                  <a:extLst>
                    <a:ext uri="{FF2B5EF4-FFF2-40B4-BE49-F238E27FC236}">
                      <a16:creationId xmlns:a16="http://schemas.microsoft.com/office/drawing/2014/main" id="{E0E632BA-7FCF-AE77-B852-67CC6BB9B9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358652" y="2386897"/>
                  <a:ext cx="544715" cy="0"/>
                </a:xfrm>
                <a:prstGeom prst="straightConnector1">
                  <a:avLst/>
                </a:prstGeom>
                <a:ln>
                  <a:solidFill>
                    <a:schemeClr val="accent4">
                      <a:lumMod val="40000"/>
                      <a:lumOff val="6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3D24D4EA-D156-B046-16BC-D2BCAF576D5B}"/>
              </a:ext>
            </a:extLst>
          </p:cNvPr>
          <p:cNvCxnSpPr>
            <a:cxnSpLocks/>
          </p:cNvCxnSpPr>
          <p:nvPr/>
        </p:nvCxnSpPr>
        <p:spPr>
          <a:xfrm flipH="1">
            <a:off x="10451029" y="3360151"/>
            <a:ext cx="890464" cy="713942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11928E36-483C-E19F-3E9F-68EC5BE30A65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11351686" y="1969500"/>
            <a:ext cx="6967" cy="868934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B5F5EE1C-EE8C-79ED-9465-1D3409CE0054}"/>
              </a:ext>
            </a:extLst>
          </p:cNvPr>
          <p:cNvCxnSpPr>
            <a:cxnSpLocks/>
            <a:stCxn id="26" idx="2"/>
          </p:cNvCxnSpPr>
          <p:nvPr/>
        </p:nvCxnSpPr>
        <p:spPr>
          <a:xfrm>
            <a:off x="10468189" y="4581076"/>
            <a:ext cx="0" cy="617708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73310AB5-7870-E9F6-4952-1733A4648B13}"/>
              </a:ext>
            </a:extLst>
          </p:cNvPr>
          <p:cNvSpPr txBox="1"/>
          <p:nvPr/>
        </p:nvSpPr>
        <p:spPr>
          <a:xfrm>
            <a:off x="10572436" y="1907593"/>
            <a:ext cx="8286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i="1" dirty="0">
                <a:latin typeface="Consolas" panose="020B0609020204030204" pitchFamily="49" charset="0"/>
              </a:rPr>
              <a:t>(1,)</a:t>
            </a: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82953943-EE92-CC2E-F494-9D9CE1922AB7}"/>
              </a:ext>
            </a:extLst>
          </p:cNvPr>
          <p:cNvGrpSpPr/>
          <p:nvPr/>
        </p:nvGrpSpPr>
        <p:grpSpPr>
          <a:xfrm>
            <a:off x="8839746" y="2419460"/>
            <a:ext cx="1655100" cy="4182975"/>
            <a:chOff x="10248267" y="2404487"/>
            <a:chExt cx="1655100" cy="4182975"/>
          </a:xfrm>
        </p:grpSpPr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FA65D457-AE73-731A-6235-10A5130FA70E}"/>
                </a:ext>
              </a:extLst>
            </p:cNvPr>
            <p:cNvCxnSpPr>
              <a:cxnSpLocks/>
              <a:stCxn id="106" idx="2"/>
            </p:cNvCxnSpPr>
            <p:nvPr/>
          </p:nvCxnSpPr>
          <p:spPr>
            <a:xfrm flipH="1">
              <a:off x="11219776" y="5968650"/>
              <a:ext cx="1" cy="618812"/>
            </a:xfrm>
            <a:prstGeom prst="straightConnector1">
              <a:avLst/>
            </a:prstGeom>
            <a:ln>
              <a:solidFill>
                <a:schemeClr val="accent4">
                  <a:lumMod val="40000"/>
                  <a:lumOff val="60000"/>
                </a:schemeClr>
              </a:solidFill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A0472521-3583-CC9E-6841-B45CCC77D52A}"/>
                </a:ext>
              </a:extLst>
            </p:cNvPr>
            <p:cNvGrpSpPr/>
            <p:nvPr/>
          </p:nvGrpSpPr>
          <p:grpSpPr>
            <a:xfrm>
              <a:off x="10248267" y="2404487"/>
              <a:ext cx="1655100" cy="3984764"/>
              <a:chOff x="10248267" y="2404487"/>
              <a:chExt cx="1655100" cy="398476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6" name="Rectangle 105">
                    <a:extLst>
                      <a:ext uri="{FF2B5EF4-FFF2-40B4-BE49-F238E27FC236}">
                        <a16:creationId xmlns:a16="http://schemas.microsoft.com/office/drawing/2014/main" id="{E0136709-AFFA-2911-CC6B-E2EEFB2E69DF}"/>
                      </a:ext>
                    </a:extLst>
                  </p:cNvPr>
                  <p:cNvSpPr/>
                  <p:nvPr/>
                </p:nvSpPr>
                <p:spPr>
                  <a:xfrm>
                    <a:off x="10954097" y="5454300"/>
                    <a:ext cx="531359" cy="514350"/>
                  </a:xfrm>
                  <a:prstGeom prst="rect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>
                    <a:solidFill>
                      <a:schemeClr val="accent4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𝛁</m:t>
                          </m:r>
                        </m:oMath>
                      </m:oMathPara>
                    </a14:m>
                    <a:endParaRPr lang="en-IN" b="1" dirty="0"/>
                  </a:p>
                </p:txBody>
              </p:sp>
            </mc:Choice>
            <mc:Fallback xmlns="">
              <p:sp>
                <p:nvSpPr>
                  <p:cNvPr id="106" name="Rectangle 105">
                    <a:extLst>
                      <a:ext uri="{FF2B5EF4-FFF2-40B4-BE49-F238E27FC236}">
                        <a16:creationId xmlns:a16="http://schemas.microsoft.com/office/drawing/2014/main" id="{3102B770-36F1-247C-DD1D-35EB4708F2E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54097" y="5454300"/>
                    <a:ext cx="531359" cy="51435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>
                    <a:solidFill>
                      <a:schemeClr val="accent4">
                        <a:lumMod val="40000"/>
                        <a:lumOff val="60000"/>
                      </a:schemeClr>
                    </a:solidFill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07" name="Straight Arrow Connector 106">
                <a:extLst>
                  <a:ext uri="{FF2B5EF4-FFF2-40B4-BE49-F238E27FC236}">
                    <a16:creationId xmlns:a16="http://schemas.microsoft.com/office/drawing/2014/main" id="{44752C77-6DF6-9B95-4BAF-4B59FA4B5314}"/>
                  </a:ext>
                </a:extLst>
              </p:cNvPr>
              <p:cNvCxnSpPr>
                <a:cxnSpLocks/>
                <a:endCxn id="106" idx="0"/>
              </p:cNvCxnSpPr>
              <p:nvPr/>
            </p:nvCxnSpPr>
            <p:spPr>
              <a:xfrm>
                <a:off x="10507168" y="5210018"/>
                <a:ext cx="712609" cy="244282"/>
              </a:xfrm>
              <a:prstGeom prst="straightConnector1">
                <a:avLst/>
              </a:prstGeom>
              <a:ln>
                <a:solidFill>
                  <a:schemeClr val="accent4">
                    <a:lumMod val="40000"/>
                    <a:lumOff val="60000"/>
                  </a:schemeClr>
                </a:solidFill>
                <a:headEnd w="lg" len="lg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BB49D4C2-D093-EA72-732C-878AC51C850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00472" y="2404487"/>
                <a:ext cx="1987" cy="2811887"/>
              </a:xfrm>
              <a:prstGeom prst="straightConnector1">
                <a:avLst/>
              </a:prstGeom>
              <a:ln>
                <a:solidFill>
                  <a:schemeClr val="accent4">
                    <a:lumMod val="40000"/>
                    <a:lumOff val="6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BAEC7FF8-5E3E-587D-19D1-C4DFF5BCFFA2}"/>
                  </a:ext>
                </a:extLst>
              </p:cNvPr>
              <p:cNvSpPr txBox="1"/>
              <p:nvPr/>
            </p:nvSpPr>
            <p:spPr>
              <a:xfrm>
                <a:off x="10248267" y="6019919"/>
                <a:ext cx="93734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IN" sz="1800" b="1" dirty="0" err="1">
                    <a:latin typeface="Consolas" panose="020B0609020204030204" pitchFamily="49" charset="0"/>
                  </a:rPr>
                  <a:t>dz_dx</a:t>
                </a:r>
                <a:endParaRPr lang="en-IN" b="1" dirty="0"/>
              </a:p>
            </p:txBody>
          </p:sp>
          <p:cxnSp>
            <p:nvCxnSpPr>
              <p:cNvPr id="110" name="Straight Arrow Connector 109">
                <a:extLst>
                  <a:ext uri="{FF2B5EF4-FFF2-40B4-BE49-F238E27FC236}">
                    <a16:creationId xmlns:a16="http://schemas.microsoft.com/office/drawing/2014/main" id="{BED93688-42DE-A58F-3227-8AAB76646207}"/>
                  </a:ext>
                </a:extLst>
              </p:cNvPr>
              <p:cNvCxnSpPr>
                <a:cxnSpLocks/>
                <a:endCxn id="106" idx="0"/>
              </p:cNvCxnSpPr>
              <p:nvPr/>
            </p:nvCxnSpPr>
            <p:spPr>
              <a:xfrm flipH="1">
                <a:off x="11219777" y="5198784"/>
                <a:ext cx="683590" cy="255516"/>
              </a:xfrm>
              <a:prstGeom prst="straightConnector1">
                <a:avLst/>
              </a:prstGeom>
              <a:ln>
                <a:solidFill>
                  <a:schemeClr val="accent4">
                    <a:lumMod val="40000"/>
                    <a:lumOff val="60000"/>
                  </a:schemeClr>
                </a:solidFill>
                <a:headEnd w="lg" len="lg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Arrow Connector 110">
                <a:extLst>
                  <a:ext uri="{FF2B5EF4-FFF2-40B4-BE49-F238E27FC236}">
                    <a16:creationId xmlns:a16="http://schemas.microsoft.com/office/drawing/2014/main" id="{66A65172-8BA1-7B6D-08B4-4EC7198D66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07168" y="2421290"/>
                <a:ext cx="552292" cy="0"/>
              </a:xfrm>
              <a:prstGeom prst="straightConnector1">
                <a:avLst/>
              </a:prstGeom>
              <a:ln>
                <a:solidFill>
                  <a:schemeClr val="accent4">
                    <a:lumMod val="40000"/>
                    <a:lumOff val="6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BA5E7DF1-26A9-DA7D-0A05-F7162368A911}"/>
              </a:ext>
            </a:extLst>
          </p:cNvPr>
          <p:cNvCxnSpPr>
            <a:cxnSpLocks/>
          </p:cNvCxnSpPr>
          <p:nvPr/>
        </p:nvCxnSpPr>
        <p:spPr>
          <a:xfrm>
            <a:off x="9664526" y="1936783"/>
            <a:ext cx="6967" cy="868934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1D055449-53B8-75C4-52C8-48B4B4C4DD43}"/>
              </a:ext>
            </a:extLst>
          </p:cNvPr>
          <p:cNvCxnSpPr>
            <a:cxnSpLocks/>
            <a:endCxn id="26" idx="0"/>
          </p:cNvCxnSpPr>
          <p:nvPr/>
        </p:nvCxnSpPr>
        <p:spPr>
          <a:xfrm>
            <a:off x="9678297" y="3360151"/>
            <a:ext cx="789892" cy="706575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CCD27D80-B22A-CBF9-3E1F-4AF41794E7A4}"/>
              </a:ext>
            </a:extLst>
          </p:cNvPr>
          <p:cNvCxnSpPr>
            <a:cxnSpLocks/>
          </p:cNvCxnSpPr>
          <p:nvPr/>
        </p:nvCxnSpPr>
        <p:spPr>
          <a:xfrm>
            <a:off x="10468189" y="4617652"/>
            <a:ext cx="0" cy="544016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16DF229-B58A-3BDC-5140-1680F98F4EB2}"/>
              </a:ext>
            </a:extLst>
          </p:cNvPr>
          <p:cNvSpPr txBox="1"/>
          <p:nvPr/>
        </p:nvSpPr>
        <p:spPr>
          <a:xfrm>
            <a:off x="8667657" y="2042950"/>
            <a:ext cx="14142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i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(3,1)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6C1C168-E37F-DF02-C216-B2BCE62B61B5}"/>
              </a:ext>
            </a:extLst>
          </p:cNvPr>
          <p:cNvSpPr txBox="1"/>
          <p:nvPr/>
        </p:nvSpPr>
        <p:spPr>
          <a:xfrm>
            <a:off x="10456365" y="4790186"/>
            <a:ext cx="14142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i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(3,1)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7E1FDF6-54C5-D15C-34B8-008FD756E28F}"/>
              </a:ext>
            </a:extLst>
          </p:cNvPr>
          <p:cNvSpPr txBox="1"/>
          <p:nvPr/>
        </p:nvSpPr>
        <p:spPr>
          <a:xfrm>
            <a:off x="8817800" y="6342606"/>
            <a:ext cx="14142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i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(3,1)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45A6E18-6717-40AA-BA34-4363DEEC9ED3}"/>
              </a:ext>
            </a:extLst>
          </p:cNvPr>
          <p:cNvSpPr txBox="1"/>
          <p:nvPr/>
        </p:nvSpPr>
        <p:spPr>
          <a:xfrm>
            <a:off x="10524318" y="4503155"/>
            <a:ext cx="5364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Consolas" panose="020B0609020204030204" pitchFamily="49" charset="0"/>
              </a:rPr>
              <a:t>z</a:t>
            </a:r>
            <a:endParaRPr lang="en-IN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2F2213-905B-4626-C0D3-01485CFD8DBD}"/>
              </a:ext>
            </a:extLst>
          </p:cNvPr>
          <p:cNvSpPr txBox="1"/>
          <p:nvPr/>
        </p:nvSpPr>
        <p:spPr>
          <a:xfrm>
            <a:off x="4210135" y="1115989"/>
            <a:ext cx="37717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Understanding output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CC713A8-F764-F351-8810-EC4BB4EC7749}"/>
              </a:ext>
            </a:extLst>
          </p:cNvPr>
          <p:cNvSpPr txBox="1"/>
          <p:nvPr/>
        </p:nvSpPr>
        <p:spPr>
          <a:xfrm>
            <a:off x="9574369" y="3469907"/>
            <a:ext cx="5364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Consolas" panose="020B0609020204030204" pitchFamily="49" charset="0"/>
              </a:rPr>
              <a:t>a</a:t>
            </a:r>
            <a:endParaRPr lang="en-IN" b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B1D9387-45FA-374A-A14C-778040893023}"/>
              </a:ext>
            </a:extLst>
          </p:cNvPr>
          <p:cNvSpPr txBox="1"/>
          <p:nvPr/>
        </p:nvSpPr>
        <p:spPr>
          <a:xfrm>
            <a:off x="11011504" y="3554508"/>
            <a:ext cx="5364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Consolas" panose="020B0609020204030204" pitchFamily="49" charset="0"/>
              </a:rPr>
              <a:t>b</a:t>
            </a:r>
            <a:endParaRPr lang="en-IN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6088988-48E1-A571-106B-D84940F42CAB}"/>
              </a:ext>
            </a:extLst>
          </p:cNvPr>
          <p:cNvSpPr txBox="1"/>
          <p:nvPr/>
        </p:nvSpPr>
        <p:spPr>
          <a:xfrm>
            <a:off x="9332166" y="3773586"/>
            <a:ext cx="14142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i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(3,1)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618171A-2A0C-6FFD-2BC0-729883E31922}"/>
              </a:ext>
            </a:extLst>
          </p:cNvPr>
          <p:cNvSpPr txBox="1"/>
          <p:nvPr/>
        </p:nvSpPr>
        <p:spPr>
          <a:xfrm>
            <a:off x="10850533" y="3777470"/>
            <a:ext cx="14142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i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(1,)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C4EFC114-3414-C8CD-58CB-DBBB5727EBE4}"/>
                  </a:ext>
                </a:extLst>
              </p:cNvPr>
              <p:cNvSpPr txBox="1"/>
              <p:nvPr/>
            </p:nvSpPr>
            <p:spPr>
              <a:xfrm>
                <a:off x="1494856" y="2519204"/>
                <a:ext cx="6266510" cy="21908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b="1" i="1" smtClean="0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m:rPr>
                              <m:nor/>
                            </m:rPr>
                            <a:rPr lang="en-US" sz="2000" b="1" i="0" smtClean="0"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m:rPr>
                              <m:nor/>
                            </m:rPr>
                            <a:rPr lang="en-IN" sz="2000" b="1" dirty="0"/>
                            <m:t> </m:t>
                          </m:r>
                        </m:num>
                        <m:den>
                          <m:r>
                            <a:rPr lang="en-IN" sz="2000" b="1" i="1" smtClean="0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en-US" sz="2000" b="1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den>
                      </m:f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b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x</m:t>
                                  </m:r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den>
                              </m:f>
                              <m:r>
                                <a:rPr lang="en-US" sz="2000" b="1" i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num>
                                <m:den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b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x</m:t>
                                  </m:r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den>
                              </m:f>
                              <m:r>
                                <a:rPr lang="en-US" sz="2000" b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num>
                                <m:den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b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x</m:t>
                                  </m:r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den>
                              </m:f>
                            </m:e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b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x</m:t>
                                  </m:r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  <m:r>
                                <a:rPr lang="en-US" sz="2000" b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num>
                                <m:den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b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x</m:t>
                                  </m:r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  <m:r>
                                <a:rPr lang="en-US" sz="2000" b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num>
                                <m:den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b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x</m:t>
                                  </m:r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e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b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x</m:t>
                                  </m:r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den>
                              </m:f>
                              <m:r>
                                <a:rPr lang="en-US" sz="2000" b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num>
                                <m:den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b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x</m:t>
                                  </m:r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den>
                              </m:f>
                              <m:r>
                                <a:rPr lang="en-US" sz="2000" b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num>
                                <m:den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b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x</m:t>
                                  </m:r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den>
                              </m:f>
                            </m:e>
                          </m:eqArr>
                        </m:e>
                      </m:d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𝟏𝟐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𝟐𝟕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IN" sz="2000" b="1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C4EFC114-3414-C8CD-58CB-DBBB5727EB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4856" y="2519204"/>
                <a:ext cx="6266510" cy="219085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1B5CF9A-482B-7461-8E1C-273603F3C3CA}"/>
              </a:ext>
            </a:extLst>
          </p:cNvPr>
          <p:cNvSpPr txBox="1"/>
          <p:nvPr/>
        </p:nvSpPr>
        <p:spPr>
          <a:xfrm>
            <a:off x="631492" y="5401179"/>
            <a:ext cx="794257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The change in output with respect to an input element is taken as the sum of the changes in all output elements</a:t>
            </a:r>
            <a:endParaRPr lang="en-IN" sz="2000" b="1" dirty="0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0539BE03-F2EF-407A-2A44-90D774565634}"/>
              </a:ext>
            </a:extLst>
          </p:cNvPr>
          <p:cNvGrpSpPr/>
          <p:nvPr/>
        </p:nvGrpSpPr>
        <p:grpSpPr>
          <a:xfrm>
            <a:off x="127106" y="1777683"/>
            <a:ext cx="5431629" cy="2198786"/>
            <a:chOff x="1231317" y="1788605"/>
            <a:chExt cx="5431629" cy="219878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FD557944-F8D7-8E6C-D976-4AAD5BE41EF4}"/>
                    </a:ext>
                  </a:extLst>
                </p:cNvPr>
                <p:cNvSpPr txBox="1"/>
                <p:nvPr/>
              </p:nvSpPr>
              <p:spPr>
                <a:xfrm>
                  <a:off x="1231317" y="1796535"/>
                  <a:ext cx="3494273" cy="219085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IN" sz="2000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1" i="1" smtClean="0">
                                <a:latin typeface="Cambria Math" panose="02040503050406030204" pitchFamily="18" charset="0"/>
                              </a:rPr>
                              <m:t>𝝏</m:t>
                            </m:r>
                            <m:r>
                              <m:rPr>
                                <m:nor/>
                              </m:rPr>
                              <a:rPr lang="en-IN" sz="2000" b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a</m:t>
                            </m:r>
                            <m:r>
                              <m:rPr>
                                <m:nor/>
                              </m:rPr>
                              <a:rPr lang="en-IN" sz="2000" b="1" dirty="0"/>
                              <m:t> </m:t>
                            </m:r>
                          </m:num>
                          <m:den>
                            <m:r>
                              <a:rPr lang="en-IN" sz="2000" b="1" i="1" smtClean="0">
                                <a:latin typeface="Cambria Math" panose="02040503050406030204" pitchFamily="18" charset="0"/>
                              </a:rPr>
                              <m:t>𝝏</m:t>
                            </m:r>
                            <m:r>
                              <a:rPr lang="en-US" sz="2000" b="1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den>
                        </m:f>
                        <m:f>
                          <m:fPr>
                            <m:ctrlPr>
                              <a:rPr lang="en-IN" sz="20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1" i="1">
                                <a:latin typeface="Cambria Math" panose="02040503050406030204" pitchFamily="18" charset="0"/>
                              </a:rPr>
                              <m:t>𝝏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𝒛</m:t>
                            </m:r>
                          </m:num>
                          <m:den>
                            <m:r>
                              <a:rPr lang="en-IN" sz="2000" b="1" i="1">
                                <a:latin typeface="Cambria Math" panose="02040503050406030204" pitchFamily="18" charset="0"/>
                              </a:rPr>
                              <m:t>𝝏</m:t>
                            </m:r>
                            <m:r>
                              <m:rPr>
                                <m:nor/>
                              </m:rPr>
                              <a:rPr lang="en-IN" sz="2000" b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a</m:t>
                            </m:r>
                          </m:den>
                        </m:f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sz="2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f>
                                  <m:fPr>
                                    <m:ctrlPr>
                                      <a:rPr lang="en-US" sz="2000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2000" b="1" dirty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a</m:t>
                                    </m:r>
                                    <m:r>
                                      <a:rPr lang="en-US" sz="2000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2000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sz="2000" b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  <m:r>
                                      <a:rPr lang="en-US" sz="2000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den>
                                </m:f>
                                <m:r>
                                  <a:rPr lang="en-US" sz="2000" b="1" i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f>
                                  <m:fPr>
                                    <m:ctrlPr>
                                      <a:rPr lang="en-US" sz="2000" b="1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1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2000" b="1" dirty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a</m:t>
                                    </m:r>
                                    <m:r>
                                      <a:rPr lang="en-US" sz="2000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lang="en-US" sz="2000" b="1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sz="2000" b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  <m:r>
                                      <a:rPr lang="en-US" sz="2000" b="1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den>
                                </m:f>
                                <m:r>
                                  <a:rPr lang="en-US" sz="2000" b="1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f>
                                  <m:fPr>
                                    <m:ctrlPr>
                                      <a:rPr lang="en-US" sz="2000" b="1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1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2000" b="1" dirty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a</m:t>
                                    </m:r>
                                    <m:r>
                                      <a:rPr lang="en-US" sz="2000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lang="en-US" sz="2000" b="1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sz="2000" b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  <m:r>
                                      <a:rPr lang="en-US" sz="2000" b="1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sz="20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2000" b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a</m:t>
                                    </m:r>
                                    <m:r>
                                      <a:rPr lang="en-US" sz="20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20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sz="2000" b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  <m:r>
                                      <a:rPr lang="en-US" sz="20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  <m:r>
                                  <a:rPr lang="en-US" sz="20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f>
                                  <m:fPr>
                                    <m:ctrlPr>
                                      <a:rPr lang="en-US" sz="20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2000" b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a</m:t>
                                    </m:r>
                                    <m:r>
                                      <a:rPr lang="en-US" sz="20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lang="en-US" sz="20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sz="2000" b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  <m:r>
                                      <a:rPr lang="en-US" sz="20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f>
                                  <m:fPr>
                                    <m:ctrlPr>
                                      <a:rPr lang="en-US" sz="20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2000" b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a</m:t>
                                    </m:r>
                                    <m:r>
                                      <a:rPr lang="en-US" sz="20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lang="en-US" sz="20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sz="2000" b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  <m:r>
                                      <a:rPr lang="en-US" sz="20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2000" b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a</m:t>
                                    </m:r>
                                    <m:r>
                                      <a:rPr lang="en-US" sz="20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20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sz="2000" b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  <m:r>
                                      <a:rPr lang="en-US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den>
                                </m:f>
                                <m:r>
                                  <a:rPr lang="en-US" sz="2000" b="1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f>
                                  <m:fPr>
                                    <m:ctrlPr>
                                      <a:rPr lang="en-US" sz="20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2000" b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a</m:t>
                                    </m:r>
                                    <m:r>
                                      <a:rPr lang="en-US" sz="20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lang="en-US" sz="20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sz="2000" b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  <m:r>
                                      <a:rPr lang="en-US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den>
                                </m:f>
                                <m:r>
                                  <a:rPr lang="en-US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f>
                                  <m:fPr>
                                    <m:ctrlPr>
                                      <a:rPr lang="en-US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2000" b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a</m:t>
                                    </m:r>
                                    <m:r>
                                      <a:rPr lang="en-US" sz="20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lang="en-US" sz="20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sz="2000" b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  <m:r>
                                      <a:rPr lang="en-US" sz="20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den>
                                </m:f>
                              </m:e>
                            </m:eqArr>
                          </m:e>
                        </m:d>
                      </m:oMath>
                    </m:oMathPara>
                  </a14:m>
                  <a:endParaRPr lang="en-IN" sz="2000" b="1" dirty="0"/>
                </a:p>
              </p:txBody>
            </p:sp>
          </mc:Choice>
          <mc:Fallback xmlns="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FD557944-F8D7-8E6C-D976-4AAD5BE41E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1317" y="1796535"/>
                  <a:ext cx="3494273" cy="2190856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45878028-3FE5-B1D0-D5B2-93F0DA5B71B5}"/>
                    </a:ext>
                  </a:extLst>
                </p:cNvPr>
                <p:cNvSpPr txBox="1"/>
                <p:nvPr/>
              </p:nvSpPr>
              <p:spPr>
                <a:xfrm>
                  <a:off x="4383650" y="1788605"/>
                  <a:ext cx="2279296" cy="219085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IN" sz="2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f>
                                  <m:fPr>
                                    <m:ctrlPr>
                                      <a:rPr lang="en-US" sz="2000" b="1" i="1" smtClean="0">
                                        <a:solidFill>
                                          <a:srgbClr val="3333CC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1" i="1" smtClean="0">
                                        <a:solidFill>
                                          <a:srgbClr val="3333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sz="2000" b="1" i="1" smtClean="0">
                                        <a:solidFill>
                                          <a:srgbClr val="3333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𝒛</m:t>
                                    </m:r>
                                    <m:r>
                                      <a:rPr lang="en-US" sz="2000" b="1" i="1" smtClean="0">
                                        <a:solidFill>
                                          <a:srgbClr val="3333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2000" b="1" i="1" smtClean="0">
                                        <a:solidFill>
                                          <a:srgbClr val="3333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2000" b="1" dirty="0">
                                        <a:solidFill>
                                          <a:srgbClr val="3333CC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a</m:t>
                                    </m:r>
                                    <m:r>
                                      <a:rPr lang="en-US" sz="2000" b="1" i="1" smtClean="0">
                                        <a:solidFill>
                                          <a:srgbClr val="3333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den>
                                </m:f>
                                <m:r>
                                  <a:rPr lang="en-US" sz="2000" b="1" i="0" smtClean="0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f>
                                  <m:fPr>
                                    <m:ctrlPr>
                                      <a:rPr lang="en-US" sz="2000" b="1" i="1" smtClean="0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1" i="1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sz="2000" b="1" i="1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𝒛</m:t>
                                    </m:r>
                                    <m:r>
                                      <a:rPr lang="en-US" sz="2000" b="1" i="1" smtClean="0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lang="en-US" sz="2000" b="1" i="1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2000" b="1" dirty="0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a</m:t>
                                    </m:r>
                                    <m:r>
                                      <a:rPr lang="en-US" sz="2000" b="1" i="1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den>
                                </m:f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f>
                                  <m:fPr>
                                    <m:ctrlPr>
                                      <a:rPr lang="en-US" sz="2000" b="1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1" i="1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sz="2000" b="1" i="1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𝒛</m:t>
                                    </m:r>
                                    <m:r>
                                      <a:rPr lang="en-US" sz="2000" b="1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lang="en-US" sz="2000" b="1" i="1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2000" b="1" dirty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a</m:t>
                                    </m:r>
                                    <m:r>
                                      <a:rPr lang="en-US" sz="2000" b="1" i="1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sz="2000" b="1" i="1" smtClean="0">
                                        <a:solidFill>
                                          <a:srgbClr val="3333CC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1" i="1">
                                        <a:solidFill>
                                          <a:srgbClr val="3333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sz="2000" b="1" i="1">
                                        <a:solidFill>
                                          <a:srgbClr val="3333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𝒛</m:t>
                                    </m:r>
                                    <m:r>
                                      <a:rPr lang="en-US" sz="2000" b="1" i="1">
                                        <a:solidFill>
                                          <a:srgbClr val="3333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2000" b="1" i="1">
                                        <a:solidFill>
                                          <a:srgbClr val="3333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2000" b="1" dirty="0">
                                        <a:solidFill>
                                          <a:srgbClr val="3333CC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a</m:t>
                                    </m:r>
                                    <m:r>
                                      <a:rPr lang="en-US" sz="2000" b="1" i="1" smtClean="0">
                                        <a:solidFill>
                                          <a:srgbClr val="3333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f>
                                  <m:fPr>
                                    <m:ctrlPr>
                                      <a:rPr lang="en-US" sz="2000" b="1" i="1" smtClean="0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1" i="1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sz="2000" b="1" i="1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𝒛</m:t>
                                    </m:r>
                                    <m:r>
                                      <a:rPr lang="en-US" sz="2000" b="1" i="1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lang="en-US" sz="2000" b="1" i="1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2000" b="1" dirty="0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a</m:t>
                                    </m:r>
                                    <m:r>
                                      <a:rPr lang="en-US" sz="2000" b="1" i="1" smtClean="0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f>
                                  <m:fPr>
                                    <m:ctrlPr>
                                      <a:rPr lang="en-US" sz="2000" b="1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1" i="1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sz="2000" b="1" i="1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𝒛</m:t>
                                    </m:r>
                                    <m:r>
                                      <a:rPr lang="en-US" sz="2000" b="1" i="1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lang="en-US" sz="2000" b="1" i="1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2000" b="1" dirty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a</m:t>
                                    </m:r>
                                    <m:r>
                                      <a:rPr lang="en-US" sz="2000" b="1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sz="2000" b="1" i="1" smtClean="0">
                                        <a:solidFill>
                                          <a:srgbClr val="3333CC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1" i="1">
                                        <a:solidFill>
                                          <a:srgbClr val="3333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sz="2000" b="1" i="1">
                                        <a:solidFill>
                                          <a:srgbClr val="3333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𝒛</m:t>
                                    </m:r>
                                    <m:r>
                                      <a:rPr lang="en-US" sz="2000" b="1" i="1">
                                        <a:solidFill>
                                          <a:srgbClr val="3333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2000" b="1" i="1">
                                        <a:solidFill>
                                          <a:srgbClr val="3333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2000" b="1" dirty="0">
                                        <a:solidFill>
                                          <a:srgbClr val="3333CC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a</m:t>
                                    </m:r>
                                    <m:r>
                                      <a:rPr lang="en-US" sz="2000" b="1" i="1" smtClean="0">
                                        <a:solidFill>
                                          <a:srgbClr val="3333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den>
                                </m:f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f>
                                  <m:fPr>
                                    <m:ctrlPr>
                                      <a:rPr lang="en-US" sz="2000" b="1" i="1" smtClean="0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1" i="1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sz="2000" b="1" i="1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𝒛</m:t>
                                    </m:r>
                                    <m:r>
                                      <a:rPr lang="en-US" sz="2000" b="1" i="1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lang="en-US" sz="2000" b="1" i="1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2000" b="1" dirty="0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a</m:t>
                                    </m:r>
                                    <m:r>
                                      <a:rPr lang="en-US" sz="2000" b="1" i="1" smtClean="0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den>
                                </m:f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f>
                                  <m:fPr>
                                    <m:ctrlPr>
                                      <a:rPr lang="en-US" sz="2000" b="1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1" i="1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sz="2000" b="1" i="1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𝒛</m:t>
                                    </m:r>
                                    <m:r>
                                      <a:rPr lang="en-US" sz="2000" b="1" i="1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lang="en-US" sz="2000" b="1" i="1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2000" b="1" dirty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a</m:t>
                                    </m:r>
                                    <m:r>
                                      <a:rPr lang="en-US" sz="2000" b="1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den>
                                </m:f>
                              </m:e>
                            </m:eqArr>
                          </m:e>
                        </m:d>
                      </m:oMath>
                    </m:oMathPara>
                  </a14:m>
                  <a:endParaRPr lang="en-IN" sz="2000" b="1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45878028-3FE5-B1D0-D5B2-93F0DA5B71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650" y="1788605"/>
                  <a:ext cx="2279296" cy="2190856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574D6A56-11F0-B8F7-DBBF-6B35A6C70D0C}"/>
              </a:ext>
            </a:extLst>
          </p:cNvPr>
          <p:cNvGrpSpPr/>
          <p:nvPr/>
        </p:nvGrpSpPr>
        <p:grpSpPr>
          <a:xfrm>
            <a:off x="-53976" y="3947882"/>
            <a:ext cx="8947544" cy="2322128"/>
            <a:chOff x="-53976" y="3947882"/>
            <a:chExt cx="8947544" cy="2322128"/>
          </a:xfrm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270DB5B8-60EF-F553-A242-4EC62DD3897C}"/>
                </a:ext>
              </a:extLst>
            </p:cNvPr>
            <p:cNvGrpSpPr/>
            <p:nvPr/>
          </p:nvGrpSpPr>
          <p:grpSpPr>
            <a:xfrm>
              <a:off x="450983" y="3947882"/>
              <a:ext cx="8442585" cy="2322128"/>
              <a:chOff x="406379" y="3992486"/>
              <a:chExt cx="8442585" cy="2322128"/>
            </a:xfrm>
          </p:grpSpPr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EF7D0334-3CFD-5A5E-94ED-3AEEC1F9C9CC}"/>
                  </a:ext>
                </a:extLst>
              </p:cNvPr>
              <p:cNvGrpSpPr/>
              <p:nvPr/>
            </p:nvGrpSpPr>
            <p:grpSpPr>
              <a:xfrm flipH="1">
                <a:off x="7811237" y="3992486"/>
                <a:ext cx="941686" cy="2306834"/>
                <a:chOff x="491997" y="3923840"/>
                <a:chExt cx="865009" cy="2449720"/>
              </a:xfrm>
            </p:grpSpPr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7F8D2FBA-6D16-5156-0574-1B955BEC2648}"/>
                    </a:ext>
                  </a:extLst>
                </p:cNvPr>
                <p:cNvSpPr/>
                <p:nvPr/>
              </p:nvSpPr>
              <p:spPr>
                <a:xfrm>
                  <a:off x="491997" y="4142918"/>
                  <a:ext cx="712609" cy="2078242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0D23387A-F711-390D-ACDE-0A496839034F}"/>
                    </a:ext>
                  </a:extLst>
                </p:cNvPr>
                <p:cNvSpPr/>
                <p:nvPr/>
              </p:nvSpPr>
              <p:spPr>
                <a:xfrm>
                  <a:off x="644397" y="3923840"/>
                  <a:ext cx="712609" cy="244972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</p:grpSp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E6F66F83-6D70-E025-385B-A72CEBA17F6F}"/>
                  </a:ext>
                </a:extLst>
              </p:cNvPr>
              <p:cNvGrpSpPr/>
              <p:nvPr/>
            </p:nvGrpSpPr>
            <p:grpSpPr>
              <a:xfrm>
                <a:off x="406379" y="4007780"/>
                <a:ext cx="8442585" cy="2306834"/>
                <a:chOff x="406379" y="4007780"/>
                <a:chExt cx="8442585" cy="2306834"/>
              </a:xfrm>
            </p:grpSpPr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595505A4-5946-C7B6-F419-7DD06810D77F}"/>
                    </a:ext>
                  </a:extLst>
                </p:cNvPr>
                <p:cNvGrpSpPr/>
                <p:nvPr/>
              </p:nvGrpSpPr>
              <p:grpSpPr>
                <a:xfrm>
                  <a:off x="457429" y="4007780"/>
                  <a:ext cx="865009" cy="2306834"/>
                  <a:chOff x="491997" y="3923840"/>
                  <a:chExt cx="865009" cy="2449720"/>
                </a:xfrm>
              </p:grpSpPr>
              <p:sp>
                <p:nvSpPr>
                  <p:cNvPr id="55" name="Rectangle 54">
                    <a:extLst>
                      <a:ext uri="{FF2B5EF4-FFF2-40B4-BE49-F238E27FC236}">
                        <a16:creationId xmlns:a16="http://schemas.microsoft.com/office/drawing/2014/main" id="{90FC29E6-FA98-FC24-85A8-8CF7704ABC3C}"/>
                      </a:ext>
                    </a:extLst>
                  </p:cNvPr>
                  <p:cNvSpPr/>
                  <p:nvPr/>
                </p:nvSpPr>
                <p:spPr>
                  <a:xfrm>
                    <a:off x="491997" y="4142918"/>
                    <a:ext cx="712609" cy="2078242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  <p:sp>
                <p:nvSpPr>
                  <p:cNvPr id="56" name="Rectangle 55">
                    <a:extLst>
                      <a:ext uri="{FF2B5EF4-FFF2-40B4-BE49-F238E27FC236}">
                        <a16:creationId xmlns:a16="http://schemas.microsoft.com/office/drawing/2014/main" id="{59B5761C-4E7D-A196-BB86-8DC3683FEC11}"/>
                      </a:ext>
                    </a:extLst>
                  </p:cNvPr>
                  <p:cNvSpPr/>
                  <p:nvPr/>
                </p:nvSpPr>
                <p:spPr>
                  <a:xfrm>
                    <a:off x="644397" y="3923840"/>
                    <a:ext cx="712609" cy="2449720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" name="TextBox 22">
                      <a:extLst>
                        <a:ext uri="{FF2B5EF4-FFF2-40B4-BE49-F238E27FC236}">
                          <a16:creationId xmlns:a16="http://schemas.microsoft.com/office/drawing/2014/main" id="{E2EA29D9-2BD6-44FB-DD57-143476F1FF7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06379" y="4284729"/>
                      <a:ext cx="2778105" cy="501997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f>
                              <m:fPr>
                                <m:ctrlPr>
                                  <a:rPr lang="en-US" sz="1400" b="1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400" b="1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m:rPr>
                                    <m:nor/>
                                  </m:rPr>
                                  <a:rPr lang="en-IN" sz="1400" b="1" dirty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sz="1400" b="1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n-US" sz="1400" b="1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1400" b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  <m:r>
                                  <a:rPr lang="en-US" sz="1400" b="1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den>
                            </m:f>
                            <m:f>
                              <m:fPr>
                                <m:ctrlPr>
                                  <a:rPr lang="en-US" sz="1400" b="1" i="1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400" b="1" i="1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1400" b="1" i="1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  <m:r>
                                  <a:rPr lang="en-US" sz="1400" b="1" i="1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n-US" sz="1400" b="1" i="1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m:rPr>
                                    <m:nor/>
                                  </m:rPr>
                                  <a:rPr lang="en-IN" sz="1400" b="1" dirty="0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sz="1400" b="1" i="1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den>
                            </m:f>
                            <m:r>
                              <a:rPr lang="en-US" sz="1400" b="1" i="1" smtClean="0">
                                <a:solidFill>
                                  <a:srgbClr val="3333CC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1400" b="1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400" b="1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m:rPr>
                                    <m:nor/>
                                  </m:rPr>
                                  <a:rPr lang="en-IN" sz="1400" b="1" dirty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sz="1400" b="1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num>
                              <m:den>
                                <m:r>
                                  <a:rPr lang="en-US" sz="1400" b="1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1400" b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  <m:r>
                                  <a:rPr lang="en-US" sz="1400" b="1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den>
                            </m:f>
                            <m:f>
                              <m:fPr>
                                <m:ctrlPr>
                                  <a:rPr lang="en-US" sz="1400" b="1" i="1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400" b="1" i="1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1400" b="1" i="1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  <m:r>
                                  <a:rPr lang="en-US" sz="1400" b="1" i="1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n-US" sz="1400" b="1" i="1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m:rPr>
                                    <m:nor/>
                                  </m:rPr>
                                  <a:rPr lang="en-IN" sz="1400" b="1" dirty="0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sz="1400" b="1" i="1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  <m:r>
                              <a:rPr lang="en-US" sz="1400" b="1" i="1" smtClean="0">
                                <a:solidFill>
                                  <a:srgbClr val="3333CC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1400" b="1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400" b="1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m:rPr>
                                    <m:nor/>
                                  </m:rPr>
                                  <a:rPr lang="en-IN" sz="1400" b="1" dirty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sz="1400" b="1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num>
                              <m:den>
                                <m:r>
                                  <a:rPr lang="en-US" sz="1400" b="1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1400" b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  <m:r>
                                  <a:rPr lang="en-US" sz="1400" b="1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den>
                            </m:f>
                            <m:f>
                              <m:fPr>
                                <m:ctrlPr>
                                  <a:rPr lang="en-US" sz="1400" b="1" i="1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400" b="1" i="1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1400" b="1" i="1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  <m:r>
                                  <a:rPr lang="en-US" sz="1400" b="1" i="1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n-US" sz="1400" b="1" i="1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m:rPr>
                                    <m:nor/>
                                  </m:rPr>
                                  <a:rPr lang="en-IN" sz="1400" b="1" dirty="0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sz="1400" b="1" i="1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den>
                            </m:f>
                          </m:oMath>
                        </m:oMathPara>
                      </a14:m>
                      <a:endParaRPr lang="en-IN" sz="1400" dirty="0"/>
                    </a:p>
                  </p:txBody>
                </p:sp>
              </mc:Choice>
              <mc:Fallback xmlns="">
                <p:sp>
                  <p:nvSpPr>
                    <p:cNvPr id="23" name="TextBox 22">
                      <a:extLst>
                        <a:ext uri="{FF2B5EF4-FFF2-40B4-BE49-F238E27FC236}">
                          <a16:creationId xmlns:a16="http://schemas.microsoft.com/office/drawing/2014/main" id="{E2EA29D9-2BD6-44FB-DD57-143476F1FF7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06379" y="4284729"/>
                      <a:ext cx="2778105" cy="501997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 b="-243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7" name="TextBox 26">
                      <a:extLst>
                        <a:ext uri="{FF2B5EF4-FFF2-40B4-BE49-F238E27FC236}">
                          <a16:creationId xmlns:a16="http://schemas.microsoft.com/office/drawing/2014/main" id="{DA2C1320-D774-6436-10F0-484A7B8E997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200911" y="4274494"/>
                      <a:ext cx="2818115" cy="501997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f>
                              <m:fPr>
                                <m:ctrlPr>
                                  <a:rPr lang="en-US" sz="1400" b="1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400" b="1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m:rPr>
                                    <m:nor/>
                                  </m:rPr>
                                  <a:rPr lang="en-IN" sz="1400" b="1" dirty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sz="1400" b="1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n-US" sz="1400" b="1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1400" b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  <m:r>
                                  <a:rPr lang="en-US" sz="1400" b="1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den>
                            </m:f>
                            <m:f>
                              <m:fPr>
                                <m:ctrlPr>
                                  <a:rPr lang="en-US" sz="1400" b="1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400" b="1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1400" b="1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  <m:r>
                                  <a:rPr lang="en-US" sz="1400" b="1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num>
                              <m:den>
                                <m:r>
                                  <a:rPr lang="en-US" sz="1400" b="1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m:rPr>
                                    <m:nor/>
                                  </m:rPr>
                                  <a:rPr lang="en-IN" sz="1400" b="1" dirty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sz="1400" b="1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den>
                            </m:f>
                            <m:r>
                              <a:rPr lang="en-US" sz="1400" b="1" i="1" smtClean="0">
                                <a:solidFill>
                                  <a:srgbClr val="3333CC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1400" b="1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400" b="1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m:rPr>
                                    <m:nor/>
                                  </m:rPr>
                                  <a:rPr lang="en-IN" sz="1400" b="1" dirty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sz="1400" b="1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num>
                              <m:den>
                                <m:r>
                                  <a:rPr lang="en-US" sz="1400" b="1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1400" b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  <m:r>
                                  <a:rPr lang="en-US" sz="1400" b="1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den>
                            </m:f>
                            <m:f>
                              <m:fPr>
                                <m:ctrlPr>
                                  <a:rPr lang="en-US" sz="1400" b="1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400" b="1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1400" b="1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  <m:r>
                                  <a:rPr lang="en-US" sz="1400" b="1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num>
                              <m:den>
                                <m:r>
                                  <a:rPr lang="en-US" sz="1400" b="1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m:rPr>
                                    <m:nor/>
                                  </m:rPr>
                                  <a:rPr lang="en-IN" sz="1400" b="1" dirty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sz="1400" b="1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  <m:r>
                              <a:rPr lang="en-US" sz="1400" b="1" i="1" smtClean="0">
                                <a:solidFill>
                                  <a:srgbClr val="3333CC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1400" b="1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400" b="1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m:rPr>
                                    <m:nor/>
                                  </m:rPr>
                                  <a:rPr lang="en-IN" sz="1400" b="1" dirty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sz="1400" b="1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num>
                              <m:den>
                                <m:r>
                                  <a:rPr lang="en-US" sz="1400" b="1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1400" b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  <m:r>
                                  <a:rPr lang="en-US" sz="1400" b="1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den>
                            </m:f>
                            <m:f>
                              <m:fPr>
                                <m:ctrlPr>
                                  <a:rPr lang="en-US" sz="1400" b="1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400" b="1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1400" b="1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  <m:r>
                                  <a:rPr lang="en-US" sz="1400" b="1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num>
                              <m:den>
                                <m:r>
                                  <a:rPr lang="en-US" sz="1400" b="1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m:rPr>
                                    <m:nor/>
                                  </m:rPr>
                                  <a:rPr lang="en-IN" sz="1400" b="1" dirty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sz="1400" b="1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den>
                            </m:f>
                          </m:oMath>
                        </m:oMathPara>
                      </a14:m>
                      <a:endParaRPr lang="en-IN" sz="1400" dirty="0"/>
                    </a:p>
                  </p:txBody>
                </p:sp>
              </mc:Choice>
              <mc:Fallback xmlns="">
                <p:sp>
                  <p:nvSpPr>
                    <p:cNvPr id="27" name="TextBox 26">
                      <a:extLst>
                        <a:ext uri="{FF2B5EF4-FFF2-40B4-BE49-F238E27FC236}">
                          <a16:creationId xmlns:a16="http://schemas.microsoft.com/office/drawing/2014/main" id="{DA2C1320-D774-6436-10F0-484A7B8E997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00911" y="4274494"/>
                      <a:ext cx="2818115" cy="501997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 b="-243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7" name="TextBox 36">
                      <a:extLst>
                        <a:ext uri="{FF2B5EF4-FFF2-40B4-BE49-F238E27FC236}">
                          <a16:creationId xmlns:a16="http://schemas.microsoft.com/office/drawing/2014/main" id="{F9BB59D0-8A31-5DB3-27DF-9639DFF7F92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030849" y="4283114"/>
                      <a:ext cx="2818115" cy="501997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f>
                              <m:fPr>
                                <m:ctrlPr>
                                  <a:rPr lang="en-US" sz="1400" b="1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400" b="1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m:rPr>
                                    <m:nor/>
                                  </m:rPr>
                                  <a:rPr lang="en-IN" sz="1400" b="1" dirty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sz="1400" b="1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n-US" sz="1400" b="1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1400" b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  <m:r>
                                  <a:rPr lang="en-US" sz="1400" b="1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den>
                            </m:f>
                            <m:f>
                              <m:fPr>
                                <m:ctrlPr>
                                  <a:rPr lang="en-US" sz="1400" b="1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400" b="1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1400" b="1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  <m:r>
                                  <a:rPr lang="en-US" sz="1400" b="1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num>
                              <m:den>
                                <m:r>
                                  <a:rPr lang="en-US" sz="1400" b="1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m:rPr>
                                    <m:nor/>
                                  </m:rPr>
                                  <a:rPr lang="en-IN" sz="1400" b="1" dirty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sz="1400" b="1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den>
                            </m:f>
                            <m:r>
                              <a:rPr lang="en-US" sz="1400" b="1" i="1" smtClean="0">
                                <a:solidFill>
                                  <a:srgbClr val="3333CC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1400" b="1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400" b="1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m:rPr>
                                    <m:nor/>
                                  </m:rPr>
                                  <a:rPr lang="en-IN" sz="1400" b="1" dirty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sz="1400" b="1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num>
                              <m:den>
                                <m:r>
                                  <a:rPr lang="en-US" sz="1400" b="1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1400" b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  <m:r>
                                  <a:rPr lang="en-US" sz="1400" b="1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den>
                            </m:f>
                            <m:f>
                              <m:fPr>
                                <m:ctrlPr>
                                  <a:rPr lang="en-US" sz="1400" b="1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400" b="1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1400" b="1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  <m:r>
                                  <a:rPr lang="en-US" sz="1400" b="1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num>
                              <m:den>
                                <m:r>
                                  <a:rPr lang="en-US" sz="1400" b="1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m:rPr>
                                    <m:nor/>
                                  </m:rPr>
                                  <a:rPr lang="en-IN" sz="1400" b="1" dirty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sz="1400" b="1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  <m:r>
                              <a:rPr lang="en-US" sz="1400" b="1" i="1" smtClean="0">
                                <a:solidFill>
                                  <a:srgbClr val="3333CC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1400" b="1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400" b="1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m:rPr>
                                    <m:nor/>
                                  </m:rPr>
                                  <a:rPr lang="en-IN" sz="1400" b="1" dirty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sz="1400" b="1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num>
                              <m:den>
                                <m:r>
                                  <a:rPr lang="en-US" sz="1400" b="1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1400" b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  <m:r>
                                  <a:rPr lang="en-US" sz="1400" b="1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den>
                            </m:f>
                            <m:f>
                              <m:fPr>
                                <m:ctrlPr>
                                  <a:rPr lang="en-US" sz="1400" b="1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400" b="1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1400" b="1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  <m:r>
                                  <a:rPr lang="en-US" sz="1400" b="1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num>
                              <m:den>
                                <m:r>
                                  <a:rPr lang="en-US" sz="1400" b="1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m:rPr>
                                    <m:nor/>
                                  </m:rPr>
                                  <a:rPr lang="en-IN" sz="1400" b="1" dirty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sz="1400" b="1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den>
                            </m:f>
                          </m:oMath>
                        </m:oMathPara>
                      </a14:m>
                      <a:endParaRPr lang="en-IN" sz="1400" dirty="0"/>
                    </a:p>
                  </p:txBody>
                </p:sp>
              </mc:Choice>
              <mc:Fallback xmlns="">
                <p:sp>
                  <p:nvSpPr>
                    <p:cNvPr id="37" name="TextBox 36">
                      <a:extLst>
                        <a:ext uri="{FF2B5EF4-FFF2-40B4-BE49-F238E27FC236}">
                          <a16:creationId xmlns:a16="http://schemas.microsoft.com/office/drawing/2014/main" id="{F9BB59D0-8A31-5DB3-27DF-9639DFF7F92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030849" y="4283114"/>
                      <a:ext cx="2818115" cy="501997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 b="-120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7" name="TextBox 46">
                      <a:extLst>
                        <a:ext uri="{FF2B5EF4-FFF2-40B4-BE49-F238E27FC236}">
                          <a16:creationId xmlns:a16="http://schemas.microsoft.com/office/drawing/2014/main" id="{A3B738C9-8F84-BCBF-7DE9-5C3B24AB38D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91997" y="4893138"/>
                      <a:ext cx="2606867" cy="501997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f>
                              <m:fPr>
                                <m:ctrlPr>
                                  <a:rPr lang="en-US" sz="1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m:rPr>
                                    <m:nor/>
                                  </m:rPr>
                                  <a:rPr lang="en-IN" sz="1400" b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sz="1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n-US" sz="1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1400" b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  <m:r>
                                  <a:rPr lang="en-US" sz="1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  <m:f>
                              <m:fPr>
                                <m:ctrlPr>
                                  <a:rPr lang="en-US" sz="1400" b="1" i="1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400" b="1" i="1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1400" b="1" i="1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  <m:r>
                                  <a:rPr lang="en-US" sz="1400" b="1" i="1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n-US" sz="1400" b="1" i="1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m:rPr>
                                    <m:nor/>
                                  </m:rPr>
                                  <a:rPr lang="en-IN" sz="1400" b="1" dirty="0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sz="1400" b="1" i="1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den>
                            </m:f>
                            <m:r>
                              <a:rPr lang="en-US" sz="1400" b="1" i="1" smtClean="0">
                                <a:solidFill>
                                  <a:srgbClr val="3333CC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1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4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m:rPr>
                                    <m:nor/>
                                  </m:rPr>
                                  <a:rPr lang="en-IN" sz="1400" b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sz="1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num>
                              <m:den>
                                <m:r>
                                  <a:rPr lang="en-US" sz="14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1400" b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  <m:r>
                                  <a:rPr lang="en-US" sz="1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  <m:f>
                              <m:fPr>
                                <m:ctrlPr>
                                  <a:rPr lang="en-US" sz="1400" b="1" i="1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400" b="1" i="1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1400" b="1" i="1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  <m:r>
                                  <a:rPr lang="en-US" sz="1400" b="1" i="1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n-US" sz="1400" b="1" i="1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m:rPr>
                                    <m:nor/>
                                  </m:rPr>
                                  <a:rPr lang="en-IN" sz="1400" b="1" dirty="0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sz="1400" b="1" i="1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  <m:r>
                              <a:rPr lang="en-US" sz="1400" b="1" i="1" smtClean="0">
                                <a:solidFill>
                                  <a:srgbClr val="3333CC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1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4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m:rPr>
                                    <m:nor/>
                                  </m:rPr>
                                  <a:rPr lang="en-IN" sz="1400" b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sz="1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num>
                              <m:den>
                                <m:r>
                                  <a:rPr lang="en-US" sz="14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1400" b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  <m:r>
                                  <a:rPr lang="en-US" sz="1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  <m:f>
                              <m:fPr>
                                <m:ctrlPr>
                                  <a:rPr lang="en-US" sz="1400" b="1" i="1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400" b="1" i="1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1400" b="1" i="1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  <m:r>
                                  <a:rPr lang="en-US" sz="1400" b="1" i="1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n-US" sz="1400" b="1" i="1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m:rPr>
                                    <m:nor/>
                                  </m:rPr>
                                  <a:rPr lang="en-IN" sz="1400" b="1" dirty="0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sz="1400" b="1" i="1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den>
                            </m:f>
                          </m:oMath>
                        </m:oMathPara>
                      </a14:m>
                      <a:endParaRPr lang="en-IN" sz="1400" dirty="0"/>
                    </a:p>
                  </p:txBody>
                </p:sp>
              </mc:Choice>
              <mc:Fallback xmlns="">
                <p:sp>
                  <p:nvSpPr>
                    <p:cNvPr id="47" name="TextBox 46">
                      <a:extLst>
                        <a:ext uri="{FF2B5EF4-FFF2-40B4-BE49-F238E27FC236}">
                          <a16:creationId xmlns:a16="http://schemas.microsoft.com/office/drawing/2014/main" id="{A3B738C9-8F84-BCBF-7DE9-5C3B24AB38D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91997" y="4893138"/>
                      <a:ext cx="2606867" cy="501997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 b="-120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9" name="TextBox 48">
                      <a:extLst>
                        <a:ext uri="{FF2B5EF4-FFF2-40B4-BE49-F238E27FC236}">
                          <a16:creationId xmlns:a16="http://schemas.microsoft.com/office/drawing/2014/main" id="{D9379EB1-4ACE-2D11-371F-C4CC00DFE56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176451" y="4871086"/>
                      <a:ext cx="2813937" cy="501997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f>
                              <m:fPr>
                                <m:ctrlPr>
                                  <a:rPr lang="en-US" sz="1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m:rPr>
                                    <m:nor/>
                                  </m:rPr>
                                  <a:rPr lang="en-IN" sz="1400" b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sz="1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n-US" sz="1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1400" b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  <m:r>
                                  <a:rPr lang="en-US" sz="1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  <m:f>
                              <m:fPr>
                                <m:ctrlPr>
                                  <a:rPr lang="en-US" sz="1400" b="1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400" b="1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1400" b="1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  <m:r>
                                  <a:rPr lang="en-US" sz="1400" b="1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num>
                              <m:den>
                                <m:r>
                                  <a:rPr lang="en-US" sz="1400" b="1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m:rPr>
                                    <m:nor/>
                                  </m:rPr>
                                  <a:rPr lang="en-IN" sz="1400" b="1" dirty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sz="1400" b="1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den>
                            </m:f>
                            <m:r>
                              <a:rPr lang="en-US" sz="1400" b="1" i="1" smtClean="0">
                                <a:solidFill>
                                  <a:srgbClr val="3333CC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1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4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m:rPr>
                                    <m:nor/>
                                  </m:rPr>
                                  <a:rPr lang="en-IN" sz="1400" b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sz="1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num>
                              <m:den>
                                <m:r>
                                  <a:rPr lang="en-US" sz="14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1400" b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  <m:r>
                                  <a:rPr lang="en-US" sz="1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  <m:f>
                              <m:fPr>
                                <m:ctrlPr>
                                  <a:rPr lang="en-US" sz="1400" b="1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400" b="1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1400" b="1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  <m:r>
                                  <a:rPr lang="en-US" sz="1400" b="1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num>
                              <m:den>
                                <m:r>
                                  <a:rPr lang="en-US" sz="1400" b="1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m:rPr>
                                    <m:nor/>
                                  </m:rPr>
                                  <a:rPr lang="en-IN" sz="1400" b="1" dirty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sz="1400" b="1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  <m:r>
                              <a:rPr lang="en-US" sz="1400" b="1" i="1" smtClean="0">
                                <a:solidFill>
                                  <a:srgbClr val="3333CC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1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4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m:rPr>
                                    <m:nor/>
                                  </m:rPr>
                                  <a:rPr lang="en-IN" sz="1400" b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sz="1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num>
                              <m:den>
                                <m:r>
                                  <a:rPr lang="en-US" sz="14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1400" b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  <m:r>
                                  <a:rPr lang="en-US" sz="1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  <m:f>
                              <m:fPr>
                                <m:ctrlPr>
                                  <a:rPr lang="en-US" sz="1400" b="1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400" b="1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1400" b="1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  <m:r>
                                  <a:rPr lang="en-US" sz="1400" b="1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num>
                              <m:den>
                                <m:r>
                                  <a:rPr lang="en-US" sz="1400" b="1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m:rPr>
                                    <m:nor/>
                                  </m:rPr>
                                  <a:rPr lang="en-IN" sz="1400" b="1" dirty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sz="1400" b="1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den>
                            </m:f>
                          </m:oMath>
                        </m:oMathPara>
                      </a14:m>
                      <a:endParaRPr lang="en-IN" sz="1400" dirty="0"/>
                    </a:p>
                  </p:txBody>
                </p:sp>
              </mc:Choice>
              <mc:Fallback xmlns="">
                <p:sp>
                  <p:nvSpPr>
                    <p:cNvPr id="49" name="TextBox 48">
                      <a:extLst>
                        <a:ext uri="{FF2B5EF4-FFF2-40B4-BE49-F238E27FC236}">
                          <a16:creationId xmlns:a16="http://schemas.microsoft.com/office/drawing/2014/main" id="{D9379EB1-4ACE-2D11-371F-C4CC00DFE56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176451" y="4871086"/>
                      <a:ext cx="2813937" cy="501997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 b="-243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0" name="TextBox 49">
                      <a:extLst>
                        <a:ext uri="{FF2B5EF4-FFF2-40B4-BE49-F238E27FC236}">
                          <a16:creationId xmlns:a16="http://schemas.microsoft.com/office/drawing/2014/main" id="{8DBEE37F-E8F1-C89A-4363-7BCCFB9D520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054482" y="4871087"/>
                      <a:ext cx="2766105" cy="501997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f>
                              <m:fPr>
                                <m:ctrlPr>
                                  <a:rPr lang="en-US" sz="1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m:rPr>
                                    <m:nor/>
                                  </m:rPr>
                                  <a:rPr lang="en-IN" sz="1400" b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sz="1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n-US" sz="1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1400" b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  <m:r>
                                  <a:rPr lang="en-US" sz="1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  <m:f>
                              <m:fPr>
                                <m:ctrlPr>
                                  <a:rPr lang="en-US" sz="1400" b="1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400" b="1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1400" b="1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  <m:r>
                                  <a:rPr lang="en-US" sz="1400" b="1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num>
                              <m:den>
                                <m:r>
                                  <a:rPr lang="en-US" sz="1400" b="1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m:rPr>
                                    <m:nor/>
                                  </m:rPr>
                                  <a:rPr lang="en-IN" sz="1400" b="1" dirty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sz="1400" b="1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den>
                            </m:f>
                            <m:r>
                              <a:rPr lang="en-US" sz="1400" b="1" i="1" smtClean="0">
                                <a:solidFill>
                                  <a:srgbClr val="3333CC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1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4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m:rPr>
                                    <m:nor/>
                                  </m:rPr>
                                  <a:rPr lang="en-IN" sz="1400" b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sz="1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num>
                              <m:den>
                                <m:r>
                                  <a:rPr lang="en-US" sz="14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1400" b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  <m:r>
                                  <a:rPr lang="en-US" sz="1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  <m:f>
                              <m:fPr>
                                <m:ctrlPr>
                                  <a:rPr lang="en-US" sz="1400" b="1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400" b="1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1400" b="1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  <m:r>
                                  <a:rPr lang="en-US" sz="1400" b="1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num>
                              <m:den>
                                <m:r>
                                  <a:rPr lang="en-US" sz="1400" b="1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m:rPr>
                                    <m:nor/>
                                  </m:rPr>
                                  <a:rPr lang="en-IN" sz="1400" b="1" dirty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sz="1400" b="1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  <m:r>
                              <a:rPr lang="en-US" sz="1400" b="1" i="1" smtClean="0">
                                <a:solidFill>
                                  <a:srgbClr val="3333CC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1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4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m:rPr>
                                    <m:nor/>
                                  </m:rPr>
                                  <a:rPr lang="en-IN" sz="1400" b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sz="1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num>
                              <m:den>
                                <m:r>
                                  <a:rPr lang="en-US" sz="14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1400" b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  <m:r>
                                  <a:rPr lang="en-US" sz="1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  <m:f>
                              <m:fPr>
                                <m:ctrlPr>
                                  <a:rPr lang="en-US" sz="1400" b="1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400" b="1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1400" b="1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  <m:r>
                                  <a:rPr lang="en-US" sz="1400" b="1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num>
                              <m:den>
                                <m:r>
                                  <a:rPr lang="en-US" sz="1400" b="1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m:rPr>
                                    <m:nor/>
                                  </m:rPr>
                                  <a:rPr lang="en-IN" sz="1400" b="1" dirty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sz="1400" b="1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den>
                            </m:f>
                          </m:oMath>
                        </m:oMathPara>
                      </a14:m>
                      <a:endParaRPr lang="en-IN" sz="1400" dirty="0"/>
                    </a:p>
                  </p:txBody>
                </p:sp>
              </mc:Choice>
              <mc:Fallback xmlns="">
                <p:sp>
                  <p:nvSpPr>
                    <p:cNvPr id="50" name="TextBox 49">
                      <a:extLst>
                        <a:ext uri="{FF2B5EF4-FFF2-40B4-BE49-F238E27FC236}">
                          <a16:creationId xmlns:a16="http://schemas.microsoft.com/office/drawing/2014/main" id="{8DBEE37F-E8F1-C89A-4363-7BCCFB9D520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054482" y="4871087"/>
                      <a:ext cx="2766105" cy="501997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 b="-243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2" name="TextBox 51">
                      <a:extLst>
                        <a:ext uri="{FF2B5EF4-FFF2-40B4-BE49-F238E27FC236}">
                          <a16:creationId xmlns:a16="http://schemas.microsoft.com/office/drawing/2014/main" id="{A1833FFE-A145-F3B0-2EFB-7A6C2E928CC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96822" y="5536874"/>
                      <a:ext cx="2606867" cy="501997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f>
                              <m:fPr>
                                <m:ctrlPr>
                                  <a:rPr lang="en-US" sz="1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m:rPr>
                                    <m:nor/>
                                  </m:rPr>
                                  <a:rPr lang="en-IN" sz="1400" b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sz="1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n-US" sz="1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1400" b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  <m:r>
                                  <a:rPr lang="en-US" sz="1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den>
                            </m:f>
                            <m:f>
                              <m:fPr>
                                <m:ctrlPr>
                                  <a:rPr lang="en-US" sz="1400" b="1" i="1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400" b="1" i="1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1400" b="1" i="1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  <m:r>
                                  <a:rPr lang="en-US" sz="1400" b="1" i="1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n-US" sz="1400" b="1" i="1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m:rPr>
                                    <m:nor/>
                                  </m:rPr>
                                  <a:rPr lang="en-IN" sz="1400" b="1" dirty="0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sz="1400" b="1" i="1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den>
                            </m:f>
                            <m:r>
                              <a:rPr lang="en-US" sz="1400" b="1" i="1" smtClean="0">
                                <a:solidFill>
                                  <a:srgbClr val="3333CC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1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m:rPr>
                                    <m:nor/>
                                  </m:rPr>
                                  <a:rPr lang="en-IN" sz="1400" b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sz="1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num>
                              <m:den>
                                <m:r>
                                  <a:rPr lang="en-US" sz="1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1400" b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  <m:r>
                                  <a:rPr lang="en-US" sz="1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den>
                            </m:f>
                            <m:f>
                              <m:fPr>
                                <m:ctrlPr>
                                  <a:rPr lang="en-US" sz="1400" b="1" i="1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400" b="1" i="1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1400" b="1" i="1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  <m:r>
                                  <a:rPr lang="en-US" sz="1400" b="1" i="1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n-US" sz="1400" b="1" i="1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m:rPr>
                                    <m:nor/>
                                  </m:rPr>
                                  <a:rPr lang="en-IN" sz="1400" b="1" dirty="0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sz="1400" b="1" i="1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  <m:r>
                              <a:rPr lang="en-US" sz="1400" b="1" i="1" smtClean="0">
                                <a:solidFill>
                                  <a:srgbClr val="3333CC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1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m:rPr>
                                    <m:nor/>
                                  </m:rPr>
                                  <a:rPr lang="en-IN" sz="1400" b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sz="1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num>
                              <m:den>
                                <m:r>
                                  <a:rPr lang="en-US" sz="1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1400" b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  <m:r>
                                  <a:rPr lang="en-US" sz="1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den>
                            </m:f>
                            <m:f>
                              <m:fPr>
                                <m:ctrlPr>
                                  <a:rPr lang="en-US" sz="1400" b="1" i="1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400" b="1" i="1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1400" b="1" i="1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  <m:r>
                                  <a:rPr lang="en-US" sz="1400" b="1" i="1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n-US" sz="1400" b="1" i="1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m:rPr>
                                    <m:nor/>
                                  </m:rPr>
                                  <a:rPr lang="en-IN" sz="1400" b="1" dirty="0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sz="1400" b="1" i="1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den>
                            </m:f>
                          </m:oMath>
                        </m:oMathPara>
                      </a14:m>
                      <a:endParaRPr lang="en-IN" sz="1400" dirty="0"/>
                    </a:p>
                  </p:txBody>
                </p:sp>
              </mc:Choice>
              <mc:Fallback xmlns="">
                <p:sp>
                  <p:nvSpPr>
                    <p:cNvPr id="52" name="TextBox 51">
                      <a:extLst>
                        <a:ext uri="{FF2B5EF4-FFF2-40B4-BE49-F238E27FC236}">
                          <a16:creationId xmlns:a16="http://schemas.microsoft.com/office/drawing/2014/main" id="{A1833FFE-A145-F3B0-2EFB-7A6C2E928CC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96822" y="5536874"/>
                      <a:ext cx="2606867" cy="501997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 b="-243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3" name="TextBox 52">
                      <a:extLst>
                        <a:ext uri="{FF2B5EF4-FFF2-40B4-BE49-F238E27FC236}">
                          <a16:creationId xmlns:a16="http://schemas.microsoft.com/office/drawing/2014/main" id="{5AAF6481-F91A-CD91-998D-4E0A8744F23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181276" y="5514822"/>
                      <a:ext cx="2813937" cy="501997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f>
                              <m:fPr>
                                <m:ctrlPr>
                                  <a:rPr lang="en-US" sz="1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m:rPr>
                                    <m:nor/>
                                  </m:rPr>
                                  <a:rPr lang="en-IN" sz="1400" b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sz="1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n-US" sz="1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1400" b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  <m:r>
                                  <a:rPr lang="en-US" sz="1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den>
                            </m:f>
                            <m:f>
                              <m:fPr>
                                <m:ctrlPr>
                                  <a:rPr lang="en-US" sz="1400" b="1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400" b="1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1400" b="1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  <m:r>
                                  <a:rPr lang="en-US" sz="1400" b="1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num>
                              <m:den>
                                <m:r>
                                  <a:rPr lang="en-US" sz="1400" b="1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m:rPr>
                                    <m:nor/>
                                  </m:rPr>
                                  <a:rPr lang="en-IN" sz="1400" b="1" dirty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sz="1400" b="1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den>
                            </m:f>
                            <m:r>
                              <a:rPr lang="en-US" sz="1400" b="1" i="1" smtClean="0">
                                <a:solidFill>
                                  <a:srgbClr val="3333CC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1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m:rPr>
                                    <m:nor/>
                                  </m:rPr>
                                  <a:rPr lang="en-IN" sz="1400" b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sz="1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num>
                              <m:den>
                                <m:r>
                                  <a:rPr lang="en-US" sz="1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1400" b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  <m:r>
                                  <a:rPr lang="en-US" sz="1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den>
                            </m:f>
                            <m:f>
                              <m:fPr>
                                <m:ctrlPr>
                                  <a:rPr lang="en-US" sz="1400" b="1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400" b="1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1400" b="1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  <m:r>
                                  <a:rPr lang="en-US" sz="1400" b="1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num>
                              <m:den>
                                <m:r>
                                  <a:rPr lang="en-US" sz="1400" b="1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m:rPr>
                                    <m:nor/>
                                  </m:rPr>
                                  <a:rPr lang="en-IN" sz="1400" b="1" dirty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sz="1400" b="1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  <m:r>
                              <a:rPr lang="en-US" sz="1400" b="1" i="1" smtClean="0">
                                <a:solidFill>
                                  <a:srgbClr val="3333CC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1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m:rPr>
                                    <m:nor/>
                                  </m:rPr>
                                  <a:rPr lang="en-IN" sz="1400" b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sz="1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num>
                              <m:den>
                                <m:r>
                                  <a:rPr lang="en-US" sz="1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1400" b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  <m:r>
                                  <a:rPr lang="en-US" sz="1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den>
                            </m:f>
                            <m:f>
                              <m:fPr>
                                <m:ctrlPr>
                                  <a:rPr lang="en-US" sz="1400" b="1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400" b="1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1400" b="1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  <m:r>
                                  <a:rPr lang="en-US" sz="1400" b="1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num>
                              <m:den>
                                <m:r>
                                  <a:rPr lang="en-US" sz="1400" b="1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m:rPr>
                                    <m:nor/>
                                  </m:rPr>
                                  <a:rPr lang="en-IN" sz="1400" b="1" dirty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sz="1400" b="1" i="1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den>
                            </m:f>
                          </m:oMath>
                        </m:oMathPara>
                      </a14:m>
                      <a:endParaRPr lang="en-IN" sz="1400" dirty="0"/>
                    </a:p>
                  </p:txBody>
                </p:sp>
              </mc:Choice>
              <mc:Fallback xmlns="">
                <p:sp>
                  <p:nvSpPr>
                    <p:cNvPr id="53" name="TextBox 52">
                      <a:extLst>
                        <a:ext uri="{FF2B5EF4-FFF2-40B4-BE49-F238E27FC236}">
                          <a16:creationId xmlns:a16="http://schemas.microsoft.com/office/drawing/2014/main" id="{5AAF6481-F91A-CD91-998D-4E0A8744F23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181276" y="5514822"/>
                      <a:ext cx="2813937" cy="501997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 b="-120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4" name="TextBox 53">
                      <a:extLst>
                        <a:ext uri="{FF2B5EF4-FFF2-40B4-BE49-F238E27FC236}">
                          <a16:creationId xmlns:a16="http://schemas.microsoft.com/office/drawing/2014/main" id="{0747102B-83A2-1A95-E9D8-B5D8487A286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059307" y="5514823"/>
                      <a:ext cx="2766105" cy="501997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f>
                              <m:fPr>
                                <m:ctrlPr>
                                  <a:rPr lang="en-US" sz="1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m:rPr>
                                    <m:nor/>
                                  </m:rPr>
                                  <a:rPr lang="en-IN" sz="1400" b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sz="1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n-US" sz="1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1400" b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  <m:r>
                                  <a:rPr lang="en-US" sz="1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den>
                            </m:f>
                            <m:f>
                              <m:fPr>
                                <m:ctrlPr>
                                  <a:rPr lang="en-US" sz="1400" b="1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400" b="1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1400" b="1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  <m:r>
                                  <a:rPr lang="en-US" sz="1400" b="1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num>
                              <m:den>
                                <m:r>
                                  <a:rPr lang="en-US" sz="1400" b="1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m:rPr>
                                    <m:nor/>
                                  </m:rPr>
                                  <a:rPr lang="en-IN" sz="1400" b="1" dirty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sz="1400" b="1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den>
                            </m:f>
                            <m:r>
                              <a:rPr lang="en-US" sz="1400" b="1" i="1" smtClean="0">
                                <a:solidFill>
                                  <a:srgbClr val="3333CC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1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m:rPr>
                                    <m:nor/>
                                  </m:rPr>
                                  <a:rPr lang="en-IN" sz="1400" b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sz="1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num>
                              <m:den>
                                <m:r>
                                  <a:rPr lang="en-US" sz="1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1400" b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  <m:r>
                                  <a:rPr lang="en-US" sz="1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den>
                            </m:f>
                            <m:f>
                              <m:fPr>
                                <m:ctrlPr>
                                  <a:rPr lang="en-US" sz="1400" b="1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400" b="1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1400" b="1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  <m:r>
                                  <a:rPr lang="en-US" sz="1400" b="1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num>
                              <m:den>
                                <m:r>
                                  <a:rPr lang="en-US" sz="1400" b="1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m:rPr>
                                    <m:nor/>
                                  </m:rPr>
                                  <a:rPr lang="en-IN" sz="1400" b="1" dirty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sz="1400" b="1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  <m:r>
                              <a:rPr lang="en-US" sz="1400" b="1" i="1" smtClean="0">
                                <a:solidFill>
                                  <a:srgbClr val="3333CC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1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m:rPr>
                                    <m:nor/>
                                  </m:rPr>
                                  <a:rPr lang="en-IN" sz="1400" b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sz="1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num>
                              <m:den>
                                <m:r>
                                  <a:rPr lang="en-US" sz="1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1400" b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  <m:r>
                                  <a:rPr lang="en-US" sz="1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den>
                            </m:f>
                            <m:f>
                              <m:fPr>
                                <m:ctrlPr>
                                  <a:rPr lang="en-US" sz="1400" b="1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400" b="1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1400" b="1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  <m:r>
                                  <a:rPr lang="en-US" sz="1400" b="1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num>
                              <m:den>
                                <m:r>
                                  <a:rPr lang="en-US" sz="1400" b="1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m:rPr>
                                    <m:nor/>
                                  </m:rPr>
                                  <a:rPr lang="en-IN" sz="1400" b="1" dirty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sz="1400" b="1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den>
                            </m:f>
                          </m:oMath>
                        </m:oMathPara>
                      </a14:m>
                      <a:endParaRPr lang="en-IN" sz="1400" dirty="0"/>
                    </a:p>
                  </p:txBody>
                </p:sp>
              </mc:Choice>
              <mc:Fallback xmlns="">
                <p:sp>
                  <p:nvSpPr>
                    <p:cNvPr id="54" name="TextBox 53">
                      <a:extLst>
                        <a:ext uri="{FF2B5EF4-FFF2-40B4-BE49-F238E27FC236}">
                          <a16:creationId xmlns:a16="http://schemas.microsoft.com/office/drawing/2014/main" id="{0747102B-83A2-1A95-E9D8-B5D8487A286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059307" y="5514823"/>
                      <a:ext cx="2766105" cy="501997"/>
                    </a:xfrm>
                    <a:prstGeom prst="rect">
                      <a:avLst/>
                    </a:prstGeom>
                    <a:blipFill>
                      <a:blip r:embed="rId18"/>
                      <a:stretch>
                        <a:fillRect b="-120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0646AD46-2A01-AEE0-8F81-5C4BB25C67D4}"/>
                    </a:ext>
                  </a:extLst>
                </p:cNvPr>
                <p:cNvSpPr txBox="1"/>
                <p:nvPr/>
              </p:nvSpPr>
              <p:spPr>
                <a:xfrm>
                  <a:off x="-53976" y="4942059"/>
                  <a:ext cx="68546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0646AD46-2A01-AEE0-8F81-5C4BB25C67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53976" y="4942059"/>
                  <a:ext cx="685468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6CDFE41C-151F-9D56-ACCA-2660C186D47C}"/>
                  </a:ext>
                </a:extLst>
              </p:cNvPr>
              <p:cNvSpPr txBox="1"/>
              <p:nvPr/>
            </p:nvSpPr>
            <p:spPr>
              <a:xfrm>
                <a:off x="5696209" y="1766732"/>
                <a:ext cx="2279296" cy="21908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sz="20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sz="20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  <m:r>
                                    <a:rPr lang="en-US" sz="20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sz="20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b="1" i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x</m:t>
                                  </m:r>
                                  <m:r>
                                    <a:rPr lang="en-US" sz="20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den>
                              </m:f>
                              <m:r>
                                <a:rPr lang="en-US" sz="2000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f>
                                <m:fPr>
                                  <m:ctrlPr>
                                    <a:rPr lang="en-US" sz="20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  <m:r>
                                    <a:rPr lang="en-US" sz="20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num>
                                <m:den>
                                  <m: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b="1" i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x</m:t>
                                  </m:r>
                                  <m: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den>
                              </m:f>
                              <m:r>
                                <a:rPr lang="en-U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f>
                                <m:fPr>
                                  <m:ctrlPr>
                                    <a:rPr lang="en-US" sz="20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  <m:r>
                                    <a:rPr lang="en-US" sz="20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num>
                                <m:den>
                                  <m: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b="1" i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x</m:t>
                                  </m:r>
                                  <m: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den>
                              </m:f>
                            </m:e>
                            <m:e>
                              <m:r>
                                <a:rPr lang="en-U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sz="20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  <m: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b="1" i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x</m:t>
                                  </m:r>
                                  <m:r>
                                    <a:rPr lang="en-US" sz="20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  <m:r>
                                <a:rPr lang="en-U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f>
                                <m:fPr>
                                  <m:ctrlPr>
                                    <a:rPr lang="en-US" sz="20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  <m: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num>
                                <m:den>
                                  <m: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b="1" i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x</m:t>
                                  </m:r>
                                  <m:r>
                                    <a:rPr lang="en-US" sz="20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  <m:r>
                                <a:rPr lang="en-U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f>
                                <m:fPr>
                                  <m:ctrlPr>
                                    <a:rPr lang="en-US" sz="20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  <m: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num>
                                <m:den>
                                  <m: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b="1" i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x</m:t>
                                  </m:r>
                                  <m:r>
                                    <a:rPr lang="en-US" sz="20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e>
                            <m:e>
                              <m:r>
                                <a:rPr lang="en-U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sz="20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  <m: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b="1" i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x</m:t>
                                  </m:r>
                                  <m:r>
                                    <a:rPr lang="en-US" sz="20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den>
                              </m:f>
                              <m:r>
                                <a:rPr lang="en-U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f>
                                <m:fPr>
                                  <m:ctrlPr>
                                    <a:rPr lang="en-US" sz="20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  <m: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num>
                                <m:den>
                                  <m: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b="1" i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x</m:t>
                                  </m:r>
                                  <m:r>
                                    <a:rPr lang="en-US" sz="20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den>
                              </m:f>
                              <m:r>
                                <a:rPr lang="en-U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f>
                                <m:fPr>
                                  <m:ctrlPr>
                                    <a:rPr lang="en-US" sz="20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  <m: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num>
                                <m:den>
                                  <m: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b="1" i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x</m:t>
                                  </m:r>
                                  <m:r>
                                    <a:rPr lang="en-US" sz="20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den>
                              </m:f>
                            </m:e>
                          </m:eqArr>
                        </m:e>
                      </m:d>
                    </m:oMath>
                  </m:oMathPara>
                </a14:m>
                <a:endParaRPr lang="en-IN" sz="2000" b="1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6CDFE41C-151F-9D56-ACCA-2660C186D4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6209" y="1766732"/>
                <a:ext cx="2279296" cy="2190856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103A84B8-6AA6-E603-F0DF-FF0B211291E7}"/>
                  </a:ext>
                </a:extLst>
              </p:cNvPr>
              <p:cNvSpPr txBox="1"/>
              <p:nvPr/>
            </p:nvSpPr>
            <p:spPr>
              <a:xfrm>
                <a:off x="934647" y="4169476"/>
                <a:ext cx="4046371" cy="9062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m:rPr>
                              <m:nor/>
                            </m:rPr>
                            <a:rPr lang="en-US" sz="2000" b="1"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m:rPr>
                              <m:nor/>
                            </m:rPr>
                            <a:rPr lang="en-IN" sz="2000" b="1" dirty="0"/>
                            <m:t> </m:t>
                          </m:r>
                        </m:num>
                        <m:den>
                          <m:r>
                            <a:rPr lang="en-IN" sz="2000" b="1" i="1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en-US" sz="2000" b="1">
                              <a:latin typeface="Cambria Math" panose="02040503050406030204" pitchFamily="18" charset="0"/>
                            </a:rPr>
                            <m:t>𝐱</m:t>
                          </m:r>
                        </m:den>
                      </m:f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e>
                              <m:e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𝟏𝟐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e>
                              <m:e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𝟐𝟕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IN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000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e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e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2000" b="1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103A84B8-6AA6-E603-F0DF-FF0B211291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647" y="4169476"/>
                <a:ext cx="4046371" cy="9062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D9F11770-B5BA-1125-CC91-83BE826EDD97}"/>
                  </a:ext>
                </a:extLst>
              </p:cNvPr>
              <p:cNvSpPr txBox="1"/>
              <p:nvPr/>
            </p:nvSpPr>
            <p:spPr>
              <a:xfrm>
                <a:off x="5538694" y="4107013"/>
                <a:ext cx="2414875" cy="9062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e>
                              <m:e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𝟏𝟐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e>
                              <m:e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𝟐𝟕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2000" b="1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D9F11770-B5BA-1125-CC91-83BE826EDD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8694" y="4107013"/>
                <a:ext cx="2414875" cy="9062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0117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1" nodeType="click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7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animMotion origin="layout" path="M 2.91667E-6 -1.11111E-6 L -0.20912 0.10093 " pathEditMode="relative" rAng="0" ptsTypes="AA">
                                      <p:cBhvr>
                                        <p:cTn id="40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456" y="5046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-4.81481E-6 L -0.00847 -0.14652 " pathEditMode="relative" rAng="0" ptsTypes="AA">
                                      <p:cBhvr>
                                        <p:cTn id="45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0" y="-733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" grpId="1"/>
      <p:bldP spid="5" grpId="0"/>
      <p:bldP spid="92" grpId="0"/>
      <p:bldP spid="92" grpId="1"/>
      <p:bldP spid="92" grpId="2"/>
      <p:bldP spid="91" grpId="0"/>
      <p:bldP spid="91" grpId="1"/>
      <p:bldP spid="95" grpId="0"/>
      <p:bldP spid="95" grpId="1"/>
      <p:bldP spid="95" grpId="2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0B78E-FBA4-F62D-5598-DDAF28E0B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3A07F75-35BB-01BF-1701-53DF35728AF0}"/>
              </a:ext>
            </a:extLst>
          </p:cNvPr>
          <p:cNvSpPr txBox="1"/>
          <p:nvPr/>
        </p:nvSpPr>
        <p:spPr>
          <a:xfrm>
            <a:off x="0" y="98322"/>
            <a:ext cx="12192000" cy="52322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Session 1: </a:t>
            </a:r>
            <a:r>
              <a:rPr lang="en-US" sz="2800" b="1" dirty="0" err="1">
                <a:solidFill>
                  <a:schemeClr val="bg1"/>
                </a:solidFill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Tensorflow</a:t>
            </a:r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 Basics</a:t>
            </a:r>
            <a:endParaRPr lang="en-IN" sz="2800" b="1" dirty="0">
              <a:solidFill>
                <a:schemeClr val="bg1"/>
              </a:solidFill>
              <a:latin typeface="Century Schoolbook" panose="02040604050505020304" pitchFamily="18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3C807457-6CB5-CE3D-70E6-88488C051C26}"/>
              </a:ext>
            </a:extLst>
          </p:cNvPr>
          <p:cNvSpPr/>
          <p:nvPr/>
        </p:nvSpPr>
        <p:spPr>
          <a:xfrm>
            <a:off x="4748932" y="3000162"/>
            <a:ext cx="298186" cy="28373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0D3329B-2085-37B6-7F36-7FBE25356984}"/>
                  </a:ext>
                </a:extLst>
              </p:cNvPr>
              <p:cNvSpPr txBox="1"/>
              <p:nvPr/>
            </p:nvSpPr>
            <p:spPr>
              <a:xfrm>
                <a:off x="4341593" y="2948215"/>
                <a:ext cx="53644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tx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m:t>𝒙</m:t>
                      </m:r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0D3329B-2085-37B6-7F36-7FBE253569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1593" y="2948215"/>
                <a:ext cx="53644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TextBox 51">
            <a:extLst>
              <a:ext uri="{FF2B5EF4-FFF2-40B4-BE49-F238E27FC236}">
                <a16:creationId xmlns:a16="http://schemas.microsoft.com/office/drawing/2014/main" id="{D5435A41-DEBD-B353-D049-EC585742E91F}"/>
              </a:ext>
            </a:extLst>
          </p:cNvPr>
          <p:cNvSpPr txBox="1"/>
          <p:nvPr/>
        </p:nvSpPr>
        <p:spPr>
          <a:xfrm>
            <a:off x="3352678" y="3863975"/>
            <a:ext cx="14142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i="1" dirty="0">
                <a:solidFill>
                  <a:srgbClr val="0000FF"/>
                </a:solidFill>
                <a:latin typeface="Consolas" panose="020B0609020204030204" pitchFamily="49" charset="0"/>
              </a:rPr>
              <a:t>(None,1)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F7DA03B9-37EB-86CB-AE95-308F32D4E948}"/>
              </a:ext>
            </a:extLst>
          </p:cNvPr>
          <p:cNvSpPr/>
          <p:nvPr/>
        </p:nvSpPr>
        <p:spPr>
          <a:xfrm>
            <a:off x="4751899" y="3924681"/>
            <a:ext cx="298186" cy="283730"/>
          </a:xfrm>
          <a:prstGeom prst="ellipse">
            <a:avLst/>
          </a:prstGeom>
          <a:solidFill>
            <a:srgbClr val="C14E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FE362B56-5C20-58FA-EB92-C73D2088298B}"/>
                  </a:ext>
                </a:extLst>
              </p:cNvPr>
              <p:cNvSpPr txBox="1"/>
              <p:nvPr/>
            </p:nvSpPr>
            <p:spPr>
              <a:xfrm>
                <a:off x="4358440" y="3849969"/>
                <a:ext cx="53644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tx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m:t>𝒚</m:t>
                      </m:r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FE362B56-5C20-58FA-EB92-C73D208829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8440" y="3849969"/>
                <a:ext cx="536448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Oval 62">
            <a:extLst>
              <a:ext uri="{FF2B5EF4-FFF2-40B4-BE49-F238E27FC236}">
                <a16:creationId xmlns:a16="http://schemas.microsoft.com/office/drawing/2014/main" id="{BC58F0F1-231C-3682-7E41-22C1FBFBC21D}"/>
              </a:ext>
            </a:extLst>
          </p:cNvPr>
          <p:cNvSpPr/>
          <p:nvPr/>
        </p:nvSpPr>
        <p:spPr>
          <a:xfrm>
            <a:off x="6857563" y="2991016"/>
            <a:ext cx="298186" cy="28373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en-IN" dirty="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AB26673E-A02F-E146-FB3B-CED517580CB3}"/>
              </a:ext>
            </a:extLst>
          </p:cNvPr>
          <p:cNvSpPr/>
          <p:nvPr/>
        </p:nvSpPr>
        <p:spPr>
          <a:xfrm>
            <a:off x="6857372" y="3924681"/>
            <a:ext cx="298186" cy="28373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lang="en-IN" dirty="0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2E576842-D5FE-64BF-BB09-B71B9C62EBF7}"/>
              </a:ext>
            </a:extLst>
          </p:cNvPr>
          <p:cNvSpPr/>
          <p:nvPr/>
        </p:nvSpPr>
        <p:spPr>
          <a:xfrm>
            <a:off x="4745795" y="2054745"/>
            <a:ext cx="298186" cy="283730"/>
          </a:xfrm>
          <a:prstGeom prst="ellipse">
            <a:avLst/>
          </a:prstGeom>
          <a:solidFill>
            <a:srgbClr val="CC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A62DE66-194A-9AD0-735D-A71193F3983A}"/>
              </a:ext>
            </a:extLst>
          </p:cNvPr>
          <p:cNvSpPr txBox="1"/>
          <p:nvPr/>
        </p:nvSpPr>
        <p:spPr>
          <a:xfrm>
            <a:off x="4042311" y="1969143"/>
            <a:ext cx="7698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B</a:t>
            </a:r>
            <a:r>
              <a:rPr lang="en-IN" b="1" dirty="0" err="1">
                <a:latin typeface="Consolas" panose="020B0609020204030204" pitchFamily="49" charset="0"/>
              </a:rPr>
              <a:t>ias</a:t>
            </a:r>
            <a:endParaRPr lang="en-IN" b="1" dirty="0"/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DCD7FF48-DB19-AC2D-B641-3DBC18BF969C}"/>
              </a:ext>
            </a:extLst>
          </p:cNvPr>
          <p:cNvCxnSpPr>
            <a:cxnSpLocks/>
            <a:stCxn id="61" idx="6"/>
            <a:endCxn id="63" idx="2"/>
          </p:cNvCxnSpPr>
          <p:nvPr/>
        </p:nvCxnSpPr>
        <p:spPr>
          <a:xfrm flipV="1">
            <a:off x="5050085" y="3132881"/>
            <a:ext cx="1807478" cy="933665"/>
          </a:xfrm>
          <a:prstGeom prst="straightConnector1">
            <a:avLst/>
          </a:prstGeom>
          <a:ln>
            <a:solidFill>
              <a:srgbClr val="C14E15"/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FE08D8D1-5E1F-5BCE-4908-38F77149CD10}"/>
              </a:ext>
            </a:extLst>
          </p:cNvPr>
          <p:cNvCxnSpPr>
            <a:cxnSpLocks/>
            <a:stCxn id="61" idx="6"/>
            <a:endCxn id="64" idx="2"/>
          </p:cNvCxnSpPr>
          <p:nvPr/>
        </p:nvCxnSpPr>
        <p:spPr>
          <a:xfrm>
            <a:off x="5050085" y="4066546"/>
            <a:ext cx="1807287" cy="0"/>
          </a:xfrm>
          <a:prstGeom prst="straightConnector1">
            <a:avLst/>
          </a:prstGeom>
          <a:ln>
            <a:solidFill>
              <a:srgbClr val="C14E15"/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1BC7BCED-1C8C-1671-A14F-122D12923844}"/>
              </a:ext>
            </a:extLst>
          </p:cNvPr>
          <p:cNvCxnSpPr>
            <a:cxnSpLocks/>
            <a:stCxn id="65" idx="5"/>
            <a:endCxn id="63" idx="2"/>
          </p:cNvCxnSpPr>
          <p:nvPr/>
        </p:nvCxnSpPr>
        <p:spPr>
          <a:xfrm>
            <a:off x="5000313" y="2296924"/>
            <a:ext cx="1857250" cy="835957"/>
          </a:xfrm>
          <a:prstGeom prst="straightConnector1">
            <a:avLst/>
          </a:prstGeom>
          <a:ln>
            <a:solidFill>
              <a:srgbClr val="CC00CC"/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269E375F-FD8A-794E-1374-FE335CDB6A7A}"/>
              </a:ext>
            </a:extLst>
          </p:cNvPr>
          <p:cNvCxnSpPr>
            <a:cxnSpLocks/>
            <a:stCxn id="65" idx="5"/>
            <a:endCxn id="64" idx="2"/>
          </p:cNvCxnSpPr>
          <p:nvPr/>
        </p:nvCxnSpPr>
        <p:spPr>
          <a:xfrm>
            <a:off x="5000313" y="2296924"/>
            <a:ext cx="1857059" cy="1769622"/>
          </a:xfrm>
          <a:prstGeom prst="straightConnector1">
            <a:avLst/>
          </a:prstGeom>
          <a:ln>
            <a:solidFill>
              <a:srgbClr val="CC00CC"/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8898F75D-06BE-323B-7E04-BB27A200FE74}"/>
              </a:ext>
            </a:extLst>
          </p:cNvPr>
          <p:cNvCxnSpPr>
            <a:cxnSpLocks/>
            <a:stCxn id="2" idx="6"/>
            <a:endCxn id="63" idx="2"/>
          </p:cNvCxnSpPr>
          <p:nvPr/>
        </p:nvCxnSpPr>
        <p:spPr>
          <a:xfrm flipV="1">
            <a:off x="5047118" y="3132881"/>
            <a:ext cx="1810445" cy="9146"/>
          </a:xfrm>
          <a:prstGeom prst="straightConnector1">
            <a:avLst/>
          </a:prstGeom>
          <a:ln>
            <a:solidFill>
              <a:srgbClr val="00B050"/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D9DBC872-FB23-7037-4F20-C071F1058E03}"/>
              </a:ext>
            </a:extLst>
          </p:cNvPr>
          <p:cNvCxnSpPr>
            <a:cxnSpLocks/>
            <a:stCxn id="2" idx="6"/>
            <a:endCxn id="64" idx="2"/>
          </p:cNvCxnSpPr>
          <p:nvPr/>
        </p:nvCxnSpPr>
        <p:spPr>
          <a:xfrm>
            <a:off x="5047118" y="3142027"/>
            <a:ext cx="1810254" cy="924519"/>
          </a:xfrm>
          <a:prstGeom prst="straightConnector1">
            <a:avLst/>
          </a:prstGeom>
          <a:ln>
            <a:solidFill>
              <a:srgbClr val="00B050"/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9779B02D-CA73-9A07-244D-BFF094FCCEFF}"/>
                  </a:ext>
                </a:extLst>
              </p:cNvPr>
              <p:cNvSpPr txBox="1"/>
              <p:nvPr/>
            </p:nvSpPr>
            <p:spPr>
              <a:xfrm>
                <a:off x="5559552" y="2242858"/>
                <a:ext cx="53644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1" i="1" smtClean="0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IN" b="1" dirty="0">
                  <a:solidFill>
                    <a:srgbClr val="CC00CC"/>
                  </a:solidFill>
                </a:endParaRPr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9779B02D-CA73-9A07-244D-BFF094FCCE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9552" y="2242858"/>
                <a:ext cx="53644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8FE851FF-47A1-F582-AFF1-93749C7059ED}"/>
                  </a:ext>
                </a:extLst>
              </p:cNvPr>
              <p:cNvSpPr txBox="1"/>
              <p:nvPr/>
            </p:nvSpPr>
            <p:spPr>
              <a:xfrm>
                <a:off x="5559552" y="2655516"/>
                <a:ext cx="53644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1" i="1" smtClean="0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IN" b="1" dirty="0">
                  <a:solidFill>
                    <a:srgbClr val="CC00CC"/>
                  </a:solidFill>
                </a:endParaRPr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8FE851FF-47A1-F582-AFF1-93749C7059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9552" y="2655516"/>
                <a:ext cx="53644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DA533E25-B74D-1011-DA6D-19ABF11FB6FF}"/>
                  </a:ext>
                </a:extLst>
              </p:cNvPr>
              <p:cNvSpPr txBox="1"/>
              <p:nvPr/>
            </p:nvSpPr>
            <p:spPr>
              <a:xfrm>
                <a:off x="5130374" y="2812403"/>
                <a:ext cx="53644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𝟏𝟏</m:t>
                          </m:r>
                        </m:sub>
                      </m:sSub>
                    </m:oMath>
                  </m:oMathPara>
                </a14:m>
                <a:endParaRPr lang="en-IN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DA533E25-B74D-1011-DA6D-19ABF11FB6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0374" y="2812403"/>
                <a:ext cx="53644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15774487-0890-8F3A-62CD-BD96B2EAFA94}"/>
                  </a:ext>
                </a:extLst>
              </p:cNvPr>
              <p:cNvSpPr txBox="1"/>
              <p:nvPr/>
            </p:nvSpPr>
            <p:spPr>
              <a:xfrm>
                <a:off x="5130374" y="3348688"/>
                <a:ext cx="53644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𝟏𝟐</m:t>
                          </m:r>
                        </m:sub>
                      </m:sSub>
                    </m:oMath>
                  </m:oMathPara>
                </a14:m>
                <a:endParaRPr lang="en-IN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15774487-0890-8F3A-62CD-BD96B2EAFA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0374" y="3348688"/>
                <a:ext cx="53644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591C3688-BA5E-2627-CB76-32494A29A9DA}"/>
                  </a:ext>
                </a:extLst>
              </p:cNvPr>
              <p:cNvSpPr txBox="1"/>
              <p:nvPr/>
            </p:nvSpPr>
            <p:spPr>
              <a:xfrm>
                <a:off x="5666822" y="3588656"/>
                <a:ext cx="53644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1" i="1" smtClean="0">
                              <a:solidFill>
                                <a:srgbClr val="C14E1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C14E15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C14E15"/>
                              </a:solidFill>
                              <a:latin typeface="Cambria Math" panose="02040503050406030204" pitchFamily="18" charset="0"/>
                            </a:rPr>
                            <m:t>𝟐𝟏</m:t>
                          </m:r>
                        </m:sub>
                      </m:sSub>
                    </m:oMath>
                  </m:oMathPara>
                </a14:m>
                <a:endParaRPr lang="en-IN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591C3688-BA5E-2627-CB76-32494A29A9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6822" y="3588656"/>
                <a:ext cx="536448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E8628520-BDA0-BCA2-38C4-F1909D1DD3A3}"/>
                  </a:ext>
                </a:extLst>
              </p:cNvPr>
              <p:cNvSpPr txBox="1"/>
              <p:nvPr/>
            </p:nvSpPr>
            <p:spPr>
              <a:xfrm>
                <a:off x="5669302" y="4034635"/>
                <a:ext cx="53644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1" i="1" smtClean="0">
                              <a:solidFill>
                                <a:srgbClr val="C14E1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C14E15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C14E15"/>
                              </a:solidFill>
                              <a:latin typeface="Cambria Math" panose="02040503050406030204" pitchFamily="18" charset="0"/>
                            </a:rPr>
                            <m:t>𝟐𝟐</m:t>
                          </m:r>
                        </m:sub>
                      </m:sSub>
                    </m:oMath>
                  </m:oMathPara>
                </a14:m>
                <a:endParaRPr lang="en-IN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E8628520-BDA0-BCA2-38C4-F1909D1DD3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9302" y="4034635"/>
                <a:ext cx="536448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TextBox 105">
            <a:extLst>
              <a:ext uri="{FF2B5EF4-FFF2-40B4-BE49-F238E27FC236}">
                <a16:creationId xmlns:a16="http://schemas.microsoft.com/office/drawing/2014/main" id="{A4BA46CC-2151-AAAA-7619-AEAE8C3BAE1B}"/>
              </a:ext>
            </a:extLst>
          </p:cNvPr>
          <p:cNvSpPr txBox="1"/>
          <p:nvPr/>
        </p:nvSpPr>
        <p:spPr>
          <a:xfrm>
            <a:off x="3321421" y="2961882"/>
            <a:ext cx="13285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i="1" dirty="0">
                <a:solidFill>
                  <a:srgbClr val="0000FF"/>
                </a:solidFill>
                <a:latin typeface="Consolas" panose="020B0609020204030204" pitchFamily="49" charset="0"/>
              </a:rPr>
              <a:t>(None,1)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0D6650BB-C146-F129-B1A2-7DE0D2F2BFC8}"/>
                  </a:ext>
                </a:extLst>
              </p:cNvPr>
              <p:cNvSpPr/>
              <p:nvPr/>
            </p:nvSpPr>
            <p:spPr>
              <a:xfrm>
                <a:off x="6682484" y="2675973"/>
                <a:ext cx="353499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GB" b="1" i="1" smtClean="0">
                          <a:solidFill>
                            <a:schemeClr val="tx1"/>
                          </a:solidFill>
                          <a:latin typeface="Cambria Math"/>
                          <a:ea typeface="Cambria Math" pitchFamily="18" charset="0"/>
                        </a:rPr>
                        <m:t>=</m:t>
                      </m:r>
                      <m:d>
                        <m:dPr>
                          <m:ctrlPr>
                            <a:rPr lang="en-IN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1" i="1">
                                  <a:solidFill>
                                    <a:srgbClr val="CC00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CC00CC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rgbClr val="CC00CC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𝟏𝟏</m:t>
                              </m:r>
                            </m:sub>
                          </m:sSub>
                          <m:r>
                            <a:rPr lang="en-GB" b="1" i="1">
                              <a:solidFill>
                                <a:schemeClr val="tx1"/>
                              </a:solidFill>
                              <a:latin typeface="Cambria Math" pitchFamily="18" charset="0"/>
                              <a:ea typeface="Cambria Math" pitchFamily="18" charset="0"/>
                            </a:rPr>
                            <m:t>𝒙</m:t>
                          </m:r>
                          <m:r>
                            <a:rPr lang="en-GB" b="1" i="1">
                              <a:solidFill>
                                <a:schemeClr val="tx1"/>
                              </a:solidFill>
                              <a:latin typeface="Cambria Math" pitchFamily="18" charset="0"/>
                              <a:ea typeface="Cambria Math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b="1" i="1" smtClean="0">
                                  <a:solidFill>
                                    <a:srgbClr val="C14E1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C14E15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C14E15"/>
                                  </a:solidFill>
                                  <a:latin typeface="Cambria Math" panose="02040503050406030204" pitchFamily="18" charset="0"/>
                                </a:rPr>
                                <m:t>𝟐𝟏</m:t>
                              </m:r>
                            </m:sub>
                          </m:sSub>
                          <m:r>
                            <a:rPr lang="en-GB" b="1" i="1">
                              <a:solidFill>
                                <a:schemeClr val="tx1"/>
                              </a:solidFill>
                              <a:latin typeface="Cambria Math" pitchFamily="18" charset="0"/>
                              <a:ea typeface="Cambria Math" pitchFamily="18" charset="0"/>
                            </a:rPr>
                            <m:t>𝒚</m:t>
                          </m:r>
                          <m:r>
                            <m:rPr>
                              <m:nor/>
                            </m:rPr>
                            <a:rPr lang="en-IN" b="1" dirty="0">
                              <a:solidFill>
                                <a:schemeClr val="tx1"/>
                              </a:solidFill>
                              <a:latin typeface="Cambria Math" pitchFamily="18" charset="0"/>
                              <a:ea typeface="Cambria Math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0D6650BB-C146-F129-B1A2-7DE0D2F2BF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2484" y="2675973"/>
                <a:ext cx="3534997" cy="369332"/>
              </a:xfrm>
              <a:prstGeom prst="rect">
                <a:avLst/>
              </a:prstGeom>
              <a:blipFill>
                <a:blip r:embed="rId11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1FA9A9E0-5A41-AB5F-E7A9-10BC62130E56}"/>
                  </a:ext>
                </a:extLst>
              </p:cNvPr>
              <p:cNvSpPr/>
              <p:nvPr/>
            </p:nvSpPr>
            <p:spPr>
              <a:xfrm>
                <a:off x="6673380" y="4159473"/>
                <a:ext cx="353499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GB" b="1" i="1" smtClean="0">
                          <a:solidFill>
                            <a:schemeClr val="tx1"/>
                          </a:solidFill>
                          <a:latin typeface="Cambria Math"/>
                          <a:ea typeface="Cambria Math" pitchFamily="18" charset="0"/>
                        </a:rPr>
                        <m:t>=</m:t>
                      </m:r>
                      <m:d>
                        <m:dPr>
                          <m:ctrlPr>
                            <a:rPr lang="en-IN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1" i="1">
                                  <a:solidFill>
                                    <a:srgbClr val="CC00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CC00CC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CC00CC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GB" b="1" i="1">
                              <a:solidFill>
                                <a:schemeClr val="tx1"/>
                              </a:solidFill>
                              <a:latin typeface="Cambria Math" pitchFamily="18" charset="0"/>
                              <a:ea typeface="Cambria Math" pitchFamily="18" charset="0"/>
                            </a:rPr>
                            <m:t>𝒙</m:t>
                          </m:r>
                          <m:r>
                            <a:rPr lang="en-GB" b="1" i="1">
                              <a:solidFill>
                                <a:schemeClr val="tx1"/>
                              </a:solidFill>
                              <a:latin typeface="Cambria Math" pitchFamily="18" charset="0"/>
                              <a:ea typeface="Cambria Math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b="1" i="1" smtClean="0">
                                  <a:solidFill>
                                    <a:srgbClr val="C14E1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C14E15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C14E15"/>
                                  </a:solidFill>
                                  <a:latin typeface="Cambria Math" panose="02040503050406030204" pitchFamily="18" charset="0"/>
                                </a:rPr>
                                <m:t>𝟐𝟐</m:t>
                              </m:r>
                            </m:sub>
                          </m:sSub>
                          <m:r>
                            <a:rPr lang="en-GB" b="1" i="1">
                              <a:solidFill>
                                <a:schemeClr val="tx1"/>
                              </a:solidFill>
                              <a:latin typeface="Cambria Math" pitchFamily="18" charset="0"/>
                              <a:ea typeface="Cambria Math" pitchFamily="18" charset="0"/>
                            </a:rPr>
                            <m:t>𝒚</m:t>
                          </m:r>
                          <m:r>
                            <m:rPr>
                              <m:nor/>
                            </m:rPr>
                            <a:rPr lang="en-IN" b="1" dirty="0">
                              <a:solidFill>
                                <a:schemeClr val="tx1"/>
                              </a:solidFill>
                              <a:latin typeface="Cambria Math" pitchFamily="18" charset="0"/>
                              <a:ea typeface="Cambria Math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1FA9A9E0-5A41-AB5F-E7A9-10BC62130E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3380" y="4159473"/>
                <a:ext cx="3534997" cy="369332"/>
              </a:xfrm>
              <a:prstGeom prst="rect">
                <a:avLst/>
              </a:prstGeom>
              <a:blipFill>
                <a:blip r:embed="rId12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831EF6EB-64F6-4A26-0020-F5B8B706396E}"/>
              </a:ext>
            </a:extLst>
          </p:cNvPr>
          <p:cNvGrpSpPr/>
          <p:nvPr/>
        </p:nvGrpSpPr>
        <p:grpSpPr>
          <a:xfrm>
            <a:off x="2414259" y="2982701"/>
            <a:ext cx="920193" cy="1093430"/>
            <a:chOff x="608608" y="2403967"/>
            <a:chExt cx="920193" cy="10934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500C4FCA-3A92-E922-EB82-A39649D9509F}"/>
                    </a:ext>
                  </a:extLst>
                </p:cNvPr>
                <p:cNvSpPr txBox="1"/>
                <p:nvPr/>
              </p:nvSpPr>
              <p:spPr>
                <a:xfrm>
                  <a:off x="608608" y="2747833"/>
                  <a:ext cx="920193" cy="74956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IN" i="1" smtClean="0">
                                <a:solidFill>
                                  <a:srgbClr val="0000FF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i="1" smtClean="0">
                                    <a:solidFill>
                                      <a:srgbClr val="0000FF"/>
                                    </a:solidFill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i="1">
                                    <a:solidFill>
                                      <a:srgbClr val="0000FF"/>
                                    </a:solidFill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0000FF"/>
                                    </a:solidFill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FF"/>
                                    </a:solidFill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e>
                            </m:eqArr>
                            <m:eqArr>
                              <m:eqArrPr>
                                <m:ctrlPr>
                                  <a:rPr lang="en-US" i="1" smtClean="0">
                                    <a:solidFill>
                                      <a:srgbClr val="0000FF"/>
                                    </a:solidFill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b="0" i="1" smtClean="0">
                                    <a:solidFill>
                                      <a:srgbClr val="0000FF"/>
                                    </a:solidFill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i="1" smtClean="0">
                                    <a:solidFill>
                                      <a:srgbClr val="0000FF"/>
                                    </a:solidFill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0000FF"/>
                                    </a:solidFill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   ⋮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0000FF"/>
                                    </a:solidFill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i="1">
                                    <a:solidFill>
                                      <a:srgbClr val="0000FF"/>
                                    </a:solidFill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en-IN" dirty="0">
                    <a:solidFill>
                      <a:srgbClr val="0000FF"/>
                    </a:solidFill>
                    <a:highlight>
                      <a:srgbClr val="FFFF00"/>
                    </a:highlight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500C4FCA-3A92-E922-EB82-A39649D950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8608" y="2747833"/>
                  <a:ext cx="920193" cy="749564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BDC1DE2B-BA5E-ACC6-078A-F51913F31306}"/>
                    </a:ext>
                  </a:extLst>
                </p:cNvPr>
                <p:cNvSpPr txBox="1"/>
                <p:nvPr/>
              </p:nvSpPr>
              <p:spPr>
                <a:xfrm>
                  <a:off x="798452" y="2403967"/>
                  <a:ext cx="57989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1" i="1" smtClean="0">
                            <a:solidFill>
                              <a:schemeClr val="tx1"/>
                            </a:solidFill>
                            <a:latin typeface="Cambria Math" pitchFamily="18" charset="0"/>
                            <a:ea typeface="Cambria Math" pitchFamily="18" charset="0"/>
                          </a:rPr>
                          <m:t>𝒙</m:t>
                        </m:r>
                        <m:r>
                          <a:rPr lang="en-US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  <m:t>  </m:t>
                        </m:r>
                        <m:r>
                          <a:rPr lang="en-GB" b="1" i="1" smtClean="0">
                            <a:solidFill>
                              <a:schemeClr val="tx1"/>
                            </a:solidFill>
                            <a:latin typeface="Cambria Math" pitchFamily="18" charset="0"/>
                            <a:ea typeface="Cambria Math" pitchFamily="18" charset="0"/>
                          </a:rPr>
                          <m:t>𝒚</m:t>
                        </m:r>
                      </m:oMath>
                    </m:oMathPara>
                  </a14:m>
                  <a:endParaRPr lang="en-IN" b="1" dirty="0"/>
                </a:p>
              </p:txBody>
            </p:sp>
          </mc:Choice>
          <mc:Fallback xmlns=""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BDC1DE2B-BA5E-ACC6-078A-F51913F313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8452" y="2403967"/>
                  <a:ext cx="579894" cy="369332"/>
                </a:xfrm>
                <a:prstGeom prst="rect">
                  <a:avLst/>
                </a:prstGeom>
                <a:blipFill>
                  <a:blip r:embed="rId14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D6EAEACC-0D7A-03F2-7E43-51D26E767CBA}"/>
              </a:ext>
            </a:extLst>
          </p:cNvPr>
          <p:cNvGrpSpPr/>
          <p:nvPr/>
        </p:nvGrpSpPr>
        <p:grpSpPr>
          <a:xfrm>
            <a:off x="7777409" y="2997069"/>
            <a:ext cx="1065308" cy="1052056"/>
            <a:chOff x="5849818" y="2418335"/>
            <a:chExt cx="1065308" cy="105205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49E119BA-DA34-9697-CDF6-C95648378AA4}"/>
                    </a:ext>
                  </a:extLst>
                </p:cNvPr>
                <p:cNvSpPr txBox="1"/>
                <p:nvPr/>
              </p:nvSpPr>
              <p:spPr>
                <a:xfrm>
                  <a:off x="5849818" y="2720827"/>
                  <a:ext cx="920193" cy="74956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IN" i="1" smtClean="0">
                                <a:solidFill>
                                  <a:srgbClr val="0000FF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i="1" smtClean="0">
                                    <a:solidFill>
                                      <a:srgbClr val="0000FF"/>
                                    </a:solidFill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i="1">
                                    <a:solidFill>
                                      <a:srgbClr val="0000FF"/>
                                    </a:solidFill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0000FF"/>
                                    </a:solidFill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FF"/>
                                    </a:solidFill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e>
                            </m:eqArr>
                            <m:eqArr>
                              <m:eqArrPr>
                                <m:ctrlPr>
                                  <a:rPr lang="en-US" i="1" smtClean="0">
                                    <a:solidFill>
                                      <a:srgbClr val="0000FF"/>
                                    </a:solidFill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b="0" i="1" smtClean="0">
                                    <a:solidFill>
                                      <a:srgbClr val="0000FF"/>
                                    </a:solidFill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i="1" smtClean="0">
                                    <a:solidFill>
                                      <a:srgbClr val="0000FF"/>
                                    </a:solidFill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0000FF"/>
                                    </a:solidFill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   ⋮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0000FF"/>
                                    </a:solidFill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i="1">
                                    <a:solidFill>
                                      <a:srgbClr val="0000FF"/>
                                    </a:solidFill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en-IN" dirty="0">
                    <a:solidFill>
                      <a:srgbClr val="0000FF"/>
                    </a:solidFill>
                    <a:highlight>
                      <a:srgbClr val="FFFF00"/>
                    </a:highlight>
                  </a:endParaRPr>
                </a:p>
              </p:txBody>
            </p:sp>
          </mc:Choice>
          <mc:Fallback xmlns=""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49E119BA-DA34-9697-CDF6-C95648378A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49818" y="2720827"/>
                  <a:ext cx="920193" cy="749564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5CA3781B-BBE2-95EC-6DDE-16569BCE9DE9}"/>
                    </a:ext>
                  </a:extLst>
                </p:cNvPr>
                <p:cNvSpPr txBox="1"/>
                <p:nvPr/>
              </p:nvSpPr>
              <p:spPr>
                <a:xfrm>
                  <a:off x="6014469" y="2418335"/>
                  <a:ext cx="90065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I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en-IN" b="1" dirty="0">
                      <a:solidFill>
                        <a:schemeClr val="tx1"/>
                      </a:solidFill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IN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a14:m>
                  <a:endParaRPr lang="en-IN" b="1" dirty="0"/>
                </a:p>
              </p:txBody>
            </p:sp>
          </mc:Choice>
          <mc:Fallback xmlns="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5CA3781B-BBE2-95EC-6DDE-16569BCE9D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4469" y="2418335"/>
                  <a:ext cx="900657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8F685153-1D9A-D58E-B676-86B1F16A17E7}"/>
              </a:ext>
            </a:extLst>
          </p:cNvPr>
          <p:cNvGrpSpPr/>
          <p:nvPr/>
        </p:nvGrpSpPr>
        <p:grpSpPr>
          <a:xfrm>
            <a:off x="3779631" y="5346956"/>
            <a:ext cx="4341459" cy="730265"/>
            <a:chOff x="3779631" y="5346956"/>
            <a:chExt cx="4341459" cy="73026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57739E2C-F83E-D2EC-3939-B44AF7D32900}"/>
                    </a:ext>
                  </a:extLst>
                </p:cNvPr>
                <p:cNvSpPr txBox="1"/>
                <p:nvPr/>
              </p:nvSpPr>
              <p:spPr>
                <a:xfrm>
                  <a:off x="6313268" y="5364514"/>
                  <a:ext cx="683240" cy="67755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IN" sz="2000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1" i="1" smtClean="0">
                                <a:latin typeface="Cambria Math" panose="02040503050406030204" pitchFamily="18" charset="0"/>
                              </a:rPr>
                              <m:t>𝝏</m:t>
                            </m:r>
                            <m:sSub>
                              <m:sSubPr>
                                <m:ctrlPr>
                                  <a:rPr lang="en-IN" sz="20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e>
                              <m:sub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000" b="1" i="1" smtClean="0">
                                <a:latin typeface="Cambria Math" panose="02040503050406030204" pitchFamily="18" charset="0"/>
                              </a:rPr>
                              <m:t>𝝏</m:t>
                            </m:r>
                            <m:r>
                              <a:rPr lang="en-US" sz="2000" b="1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den>
                        </m:f>
                      </m:oMath>
                    </m:oMathPara>
                  </a14:m>
                  <a:endParaRPr lang="en-IN" sz="2000" b="1" dirty="0"/>
                </a:p>
              </p:txBody>
            </p:sp>
          </mc:Choice>
          <mc:Fallback xmlns=""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57739E2C-F83E-D2EC-3939-B44AF7D329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3268" y="5364514"/>
                  <a:ext cx="683240" cy="677558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16243136-D2B8-714C-A057-F9680ADFF569}"/>
                    </a:ext>
                  </a:extLst>
                </p:cNvPr>
                <p:cNvSpPr txBox="1"/>
                <p:nvPr/>
              </p:nvSpPr>
              <p:spPr>
                <a:xfrm>
                  <a:off x="7437850" y="5346956"/>
                  <a:ext cx="683240" cy="7302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IN" sz="2000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1" i="1" smtClean="0">
                                <a:latin typeface="Cambria Math" panose="02040503050406030204" pitchFamily="18" charset="0"/>
                              </a:rPr>
                              <m:t>𝝏</m:t>
                            </m:r>
                            <m:sSub>
                              <m:sSubPr>
                                <m:ctrlPr>
                                  <a:rPr lang="en-IN" sz="20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e>
                              <m:sub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000" b="1" i="1" smtClean="0">
                                <a:latin typeface="Cambria Math" panose="02040503050406030204" pitchFamily="18" charset="0"/>
                              </a:rPr>
                              <m:t>𝝏</m:t>
                            </m:r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den>
                        </m:f>
                      </m:oMath>
                    </m:oMathPara>
                  </a14:m>
                  <a:endParaRPr lang="en-IN" sz="2000" dirty="0"/>
                </a:p>
              </p:txBody>
            </p:sp>
          </mc:Choice>
          <mc:Fallback xmlns=""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16243136-D2B8-714C-A057-F9680ADFF5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7850" y="5346956"/>
                  <a:ext cx="683240" cy="730265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729E8A8A-B052-7F43-4E59-F38ADBA763FA}"/>
                </a:ext>
              </a:extLst>
            </p:cNvPr>
            <p:cNvSpPr txBox="1"/>
            <p:nvPr/>
          </p:nvSpPr>
          <p:spPr>
            <a:xfrm>
              <a:off x="3779631" y="5522082"/>
              <a:ext cx="268911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000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Objective: To compute</a:t>
              </a:r>
              <a:endParaRPr lang="en-IN" sz="2000" b="1" dirty="0"/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893BCA29-7E04-674A-E5AE-3E962D6EDAE9}"/>
                </a:ext>
              </a:extLst>
            </p:cNvPr>
            <p:cNvSpPr txBox="1"/>
            <p:nvPr/>
          </p:nvSpPr>
          <p:spPr>
            <a:xfrm>
              <a:off x="6934609" y="5503237"/>
              <a:ext cx="67198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000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and </a:t>
              </a:r>
              <a:endParaRPr lang="en-IN" sz="2000" b="1" dirty="0"/>
            </a:p>
          </p:txBody>
        </p:sp>
      </p:grpSp>
      <p:sp>
        <p:nvSpPr>
          <p:cNvPr id="121" name="TextBox 120">
            <a:extLst>
              <a:ext uri="{FF2B5EF4-FFF2-40B4-BE49-F238E27FC236}">
                <a16:creationId xmlns:a16="http://schemas.microsoft.com/office/drawing/2014/main" id="{DCF979D6-11C8-B1E1-DD67-BC36AD09D69A}"/>
              </a:ext>
            </a:extLst>
          </p:cNvPr>
          <p:cNvSpPr txBox="1"/>
          <p:nvPr/>
        </p:nvSpPr>
        <p:spPr>
          <a:xfrm>
            <a:off x="0" y="686506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Automatic Gradient: </a:t>
            </a:r>
            <a:r>
              <a:rPr lang="en-IN" sz="2800" b="1" dirty="0" err="1"/>
              <a:t>Keras</a:t>
            </a:r>
            <a:r>
              <a:rPr lang="en-IN" sz="2800" b="1" dirty="0"/>
              <a:t> Model Example</a:t>
            </a:r>
          </a:p>
        </p:txBody>
      </p:sp>
    </p:spTree>
    <p:extLst>
      <p:ext uri="{BB962C8B-B14F-4D97-AF65-F5344CB8AC3E}">
        <p14:creationId xmlns:p14="http://schemas.microsoft.com/office/powerpoint/2010/main" val="34743626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F8787-E917-71C8-351F-A45690B0B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F7FB0B9-F357-D83C-14EB-513299455B3F}"/>
              </a:ext>
            </a:extLst>
          </p:cNvPr>
          <p:cNvSpPr txBox="1"/>
          <p:nvPr/>
        </p:nvSpPr>
        <p:spPr>
          <a:xfrm>
            <a:off x="0" y="98322"/>
            <a:ext cx="12192000" cy="52322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Session 1: </a:t>
            </a:r>
            <a:r>
              <a:rPr lang="en-US" sz="2800" b="1" dirty="0" err="1">
                <a:solidFill>
                  <a:schemeClr val="bg1"/>
                </a:solidFill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Tensorflow</a:t>
            </a:r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 Basics</a:t>
            </a:r>
            <a:endParaRPr lang="en-IN" sz="2800" b="1" dirty="0">
              <a:solidFill>
                <a:schemeClr val="bg1"/>
              </a:solidFill>
              <a:latin typeface="Century Schoolbook" panose="02040604050505020304" pitchFamily="18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74A886-623B-91A8-EAA5-D5D3397A5769}"/>
              </a:ext>
            </a:extLst>
          </p:cNvPr>
          <p:cNvSpPr txBox="1"/>
          <p:nvPr/>
        </p:nvSpPr>
        <p:spPr>
          <a:xfrm>
            <a:off x="543240" y="1274691"/>
            <a:ext cx="6096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# Importing Libraries</a:t>
            </a:r>
          </a:p>
          <a:p>
            <a:pPr lvl="0">
              <a:defRPr/>
            </a:pPr>
            <a:r>
              <a:rPr lang="en-IN" sz="2000" dirty="0">
                <a:solidFill>
                  <a:prstClr val="black"/>
                </a:solidFill>
                <a:latin typeface="Consolas" panose="020B0609020204030204" pitchFamily="49" charset="0"/>
              </a:rPr>
              <a:t>import </a:t>
            </a:r>
            <a:r>
              <a:rPr lang="en-IN" sz="2000" dirty="0" err="1">
                <a:solidFill>
                  <a:prstClr val="black"/>
                </a:solidFill>
                <a:latin typeface="Consolas" panose="020B0609020204030204" pitchFamily="49" charset="0"/>
              </a:rPr>
              <a:t>numpy</a:t>
            </a:r>
            <a:endParaRPr lang="en-IN" sz="20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lvl="0">
              <a:defRPr/>
            </a:pPr>
            <a:r>
              <a:rPr lang="en-IN" sz="2000" dirty="0">
                <a:solidFill>
                  <a:prstClr val="black"/>
                </a:solidFill>
                <a:latin typeface="Consolas" panose="020B0609020204030204" pitchFamily="49" charset="0"/>
              </a:rPr>
              <a:t>import </a:t>
            </a:r>
            <a:r>
              <a:rPr lang="en-IN" sz="2000" dirty="0" err="1">
                <a:solidFill>
                  <a:srgbClr val="CC00CC"/>
                </a:solidFill>
                <a:latin typeface="Consolas" panose="020B0609020204030204" pitchFamily="49" charset="0"/>
              </a:rPr>
              <a:t>keras</a:t>
            </a:r>
            <a:endParaRPr lang="en-IN" sz="2000" dirty="0">
              <a:solidFill>
                <a:srgbClr val="CC00CC"/>
              </a:solidFill>
              <a:latin typeface="Consolas" panose="020B0609020204030204" pitchFamily="49" charset="0"/>
            </a:endParaRPr>
          </a:p>
          <a:p>
            <a:pPr lvl="0">
              <a:defRPr/>
            </a:pPr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from </a:t>
            </a:r>
            <a:r>
              <a:rPr lang="en-US" sz="2000" dirty="0" err="1">
                <a:solidFill>
                  <a:srgbClr val="CC00CC"/>
                </a:solidFill>
                <a:latin typeface="Consolas" panose="020B0609020204030204" pitchFamily="49" charset="0"/>
              </a:rPr>
              <a:t>keras</a:t>
            </a:r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 import </a:t>
            </a:r>
            <a:r>
              <a:rPr lang="en-US" sz="2000" dirty="0">
                <a:solidFill>
                  <a:srgbClr val="CC00CC"/>
                </a:solidFill>
                <a:latin typeface="Consolas" panose="020B0609020204030204" pitchFamily="49" charset="0"/>
              </a:rPr>
              <a:t>layers</a:t>
            </a:r>
            <a:r>
              <a:rPr lang="en-US" sz="2000" dirty="0">
                <a:solidFill>
                  <a:prstClr val="black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CC00CC"/>
                </a:solidFill>
                <a:latin typeface="Consolas" panose="020B0609020204030204" pitchFamily="49" charset="0"/>
              </a:rPr>
              <a:t>Input</a:t>
            </a:r>
            <a:endParaRPr lang="en-IN" sz="2000" dirty="0">
              <a:solidFill>
                <a:srgbClr val="CC00CC"/>
              </a:solidFill>
              <a:latin typeface="Consolas" panose="020B0609020204030204" pitchFamily="49" charset="0"/>
            </a:endParaRPr>
          </a:p>
          <a:p>
            <a:pPr lvl="0">
              <a:defRPr/>
            </a:pPr>
            <a:r>
              <a:rPr lang="en-IN" sz="2000" dirty="0">
                <a:solidFill>
                  <a:prstClr val="black"/>
                </a:solidFill>
                <a:latin typeface="Consolas" panose="020B0609020204030204" pitchFamily="49" charset="0"/>
              </a:rPr>
              <a:t>from </a:t>
            </a:r>
            <a:r>
              <a:rPr lang="en-IN" sz="2000" dirty="0" err="1">
                <a:solidFill>
                  <a:srgbClr val="CC00CC"/>
                </a:solidFill>
                <a:latin typeface="Consolas" panose="020B0609020204030204" pitchFamily="49" charset="0"/>
              </a:rPr>
              <a:t>keras</a:t>
            </a:r>
            <a:r>
              <a:rPr lang="en-IN" sz="2000" dirty="0" err="1">
                <a:solidFill>
                  <a:prstClr val="black"/>
                </a:solidFill>
                <a:latin typeface="Consolas" panose="020B0609020204030204" pitchFamily="49" charset="0"/>
              </a:rPr>
              <a:t>.</a:t>
            </a:r>
            <a:r>
              <a:rPr lang="en-IN" sz="2000" dirty="0" err="1">
                <a:solidFill>
                  <a:srgbClr val="CC00CC"/>
                </a:solidFill>
                <a:latin typeface="Consolas" panose="020B0609020204030204" pitchFamily="49" charset="0"/>
              </a:rPr>
              <a:t>models</a:t>
            </a:r>
            <a:r>
              <a:rPr lang="en-IN" sz="2000" dirty="0">
                <a:solidFill>
                  <a:prstClr val="black"/>
                </a:solidFill>
                <a:latin typeface="Consolas" panose="020B0609020204030204" pitchFamily="49" charset="0"/>
              </a:rPr>
              <a:t> import </a:t>
            </a:r>
            <a:r>
              <a:rPr lang="en-IN" sz="2000" dirty="0">
                <a:solidFill>
                  <a:srgbClr val="CC00CC"/>
                </a:solidFill>
                <a:latin typeface="Consolas" panose="020B0609020204030204" pitchFamily="49" charset="0"/>
              </a:rPr>
              <a:t>Model</a:t>
            </a:r>
          </a:p>
          <a:p>
            <a:pPr lvl="0">
              <a:defRPr/>
            </a:pPr>
            <a:r>
              <a:rPr lang="en-IN" sz="2000" dirty="0">
                <a:solidFill>
                  <a:prstClr val="black"/>
                </a:solidFill>
                <a:latin typeface="Consolas" panose="020B0609020204030204" pitchFamily="49" charset="0"/>
              </a:rPr>
              <a:t>import </a:t>
            </a:r>
            <a:r>
              <a:rPr lang="en-IN" sz="2000" dirty="0" err="1">
                <a:solidFill>
                  <a:srgbClr val="00B0F0"/>
                </a:solidFill>
                <a:latin typeface="Consolas" panose="020B0609020204030204" pitchFamily="49" charset="0"/>
              </a:rPr>
              <a:t>tensorflow</a:t>
            </a:r>
            <a:r>
              <a:rPr lang="en-IN" sz="2000" dirty="0">
                <a:solidFill>
                  <a:prstClr val="black"/>
                </a:solidFill>
                <a:latin typeface="Consolas" panose="020B0609020204030204" pitchFamily="49" charset="0"/>
              </a:rPr>
              <a:t> as </a:t>
            </a:r>
            <a:r>
              <a:rPr lang="en-IN" sz="2000" dirty="0" err="1">
                <a:solidFill>
                  <a:srgbClr val="00B0F0"/>
                </a:solidFill>
                <a:latin typeface="Consolas" panose="020B0609020204030204" pitchFamily="49" charset="0"/>
              </a:rPr>
              <a:t>tf</a:t>
            </a:r>
            <a:endParaRPr lang="en-IN" sz="2000" dirty="0">
              <a:solidFill>
                <a:srgbClr val="00B0F0"/>
              </a:solidFill>
              <a:latin typeface="Consolas" panose="020B0609020204030204" pitchFamily="49" charset="0"/>
            </a:endParaRPr>
          </a:p>
          <a:p>
            <a:pPr lvl="0">
              <a:defRPr/>
            </a:pPr>
            <a:r>
              <a:rPr lang="en-IN" sz="2000" dirty="0">
                <a:solidFill>
                  <a:prstClr val="black"/>
                </a:solidFill>
                <a:latin typeface="Consolas" panose="020B0609020204030204" pitchFamily="49" charset="0"/>
              </a:rPr>
              <a:t>from </a:t>
            </a:r>
            <a:r>
              <a:rPr lang="en-IN" sz="2000" dirty="0" err="1">
                <a:solidFill>
                  <a:srgbClr val="CC00CC"/>
                </a:solidFill>
                <a:latin typeface="Consolas" panose="020B0609020204030204" pitchFamily="49" charset="0"/>
              </a:rPr>
              <a:t>keras</a:t>
            </a:r>
            <a:r>
              <a:rPr lang="en-IN" sz="2000" dirty="0">
                <a:solidFill>
                  <a:prstClr val="black"/>
                </a:solidFill>
                <a:latin typeface="Consolas" panose="020B0609020204030204" pitchFamily="49" charset="0"/>
              </a:rPr>
              <a:t> import </a:t>
            </a:r>
            <a:r>
              <a:rPr lang="en-IN" sz="2000" dirty="0">
                <a:solidFill>
                  <a:srgbClr val="CC00CC"/>
                </a:solidFill>
                <a:latin typeface="Consolas" panose="020B0609020204030204" pitchFamily="49" charset="0"/>
              </a:rPr>
              <a:t>backend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D13FD1-FE44-CA21-0F17-2FB0DC106BC2}"/>
              </a:ext>
            </a:extLst>
          </p:cNvPr>
          <p:cNvSpPr txBox="1"/>
          <p:nvPr/>
        </p:nvSpPr>
        <p:spPr>
          <a:xfrm>
            <a:off x="543240" y="3702931"/>
            <a:ext cx="105413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2000" i="1" dirty="0">
                <a:solidFill>
                  <a:srgbClr val="C00000"/>
                </a:solidFill>
                <a:latin typeface="Consolas" panose="020B0609020204030204" pitchFamily="49" charset="0"/>
              </a:rPr>
              <a:t># Executing in graph mode</a:t>
            </a:r>
          </a:p>
          <a:p>
            <a:r>
              <a:rPr lang="en-IN" sz="2000" dirty="0">
                <a:solidFill>
                  <a:srgbClr val="00B0F0"/>
                </a:solidFill>
                <a:latin typeface="Consolas" panose="020B0609020204030204" pitchFamily="49" charset="0"/>
              </a:rPr>
              <a:t>tf.compat.v1.disable_eager_execution</a:t>
            </a:r>
            <a:r>
              <a:rPr lang="en-IN" sz="2000" dirty="0">
                <a:latin typeface="Consolas" panose="020B0609020204030204" pitchFamily="49" charset="0"/>
              </a:rPr>
              <a:t>(); 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sess = </a:t>
            </a:r>
            <a:r>
              <a:rPr lang="en-IN" sz="2000" dirty="0">
                <a:solidFill>
                  <a:srgbClr val="00B0F0"/>
                </a:solidFill>
                <a:latin typeface="Consolas" panose="020B0609020204030204" pitchFamily="49" charset="0"/>
              </a:rPr>
              <a:t>tf.compat.v1.Session</a:t>
            </a:r>
            <a:r>
              <a:rPr lang="en-IN" sz="2000" dirty="0">
                <a:latin typeface="Consolas" panose="020B0609020204030204" pitchFamily="49" charset="0"/>
              </a:rPr>
              <a:t>(); </a:t>
            </a:r>
          </a:p>
          <a:p>
            <a:r>
              <a:rPr lang="en-US" sz="2000" dirty="0" err="1">
                <a:solidFill>
                  <a:srgbClr val="CC00CC"/>
                </a:solidFill>
                <a:latin typeface="Consolas" panose="020B0609020204030204" pitchFamily="49" charset="0"/>
              </a:rPr>
              <a:t>backend</a:t>
            </a:r>
            <a:r>
              <a:rPr lang="en-US" sz="2000" dirty="0" err="1">
                <a:latin typeface="Consolas" panose="020B0609020204030204" pitchFamily="49" charset="0"/>
              </a:rPr>
              <a:t>.</a:t>
            </a:r>
            <a:r>
              <a:rPr lang="en-US" sz="2000" dirty="0" err="1">
                <a:solidFill>
                  <a:srgbClr val="CC00CC"/>
                </a:solidFill>
                <a:latin typeface="Consolas" panose="020B0609020204030204" pitchFamily="49" charset="0"/>
              </a:rPr>
              <a:t>set_session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</a:rPr>
              <a:t>sess</a:t>
            </a:r>
            <a:r>
              <a:rPr lang="en-US" sz="2000" dirty="0">
                <a:latin typeface="Consolas" panose="020B0609020204030204" pitchFamily="49" charset="0"/>
              </a:rPr>
              <a:t>); </a:t>
            </a:r>
            <a:r>
              <a:rPr lang="en-US" sz="2000" i="1" dirty="0">
                <a:solidFill>
                  <a:srgbClr val="C00000"/>
                </a:solidFill>
                <a:latin typeface="Consolas" panose="020B0609020204030204" pitchFamily="49" charset="0"/>
              </a:rPr>
              <a:t># Required to tell </a:t>
            </a:r>
            <a:r>
              <a:rPr lang="en-US" sz="2000" i="1" dirty="0" err="1">
                <a:solidFill>
                  <a:srgbClr val="C00000"/>
                </a:solidFill>
                <a:latin typeface="Consolas" panose="020B0609020204030204" pitchFamily="49" charset="0"/>
              </a:rPr>
              <a:t>Keras</a:t>
            </a:r>
            <a:r>
              <a:rPr lang="en-US" sz="2000" i="1" dirty="0">
                <a:solidFill>
                  <a:srgbClr val="C00000"/>
                </a:solidFill>
                <a:latin typeface="Consolas" panose="020B0609020204030204" pitchFamily="49" charset="0"/>
              </a:rPr>
              <a:t> to use this session.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95C03A-B3C2-7BBA-DEC7-AE092F9664CD}"/>
              </a:ext>
            </a:extLst>
          </p:cNvPr>
          <p:cNvSpPr txBox="1"/>
          <p:nvPr/>
        </p:nvSpPr>
        <p:spPr>
          <a:xfrm>
            <a:off x="543240" y="5334147"/>
            <a:ext cx="932902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2000" i="1" dirty="0">
                <a:solidFill>
                  <a:srgbClr val="C00000"/>
                </a:solidFill>
                <a:latin typeface="Consolas" panose="020B0609020204030204" pitchFamily="49" charset="0"/>
              </a:rPr>
              <a:t># Setting precision for </a:t>
            </a:r>
            <a:r>
              <a:rPr lang="en-US" sz="2000" i="1" dirty="0" err="1">
                <a:solidFill>
                  <a:srgbClr val="C00000"/>
                </a:solidFill>
                <a:latin typeface="Consolas" panose="020B0609020204030204" pitchFamily="49" charset="0"/>
              </a:rPr>
              <a:t>Tensorflow</a:t>
            </a:r>
            <a:r>
              <a:rPr lang="en-US" sz="2000" i="1" dirty="0">
                <a:solidFill>
                  <a:srgbClr val="C00000"/>
                </a:solidFill>
                <a:latin typeface="Consolas" panose="020B0609020204030204" pitchFamily="49" charset="0"/>
              </a:rPr>
              <a:t> (used as backend by </a:t>
            </a:r>
            <a:r>
              <a:rPr lang="en-US" sz="2000" i="1" dirty="0" err="1">
                <a:solidFill>
                  <a:srgbClr val="C00000"/>
                </a:solidFill>
                <a:latin typeface="Consolas" panose="020B0609020204030204" pitchFamily="49" charset="0"/>
              </a:rPr>
              <a:t>Keras</a:t>
            </a:r>
            <a:r>
              <a:rPr lang="en-US" sz="2000" i="1" dirty="0">
                <a:solidFill>
                  <a:srgbClr val="C00000"/>
                </a:solidFill>
                <a:latin typeface="Consolas" panose="020B0609020204030204" pitchFamily="49" charset="0"/>
              </a:rPr>
              <a:t>)</a:t>
            </a:r>
          </a:p>
          <a:p>
            <a:pPr lvl="0">
              <a:defRPr/>
            </a:pPr>
            <a:r>
              <a:rPr lang="en-US" sz="2000" i="1" dirty="0">
                <a:solidFill>
                  <a:srgbClr val="C00000"/>
                </a:solidFill>
                <a:latin typeface="Consolas" panose="020B0609020204030204" pitchFamily="49" charset="0"/>
              </a:rPr>
              <a:t># Default: float32</a:t>
            </a:r>
          </a:p>
          <a:p>
            <a:pPr lvl="0">
              <a:defRPr/>
            </a:pPr>
            <a:r>
              <a:rPr lang="en-US" sz="2000" dirty="0" err="1">
                <a:solidFill>
                  <a:srgbClr val="00B0F0"/>
                </a:solidFill>
                <a:latin typeface="Consolas" panose="020B0609020204030204" pitchFamily="49" charset="0"/>
              </a:rPr>
              <a:t>tf</a:t>
            </a:r>
            <a:r>
              <a:rPr lang="en-US" sz="2000" dirty="0" err="1">
                <a:latin typeface="Consolas" panose="020B0609020204030204" pitchFamily="49" charset="0"/>
              </a:rPr>
              <a:t>.</a:t>
            </a:r>
            <a:r>
              <a:rPr lang="en-US" sz="2000" dirty="0" err="1">
                <a:solidFill>
                  <a:srgbClr val="00B0F0"/>
                </a:solidFill>
                <a:latin typeface="Consolas" panose="020B0609020204030204" pitchFamily="49" charset="0"/>
              </a:rPr>
              <a:t>keras</a:t>
            </a:r>
            <a:r>
              <a:rPr lang="en-US" sz="2000" dirty="0" err="1">
                <a:latin typeface="Consolas" panose="020B0609020204030204" pitchFamily="49" charset="0"/>
              </a:rPr>
              <a:t>.</a:t>
            </a:r>
            <a:r>
              <a:rPr lang="en-US" sz="2000" dirty="0" err="1">
                <a:solidFill>
                  <a:srgbClr val="00B0F0"/>
                </a:solidFill>
                <a:latin typeface="Consolas" panose="020B0609020204030204" pitchFamily="49" charset="0"/>
              </a:rPr>
              <a:t>backend</a:t>
            </a:r>
            <a:r>
              <a:rPr lang="en-US" sz="2000" dirty="0" err="1">
                <a:latin typeface="Consolas" panose="020B0609020204030204" pitchFamily="49" charset="0"/>
              </a:rPr>
              <a:t>.</a:t>
            </a:r>
            <a:r>
              <a:rPr lang="en-US" sz="2000" dirty="0" err="1">
                <a:solidFill>
                  <a:srgbClr val="00B0F0"/>
                </a:solidFill>
                <a:latin typeface="Consolas" panose="020B0609020204030204" pitchFamily="49" charset="0"/>
              </a:rPr>
              <a:t>set_floatx</a:t>
            </a:r>
            <a:r>
              <a:rPr lang="en-US" sz="2000" dirty="0">
                <a:latin typeface="Consolas" panose="020B0609020204030204" pitchFamily="49" charset="0"/>
              </a:rPr>
              <a:t>('float64')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199D4D-679D-E00E-687E-E4A2B2E75618}"/>
              </a:ext>
            </a:extLst>
          </p:cNvPr>
          <p:cNvSpPr txBox="1"/>
          <p:nvPr/>
        </p:nvSpPr>
        <p:spPr>
          <a:xfrm>
            <a:off x="0" y="686506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Automatic Gradient: </a:t>
            </a:r>
            <a:r>
              <a:rPr lang="en-IN" sz="2800" b="1" dirty="0" err="1"/>
              <a:t>Keras</a:t>
            </a:r>
            <a:r>
              <a:rPr lang="en-IN" sz="2800" b="1" dirty="0"/>
              <a:t> Model Example</a:t>
            </a:r>
          </a:p>
        </p:txBody>
      </p:sp>
    </p:spTree>
    <p:extLst>
      <p:ext uri="{BB962C8B-B14F-4D97-AF65-F5344CB8AC3E}">
        <p14:creationId xmlns:p14="http://schemas.microsoft.com/office/powerpoint/2010/main" val="2551767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5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0771C-24B9-AB88-44F8-358646F33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oup 61">
            <a:extLst>
              <a:ext uri="{FF2B5EF4-FFF2-40B4-BE49-F238E27FC236}">
                <a16:creationId xmlns:a16="http://schemas.microsoft.com/office/drawing/2014/main" id="{3AEFAF42-2B9C-50CB-657C-EC74169B4558}"/>
              </a:ext>
            </a:extLst>
          </p:cNvPr>
          <p:cNvGrpSpPr/>
          <p:nvPr/>
        </p:nvGrpSpPr>
        <p:grpSpPr>
          <a:xfrm>
            <a:off x="3861924" y="3730694"/>
            <a:ext cx="4366475" cy="2434824"/>
            <a:chOff x="4127388" y="3573375"/>
            <a:chExt cx="4366475" cy="2434824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F4963B9-8928-46B7-8B88-F487CFF78C72}"/>
                </a:ext>
              </a:extLst>
            </p:cNvPr>
            <p:cNvSpPr/>
            <p:nvPr/>
          </p:nvSpPr>
          <p:spPr>
            <a:xfrm>
              <a:off x="4137497" y="3573375"/>
              <a:ext cx="4346257" cy="24348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CC08C62-8535-2432-3A4E-3895133A1244}"/>
                </a:ext>
              </a:extLst>
            </p:cNvPr>
            <p:cNvSpPr/>
            <p:nvPr/>
          </p:nvSpPr>
          <p:spPr>
            <a:xfrm>
              <a:off x="5565008" y="4604394"/>
              <a:ext cx="298186" cy="28373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lang="en-IN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B2FC39E-1C5C-5F4B-62D1-465BE8DCC7F8}"/>
                    </a:ext>
                  </a:extLst>
                </p:cNvPr>
                <p:cNvSpPr txBox="1"/>
                <p:nvPr/>
              </p:nvSpPr>
              <p:spPr>
                <a:xfrm>
                  <a:off x="5157669" y="4552447"/>
                  <a:ext cx="53644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1" i="1" smtClean="0">
                            <a:solidFill>
                              <a:schemeClr val="tx1"/>
                            </a:solidFill>
                            <a:latin typeface="Cambria Math" pitchFamily="18" charset="0"/>
                            <a:ea typeface="Cambria Math" pitchFamily="18" charset="0"/>
                          </a:rPr>
                          <m:t>𝒙</m:t>
                        </m:r>
                      </m:oMath>
                    </m:oMathPara>
                  </a14:m>
                  <a:endParaRPr lang="en-IN" b="1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B2FC39E-1C5C-5F4B-62D1-465BE8DCC7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57669" y="4552447"/>
                  <a:ext cx="536448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DFC9425-A3F5-16C7-32E7-D1A4A9ECAAC9}"/>
                </a:ext>
              </a:extLst>
            </p:cNvPr>
            <p:cNvSpPr txBox="1"/>
            <p:nvPr/>
          </p:nvSpPr>
          <p:spPr>
            <a:xfrm>
              <a:off x="4138564" y="5222030"/>
              <a:ext cx="141427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800" i="1" dirty="0">
                  <a:solidFill>
                    <a:srgbClr val="0000FF"/>
                  </a:solidFill>
                  <a:latin typeface="Consolas" panose="020B0609020204030204" pitchFamily="49" charset="0"/>
                </a:rPr>
                <a:t>(None,1)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400AFBB-47AA-C25A-0D66-C10199695600}"/>
                </a:ext>
              </a:extLst>
            </p:cNvPr>
            <p:cNvSpPr/>
            <p:nvPr/>
          </p:nvSpPr>
          <p:spPr>
            <a:xfrm>
              <a:off x="5567975" y="5528913"/>
              <a:ext cx="298186" cy="283730"/>
            </a:xfrm>
            <a:prstGeom prst="ellipse">
              <a:avLst/>
            </a:prstGeom>
            <a:solidFill>
              <a:srgbClr val="C14E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en-IN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C3131E42-F21E-2611-3788-2048B0E3926C}"/>
                    </a:ext>
                  </a:extLst>
                </p:cNvPr>
                <p:cNvSpPr txBox="1"/>
                <p:nvPr/>
              </p:nvSpPr>
              <p:spPr>
                <a:xfrm>
                  <a:off x="5174516" y="5454201"/>
                  <a:ext cx="53644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1" i="1" smtClean="0">
                            <a:solidFill>
                              <a:schemeClr val="tx1"/>
                            </a:solidFill>
                            <a:latin typeface="Cambria Math" pitchFamily="18" charset="0"/>
                            <a:ea typeface="Cambria Math" pitchFamily="18" charset="0"/>
                          </a:rPr>
                          <m:t>𝒚</m:t>
                        </m:r>
                      </m:oMath>
                    </m:oMathPara>
                  </a14:m>
                  <a:endParaRPr lang="en-IN" b="1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C3131E42-F21E-2611-3788-2048B0E392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4516" y="5454201"/>
                  <a:ext cx="536448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29E421A-2E82-6305-6C6F-7DEB71B97F2B}"/>
                </a:ext>
              </a:extLst>
            </p:cNvPr>
            <p:cNvSpPr/>
            <p:nvPr/>
          </p:nvSpPr>
          <p:spPr>
            <a:xfrm>
              <a:off x="7673639" y="4595248"/>
              <a:ext cx="298186" cy="28373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lang="en-IN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82F4FA9-ED51-08DA-F134-BA63452319B2}"/>
                </a:ext>
              </a:extLst>
            </p:cNvPr>
            <p:cNvSpPr/>
            <p:nvPr/>
          </p:nvSpPr>
          <p:spPr>
            <a:xfrm>
              <a:off x="7673448" y="5528913"/>
              <a:ext cx="298186" cy="28373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en-IN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4A600EC-AB87-430B-77D6-86412F780A76}"/>
                </a:ext>
              </a:extLst>
            </p:cNvPr>
            <p:cNvSpPr/>
            <p:nvPr/>
          </p:nvSpPr>
          <p:spPr>
            <a:xfrm>
              <a:off x="5561871" y="3658977"/>
              <a:ext cx="298186" cy="283730"/>
            </a:xfrm>
            <a:prstGeom prst="ellipse">
              <a:avLst/>
            </a:prstGeom>
            <a:solidFill>
              <a:srgbClr val="CC00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17DB54A-4E7B-4330-51EF-A996E2C4CBD5}"/>
                </a:ext>
              </a:extLst>
            </p:cNvPr>
            <p:cNvSpPr txBox="1"/>
            <p:nvPr/>
          </p:nvSpPr>
          <p:spPr>
            <a:xfrm>
              <a:off x="4858387" y="3573375"/>
              <a:ext cx="76984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latin typeface="Consolas" panose="020B0609020204030204" pitchFamily="49" charset="0"/>
                </a:rPr>
                <a:t>B</a:t>
              </a:r>
              <a:r>
                <a:rPr lang="en-IN" b="1" dirty="0" err="1">
                  <a:latin typeface="Consolas" panose="020B0609020204030204" pitchFamily="49" charset="0"/>
                </a:rPr>
                <a:t>ias</a:t>
              </a:r>
              <a:endParaRPr lang="en-IN" b="1" dirty="0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2EE149EE-4F6A-2E5F-F1F1-57E7FD117692}"/>
                </a:ext>
              </a:extLst>
            </p:cNvPr>
            <p:cNvCxnSpPr>
              <a:cxnSpLocks/>
              <a:stCxn id="11" idx="6"/>
              <a:endCxn id="14" idx="2"/>
            </p:cNvCxnSpPr>
            <p:nvPr/>
          </p:nvCxnSpPr>
          <p:spPr>
            <a:xfrm flipV="1">
              <a:off x="5866161" y="4737113"/>
              <a:ext cx="1807478" cy="933665"/>
            </a:xfrm>
            <a:prstGeom prst="straightConnector1">
              <a:avLst/>
            </a:prstGeom>
            <a:ln>
              <a:solidFill>
                <a:srgbClr val="C14E15"/>
              </a:solidFill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06EF8893-0682-427F-D17B-C6B66C82BD9D}"/>
                </a:ext>
              </a:extLst>
            </p:cNvPr>
            <p:cNvCxnSpPr>
              <a:cxnSpLocks/>
              <a:stCxn id="11" idx="6"/>
              <a:endCxn id="15" idx="2"/>
            </p:cNvCxnSpPr>
            <p:nvPr/>
          </p:nvCxnSpPr>
          <p:spPr>
            <a:xfrm>
              <a:off x="5866161" y="5670778"/>
              <a:ext cx="1807287" cy="0"/>
            </a:xfrm>
            <a:prstGeom prst="straightConnector1">
              <a:avLst/>
            </a:prstGeom>
            <a:ln>
              <a:solidFill>
                <a:srgbClr val="C14E15"/>
              </a:solidFill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312C44FD-EDD0-1202-193D-D5EB2898D534}"/>
                </a:ext>
              </a:extLst>
            </p:cNvPr>
            <p:cNvCxnSpPr>
              <a:cxnSpLocks/>
              <a:stCxn id="16" idx="5"/>
              <a:endCxn id="14" idx="2"/>
            </p:cNvCxnSpPr>
            <p:nvPr/>
          </p:nvCxnSpPr>
          <p:spPr>
            <a:xfrm>
              <a:off x="5816389" y="3901156"/>
              <a:ext cx="1857250" cy="835957"/>
            </a:xfrm>
            <a:prstGeom prst="straightConnector1">
              <a:avLst/>
            </a:prstGeom>
            <a:ln>
              <a:solidFill>
                <a:srgbClr val="CC00CC"/>
              </a:solidFill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27F81F4A-67F1-B6AF-9DD2-0A39FB595D5E}"/>
                </a:ext>
              </a:extLst>
            </p:cNvPr>
            <p:cNvCxnSpPr>
              <a:cxnSpLocks/>
              <a:stCxn id="16" idx="5"/>
              <a:endCxn id="15" idx="2"/>
            </p:cNvCxnSpPr>
            <p:nvPr/>
          </p:nvCxnSpPr>
          <p:spPr>
            <a:xfrm>
              <a:off x="5816389" y="3901156"/>
              <a:ext cx="1857059" cy="1769622"/>
            </a:xfrm>
            <a:prstGeom prst="straightConnector1">
              <a:avLst/>
            </a:prstGeom>
            <a:ln>
              <a:solidFill>
                <a:srgbClr val="CC00CC"/>
              </a:solidFill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BA87710F-7D4C-DF9C-CD72-321ADA08BB73}"/>
                </a:ext>
              </a:extLst>
            </p:cNvPr>
            <p:cNvCxnSpPr>
              <a:cxnSpLocks/>
              <a:stCxn id="8" idx="6"/>
              <a:endCxn id="14" idx="2"/>
            </p:cNvCxnSpPr>
            <p:nvPr/>
          </p:nvCxnSpPr>
          <p:spPr>
            <a:xfrm flipV="1">
              <a:off x="5863194" y="4737113"/>
              <a:ext cx="1810445" cy="9146"/>
            </a:xfrm>
            <a:prstGeom prst="straightConnector1">
              <a:avLst/>
            </a:prstGeom>
            <a:ln>
              <a:solidFill>
                <a:srgbClr val="00B050"/>
              </a:solidFill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093683B4-92A0-0C0D-E9AD-EABACA77E875}"/>
                </a:ext>
              </a:extLst>
            </p:cNvPr>
            <p:cNvCxnSpPr>
              <a:cxnSpLocks/>
              <a:stCxn id="8" idx="6"/>
              <a:endCxn id="15" idx="2"/>
            </p:cNvCxnSpPr>
            <p:nvPr/>
          </p:nvCxnSpPr>
          <p:spPr>
            <a:xfrm>
              <a:off x="5863194" y="4746259"/>
              <a:ext cx="1810254" cy="924519"/>
            </a:xfrm>
            <a:prstGeom prst="straightConnector1">
              <a:avLst/>
            </a:prstGeom>
            <a:ln>
              <a:solidFill>
                <a:srgbClr val="00B050"/>
              </a:solidFill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5D2D1A8B-7094-F370-DA5B-EF6AF1215463}"/>
                    </a:ext>
                  </a:extLst>
                </p:cNvPr>
                <p:cNvSpPr txBox="1"/>
                <p:nvPr/>
              </p:nvSpPr>
              <p:spPr>
                <a:xfrm>
                  <a:off x="6375628" y="3847090"/>
                  <a:ext cx="53644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1" i="1" smtClean="0">
                                <a:solidFill>
                                  <a:srgbClr val="CC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C00CC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C00CC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IN" b="1" dirty="0">
                    <a:solidFill>
                      <a:srgbClr val="CC00CC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5D2D1A8B-7094-F370-DA5B-EF6AF12154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5628" y="3847090"/>
                  <a:ext cx="536448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4FD69610-B094-9CC5-3158-8FABE4F0CF51}"/>
                    </a:ext>
                  </a:extLst>
                </p:cNvPr>
                <p:cNvSpPr txBox="1"/>
                <p:nvPr/>
              </p:nvSpPr>
              <p:spPr>
                <a:xfrm>
                  <a:off x="6375628" y="4259748"/>
                  <a:ext cx="53644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1" i="1" smtClean="0">
                                <a:solidFill>
                                  <a:srgbClr val="CC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C00CC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C00CC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IN" b="1" dirty="0">
                    <a:solidFill>
                      <a:srgbClr val="CC00CC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4FD69610-B094-9CC5-3158-8FABE4F0CF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5628" y="4259748"/>
                  <a:ext cx="536448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25903653-F85F-A1D4-A4D0-CE191528E29A}"/>
                    </a:ext>
                  </a:extLst>
                </p:cNvPr>
                <p:cNvSpPr txBox="1"/>
                <p:nvPr/>
              </p:nvSpPr>
              <p:spPr>
                <a:xfrm>
                  <a:off x="5946450" y="4416635"/>
                  <a:ext cx="53644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𝟏𝟏</m:t>
                            </m:r>
                          </m:sub>
                        </m:sSub>
                      </m:oMath>
                    </m:oMathPara>
                  </a14:m>
                  <a:endParaRPr lang="en-IN" b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25903653-F85F-A1D4-A4D0-CE191528E2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46450" y="4416635"/>
                  <a:ext cx="536448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E4A35E69-BD0B-E56D-E33A-130127ADDB5B}"/>
                    </a:ext>
                  </a:extLst>
                </p:cNvPr>
                <p:cNvSpPr txBox="1"/>
                <p:nvPr/>
              </p:nvSpPr>
              <p:spPr>
                <a:xfrm>
                  <a:off x="5946450" y="4952920"/>
                  <a:ext cx="53644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𝟏𝟐</m:t>
                            </m:r>
                          </m:sub>
                        </m:sSub>
                      </m:oMath>
                    </m:oMathPara>
                  </a14:m>
                  <a:endParaRPr lang="en-IN" b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E4A35E69-BD0B-E56D-E33A-130127ADDB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46450" y="4952920"/>
                  <a:ext cx="536448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8FF14B97-C840-0348-3774-12DCAD31F39C}"/>
                    </a:ext>
                  </a:extLst>
                </p:cNvPr>
                <p:cNvSpPr txBox="1"/>
                <p:nvPr/>
              </p:nvSpPr>
              <p:spPr>
                <a:xfrm>
                  <a:off x="6482898" y="5192888"/>
                  <a:ext cx="53644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1" i="1" smtClean="0">
                                <a:solidFill>
                                  <a:srgbClr val="C14E1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14E15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14E15"/>
                                </a:solidFill>
                                <a:latin typeface="Cambria Math" panose="02040503050406030204" pitchFamily="18" charset="0"/>
                              </a:rPr>
                              <m:t>𝟐𝟏</m:t>
                            </m:r>
                          </m:sub>
                        </m:sSub>
                      </m:oMath>
                    </m:oMathPara>
                  </a14:m>
                  <a:endParaRPr lang="en-IN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8FF14B97-C840-0348-3774-12DCAD31F3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82898" y="5192888"/>
                  <a:ext cx="536448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1F56EF36-1A99-5635-B063-DD0C49DA7B12}"/>
                    </a:ext>
                  </a:extLst>
                </p:cNvPr>
                <p:cNvSpPr txBox="1"/>
                <p:nvPr/>
              </p:nvSpPr>
              <p:spPr>
                <a:xfrm>
                  <a:off x="6485378" y="5638867"/>
                  <a:ext cx="53644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1" i="1" smtClean="0">
                                <a:solidFill>
                                  <a:srgbClr val="C14E1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C14E15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C14E15"/>
                                </a:solidFill>
                                <a:latin typeface="Cambria Math" panose="02040503050406030204" pitchFamily="18" charset="0"/>
                              </a:rPr>
                              <m:t>𝟐𝟐</m:t>
                            </m:r>
                          </m:sub>
                        </m:sSub>
                      </m:oMath>
                    </m:oMathPara>
                  </a14:m>
                  <a:endParaRPr lang="en-IN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1F56EF36-1A99-5635-B063-DD0C49DA7B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85378" y="5638867"/>
                  <a:ext cx="536448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3AB81F6-AA85-BE2C-A31B-152F062971A8}"/>
                </a:ext>
              </a:extLst>
            </p:cNvPr>
            <p:cNvSpPr txBox="1"/>
            <p:nvPr/>
          </p:nvSpPr>
          <p:spPr>
            <a:xfrm>
              <a:off x="4127388" y="4290463"/>
              <a:ext cx="132852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800" i="1" dirty="0">
                  <a:solidFill>
                    <a:srgbClr val="0000FF"/>
                  </a:solidFill>
                  <a:latin typeface="Consolas" panose="020B0609020204030204" pitchFamily="49" charset="0"/>
                </a:rPr>
                <a:t>(None,1)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E1E78576-9F28-A051-75D6-628260408456}"/>
                    </a:ext>
                  </a:extLst>
                </p:cNvPr>
                <p:cNvSpPr txBox="1"/>
                <p:nvPr/>
              </p:nvSpPr>
              <p:spPr>
                <a:xfrm>
                  <a:off x="7861605" y="4516165"/>
                  <a:ext cx="63225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E1E78576-9F28-A051-75D6-6282604084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61605" y="4516165"/>
                  <a:ext cx="632258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7F754C9C-FC3D-E7EC-ECDB-6AE504703B2D}"/>
                    </a:ext>
                  </a:extLst>
                </p:cNvPr>
                <p:cNvSpPr txBox="1"/>
                <p:nvPr/>
              </p:nvSpPr>
              <p:spPr>
                <a:xfrm>
                  <a:off x="7851496" y="5443311"/>
                  <a:ext cx="63225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7F754C9C-FC3D-E7EC-ECDB-6AE504703B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51496" y="5443311"/>
                  <a:ext cx="632258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2DD795A-A9CB-6673-258D-E985D9813F73}"/>
              </a:ext>
            </a:extLst>
          </p:cNvPr>
          <p:cNvSpPr txBox="1"/>
          <p:nvPr/>
        </p:nvSpPr>
        <p:spPr>
          <a:xfrm>
            <a:off x="0" y="98322"/>
            <a:ext cx="12192000" cy="52322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Session 1: </a:t>
            </a:r>
            <a:r>
              <a:rPr lang="en-US" sz="2800" b="1" dirty="0" err="1">
                <a:solidFill>
                  <a:schemeClr val="bg1"/>
                </a:solidFill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Tensorflow</a:t>
            </a:r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 Basics</a:t>
            </a:r>
            <a:endParaRPr lang="en-IN" sz="2800" b="1" dirty="0">
              <a:solidFill>
                <a:schemeClr val="bg1"/>
              </a:solidFill>
              <a:latin typeface="Century Schoolbook" panose="02040604050505020304" pitchFamily="18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D43B81-66E5-F983-D90A-6EE1ABAF3B0A}"/>
              </a:ext>
            </a:extLst>
          </p:cNvPr>
          <p:cNvSpPr txBox="1"/>
          <p:nvPr/>
        </p:nvSpPr>
        <p:spPr>
          <a:xfrm>
            <a:off x="553072" y="1267929"/>
            <a:ext cx="953987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2000" i="1" dirty="0">
                <a:solidFill>
                  <a:srgbClr val="C00000"/>
                </a:solidFill>
                <a:latin typeface="Consolas" panose="020B0609020204030204" pitchFamily="49" charset="0"/>
              </a:rPr>
              <a:t># Creating a </a:t>
            </a:r>
            <a:r>
              <a:rPr lang="en-US" sz="2000" i="1" dirty="0" err="1">
                <a:solidFill>
                  <a:srgbClr val="C00000"/>
                </a:solidFill>
                <a:latin typeface="Consolas" panose="020B0609020204030204" pitchFamily="49" charset="0"/>
              </a:rPr>
              <a:t>Keras</a:t>
            </a:r>
            <a:r>
              <a:rPr lang="en-US" sz="2000" i="1" dirty="0">
                <a:solidFill>
                  <a:srgbClr val="C00000"/>
                </a:solidFill>
                <a:latin typeface="Consolas" panose="020B0609020204030204" pitchFamily="49" charset="0"/>
              </a:rPr>
              <a:t> model</a:t>
            </a:r>
          </a:p>
          <a:p>
            <a:pPr lvl="0">
              <a:defRPr/>
            </a:pPr>
            <a:r>
              <a:rPr lang="en-US" sz="2000" dirty="0" err="1">
                <a:latin typeface="Consolas" panose="020B0609020204030204" pitchFamily="49" charset="0"/>
              </a:rPr>
              <a:t>input_tensor</a:t>
            </a:r>
            <a:r>
              <a:rPr lang="en-US" sz="2000" dirty="0"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rgbClr val="CC00CC"/>
                </a:solidFill>
                <a:latin typeface="Consolas" panose="020B0609020204030204" pitchFamily="49" charset="0"/>
              </a:rPr>
              <a:t>Input</a:t>
            </a:r>
            <a:r>
              <a:rPr lang="en-US" sz="2000" dirty="0">
                <a:latin typeface="Consolas" panose="020B0609020204030204" pitchFamily="49" charset="0"/>
              </a:rPr>
              <a:t>(shape=(</a:t>
            </a:r>
            <a:r>
              <a:rPr lang="en-US" sz="2000" b="1" dirty="0">
                <a:highlight>
                  <a:srgbClr val="FFFF00"/>
                </a:highlight>
                <a:latin typeface="Consolas" panose="020B0609020204030204" pitchFamily="49" charset="0"/>
              </a:rPr>
              <a:t>2</a:t>
            </a:r>
            <a:r>
              <a:rPr lang="en-US" sz="2000" dirty="0">
                <a:latin typeface="Consolas" panose="020B0609020204030204" pitchFamily="49" charset="0"/>
              </a:rPr>
              <a:t>,));</a:t>
            </a:r>
            <a:r>
              <a:rPr lang="en-US" sz="2000" i="1" dirty="0">
                <a:latin typeface="Consolas" panose="020B0609020204030204" pitchFamily="49" charset="0"/>
              </a:rPr>
              <a:t> </a:t>
            </a:r>
            <a:r>
              <a:rPr lang="en-US" sz="2000" i="1" dirty="0">
                <a:solidFill>
                  <a:srgbClr val="C00000"/>
                </a:solidFill>
                <a:latin typeface="Consolas" panose="020B0609020204030204" pitchFamily="49" charset="0"/>
              </a:rPr>
              <a:t># input:(None, 2): a </a:t>
            </a:r>
            <a:r>
              <a:rPr lang="en-US" sz="2000" b="1" i="1" dirty="0">
                <a:solidFill>
                  <a:srgbClr val="C00000"/>
                </a:solidFill>
                <a:latin typeface="Consolas" panose="020B0609020204030204" pitchFamily="49" charset="0"/>
              </a:rPr>
              <a:t>placeholder</a:t>
            </a:r>
          </a:p>
          <a:p>
            <a:pPr lvl="0">
              <a:defRPr/>
            </a:pPr>
            <a:r>
              <a:rPr lang="en-US" sz="2000" dirty="0">
                <a:latin typeface="Consolas" panose="020B0609020204030204" pitchFamily="49" charset="0"/>
              </a:rPr>
              <a:t>out1=</a:t>
            </a:r>
            <a:r>
              <a:rPr lang="en-US" sz="2000" dirty="0" err="1">
                <a:solidFill>
                  <a:srgbClr val="CC00CC"/>
                </a:solidFill>
                <a:latin typeface="Consolas" panose="020B0609020204030204" pitchFamily="49" charset="0"/>
              </a:rPr>
              <a:t>layers.Dense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b="1" dirty="0">
                <a:highlight>
                  <a:srgbClr val="FFFF00"/>
                </a:highlight>
                <a:latin typeface="Consolas" panose="020B0609020204030204" pitchFamily="49" charset="0"/>
              </a:rPr>
              <a:t>2</a:t>
            </a:r>
            <a:r>
              <a:rPr lang="en-US" sz="2000" dirty="0">
                <a:latin typeface="Consolas" panose="020B0609020204030204" pitchFamily="49" charset="0"/>
              </a:rPr>
              <a:t>,activation='linear')(</a:t>
            </a:r>
            <a:r>
              <a:rPr lang="en-US" sz="2000" dirty="0" err="1">
                <a:latin typeface="Consolas" panose="020B0609020204030204" pitchFamily="49" charset="0"/>
              </a:rPr>
              <a:t>input_tensor</a:t>
            </a:r>
            <a:r>
              <a:rPr lang="en-US" sz="2000" dirty="0">
                <a:latin typeface="Consolas" panose="020B0609020204030204" pitchFamily="49" charset="0"/>
              </a:rPr>
              <a:t>); </a:t>
            </a:r>
            <a:r>
              <a:rPr lang="en-US" sz="2000" i="1" dirty="0">
                <a:solidFill>
                  <a:srgbClr val="C00000"/>
                </a:solidFill>
                <a:latin typeface="Consolas" panose="020B0609020204030204" pitchFamily="49" charset="0"/>
              </a:rPr>
              <a:t># (None,2)</a:t>
            </a:r>
          </a:p>
          <a:p>
            <a:pPr lvl="0">
              <a:defRPr/>
            </a:pPr>
            <a:r>
              <a:rPr lang="en-US" sz="2000" dirty="0">
                <a:latin typeface="Consolas" panose="020B0609020204030204" pitchFamily="49" charset="0"/>
              </a:rPr>
              <a:t>model1 = </a:t>
            </a:r>
            <a:r>
              <a:rPr lang="en-US" sz="2000" dirty="0">
                <a:solidFill>
                  <a:srgbClr val="CC00CC"/>
                </a:solidFill>
                <a:latin typeface="Consolas" panose="020B0609020204030204" pitchFamily="49" charset="0"/>
              </a:rPr>
              <a:t>Model</a:t>
            </a:r>
            <a:r>
              <a:rPr lang="en-US" sz="2000" dirty="0">
                <a:latin typeface="Consolas" panose="020B0609020204030204" pitchFamily="49" charset="0"/>
              </a:rPr>
              <a:t>(inputs=[</a:t>
            </a:r>
            <a:r>
              <a:rPr lang="en-US" sz="2000" dirty="0" err="1">
                <a:latin typeface="Consolas" panose="020B0609020204030204" pitchFamily="49" charset="0"/>
              </a:rPr>
              <a:t>input_tensor</a:t>
            </a:r>
            <a:r>
              <a:rPr lang="en-US" sz="2000" dirty="0">
                <a:latin typeface="Consolas" panose="020B0609020204030204" pitchFamily="49" charset="0"/>
              </a:rPr>
              <a:t>], outputs=[out1]); </a:t>
            </a:r>
          </a:p>
          <a:p>
            <a:pPr lvl="0">
              <a:defRPr/>
            </a:pPr>
            <a:r>
              <a:rPr lang="en-US" sz="2000" i="1" dirty="0">
                <a:solidFill>
                  <a:srgbClr val="C00000"/>
                </a:solidFill>
                <a:latin typeface="Consolas" panose="020B0609020204030204" pitchFamily="49" charset="0"/>
              </a:rPr>
              <a:t># We can not directly tape these commands because </a:t>
            </a:r>
            <a:r>
              <a:rPr lang="en-US" sz="2000" i="1" dirty="0" err="1">
                <a:solidFill>
                  <a:srgbClr val="C00000"/>
                </a:solidFill>
                <a:latin typeface="Consolas" panose="020B0609020204030204" pitchFamily="49" charset="0"/>
              </a:rPr>
              <a:t>input_tensor</a:t>
            </a:r>
            <a:r>
              <a:rPr lang="en-US" sz="2000" i="1" dirty="0">
                <a:solidFill>
                  <a:srgbClr val="C00000"/>
                </a:solidFill>
                <a:latin typeface="Consolas" panose="020B0609020204030204" pitchFamily="49" charset="0"/>
              </a:rPr>
              <a:t>, out1 are </a:t>
            </a:r>
            <a:r>
              <a:rPr lang="en-US" sz="2000" i="1" dirty="0" err="1">
                <a:solidFill>
                  <a:srgbClr val="C00000"/>
                </a:solidFill>
                <a:latin typeface="Consolas" panose="020B0609020204030204" pitchFamily="49" charset="0"/>
              </a:rPr>
              <a:t>Keras</a:t>
            </a:r>
            <a:r>
              <a:rPr lang="en-US" sz="2000" i="1" dirty="0">
                <a:solidFill>
                  <a:srgbClr val="C00000"/>
                </a:solidFill>
                <a:latin typeface="Consolas" panose="020B0609020204030204" pitchFamily="49" charset="0"/>
              </a:rPr>
              <a:t>-tensors (objects of </a:t>
            </a:r>
            <a:r>
              <a:rPr lang="en-US" sz="2000" i="1" dirty="0" err="1">
                <a:solidFill>
                  <a:srgbClr val="C00000"/>
                </a:solidFill>
                <a:latin typeface="Consolas" panose="020B0609020204030204" pitchFamily="49" charset="0"/>
              </a:rPr>
              <a:t>Keras</a:t>
            </a:r>
            <a:r>
              <a:rPr lang="en-US" sz="2000" i="1" dirty="0">
                <a:solidFill>
                  <a:srgbClr val="C00000"/>
                </a:solidFill>
                <a:latin typeface="Consolas" panose="020B0609020204030204" pitchFamily="49" charset="0"/>
              </a:rPr>
              <a:t>) not </a:t>
            </a:r>
            <a:r>
              <a:rPr lang="en-US" sz="2000" i="1" dirty="0" err="1">
                <a:solidFill>
                  <a:srgbClr val="C00000"/>
                </a:solidFill>
                <a:latin typeface="Consolas" panose="020B0609020204030204" pitchFamily="49" charset="0"/>
              </a:rPr>
              <a:t>tensorflow</a:t>
            </a:r>
            <a:r>
              <a:rPr lang="en-US" sz="2000" i="1" dirty="0">
                <a:solidFill>
                  <a:srgbClr val="C00000"/>
                </a:solidFill>
                <a:latin typeface="Consolas" panose="020B0609020204030204" pitchFamily="49" charset="0"/>
              </a:rPr>
              <a:t> tensors.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3BA4BE51-BA9A-2835-915F-9C5D22E20FBB}"/>
                  </a:ext>
                </a:extLst>
              </p:cNvPr>
              <p:cNvSpPr/>
              <p:nvPr/>
            </p:nvSpPr>
            <p:spPr>
              <a:xfrm>
                <a:off x="8690342" y="5822120"/>
                <a:ext cx="353499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GB" b="1" i="1" smtClean="0">
                          <a:solidFill>
                            <a:schemeClr val="tx1"/>
                          </a:solidFill>
                          <a:latin typeface="Cambria Math"/>
                          <a:ea typeface="Cambria Math" pitchFamily="18" charset="0"/>
                        </a:rPr>
                        <m:t>=</m:t>
                      </m:r>
                      <m:d>
                        <m:dPr>
                          <m:ctrlPr>
                            <a:rPr lang="en-IN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1" i="1">
                                  <a:solidFill>
                                    <a:srgbClr val="CC00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CC00CC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rgbClr val="CC00CC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𝟏𝟏</m:t>
                              </m:r>
                            </m:sub>
                          </m:sSub>
                          <m:r>
                            <a:rPr lang="en-GB" b="1" i="1">
                              <a:solidFill>
                                <a:schemeClr val="tx1"/>
                              </a:solidFill>
                              <a:latin typeface="Cambria Math" pitchFamily="18" charset="0"/>
                              <a:ea typeface="Cambria Math" pitchFamily="18" charset="0"/>
                            </a:rPr>
                            <m:t>𝒙</m:t>
                          </m:r>
                          <m:r>
                            <a:rPr lang="en-GB" b="1" i="1">
                              <a:solidFill>
                                <a:schemeClr val="tx1"/>
                              </a:solidFill>
                              <a:latin typeface="Cambria Math" pitchFamily="18" charset="0"/>
                              <a:ea typeface="Cambria Math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b="1" i="1" smtClean="0">
                                  <a:solidFill>
                                    <a:srgbClr val="C14E1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C14E15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C14E15"/>
                                  </a:solidFill>
                                  <a:latin typeface="Cambria Math" panose="02040503050406030204" pitchFamily="18" charset="0"/>
                                </a:rPr>
                                <m:t>𝟐𝟏</m:t>
                              </m:r>
                            </m:sub>
                          </m:sSub>
                          <m:r>
                            <a:rPr lang="en-GB" b="1" i="1">
                              <a:solidFill>
                                <a:schemeClr val="tx1"/>
                              </a:solidFill>
                              <a:latin typeface="Cambria Math" pitchFamily="18" charset="0"/>
                              <a:ea typeface="Cambria Math" pitchFamily="18" charset="0"/>
                            </a:rPr>
                            <m:t>𝒚</m:t>
                          </m:r>
                          <m:r>
                            <m:rPr>
                              <m:nor/>
                            </m:rPr>
                            <a:rPr lang="en-IN" b="1" dirty="0">
                              <a:solidFill>
                                <a:schemeClr val="tx1"/>
                              </a:solidFill>
                              <a:latin typeface="Cambria Math" pitchFamily="18" charset="0"/>
                              <a:ea typeface="Cambria Math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3BA4BE51-BA9A-2835-915F-9C5D22E20F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0342" y="5822120"/>
                <a:ext cx="3534997" cy="369332"/>
              </a:xfrm>
              <a:prstGeom prst="rect">
                <a:avLst/>
              </a:prstGeom>
              <a:blipFill>
                <a:blip r:embed="rId12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A31DB081-4F4A-2E0F-F73E-68A940A7A546}"/>
                  </a:ext>
                </a:extLst>
              </p:cNvPr>
              <p:cNvSpPr/>
              <p:nvPr/>
            </p:nvSpPr>
            <p:spPr>
              <a:xfrm>
                <a:off x="8715532" y="6188574"/>
                <a:ext cx="353499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GB" b="1" i="1" smtClean="0">
                          <a:solidFill>
                            <a:schemeClr val="tx1"/>
                          </a:solidFill>
                          <a:latin typeface="Cambria Math"/>
                          <a:ea typeface="Cambria Math" pitchFamily="18" charset="0"/>
                        </a:rPr>
                        <m:t>=</m:t>
                      </m:r>
                      <m:d>
                        <m:dPr>
                          <m:ctrlPr>
                            <a:rPr lang="en-IN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1" i="1">
                                  <a:solidFill>
                                    <a:srgbClr val="CC00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CC00CC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CC00CC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GB" b="1" i="1">
                              <a:solidFill>
                                <a:schemeClr val="tx1"/>
                              </a:solidFill>
                              <a:latin typeface="Cambria Math" pitchFamily="18" charset="0"/>
                              <a:ea typeface="Cambria Math" pitchFamily="18" charset="0"/>
                            </a:rPr>
                            <m:t>𝒙</m:t>
                          </m:r>
                          <m:r>
                            <a:rPr lang="en-GB" b="1" i="1">
                              <a:solidFill>
                                <a:schemeClr val="tx1"/>
                              </a:solidFill>
                              <a:latin typeface="Cambria Math" pitchFamily="18" charset="0"/>
                              <a:ea typeface="Cambria Math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b="1" i="1" smtClean="0">
                                  <a:solidFill>
                                    <a:srgbClr val="C14E1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C14E15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C14E15"/>
                                  </a:solidFill>
                                  <a:latin typeface="Cambria Math" panose="02040503050406030204" pitchFamily="18" charset="0"/>
                                </a:rPr>
                                <m:t>𝟐𝟐</m:t>
                              </m:r>
                            </m:sub>
                          </m:sSub>
                          <m:r>
                            <a:rPr lang="en-GB" b="1" i="1">
                              <a:solidFill>
                                <a:schemeClr val="tx1"/>
                              </a:solidFill>
                              <a:latin typeface="Cambria Math" pitchFamily="18" charset="0"/>
                              <a:ea typeface="Cambria Math" pitchFamily="18" charset="0"/>
                            </a:rPr>
                            <m:t>𝒚</m:t>
                          </m:r>
                          <m:r>
                            <m:rPr>
                              <m:nor/>
                            </m:rPr>
                            <a:rPr lang="en-IN" b="1" dirty="0">
                              <a:solidFill>
                                <a:schemeClr val="tx1"/>
                              </a:solidFill>
                              <a:latin typeface="Cambria Math" pitchFamily="18" charset="0"/>
                              <a:ea typeface="Cambria Math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A31DB081-4F4A-2E0F-F73E-68A940A7A5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5532" y="6188574"/>
                <a:ext cx="3534997" cy="369332"/>
              </a:xfrm>
              <a:prstGeom prst="rect">
                <a:avLst/>
              </a:prstGeom>
              <a:blipFill>
                <a:blip r:embed="rId1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0" name="Group 59">
            <a:extLst>
              <a:ext uri="{FF2B5EF4-FFF2-40B4-BE49-F238E27FC236}">
                <a16:creationId xmlns:a16="http://schemas.microsoft.com/office/drawing/2014/main" id="{E3DD80F7-DD8D-F214-DE73-56C3EAF654FD}"/>
              </a:ext>
            </a:extLst>
          </p:cNvPr>
          <p:cNvGrpSpPr/>
          <p:nvPr/>
        </p:nvGrpSpPr>
        <p:grpSpPr>
          <a:xfrm>
            <a:off x="2245441" y="4917304"/>
            <a:ext cx="2732059" cy="923429"/>
            <a:chOff x="2510905" y="4759985"/>
            <a:chExt cx="2732059" cy="923429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2B1997AA-F1D3-BAE8-FE53-9A96A5930B22}"/>
                </a:ext>
              </a:extLst>
            </p:cNvPr>
            <p:cNvCxnSpPr>
              <a:cxnSpLocks/>
            </p:cNvCxnSpPr>
            <p:nvPr/>
          </p:nvCxnSpPr>
          <p:spPr>
            <a:xfrm>
              <a:off x="3687095" y="4772621"/>
              <a:ext cx="1555869" cy="0"/>
            </a:xfrm>
            <a:prstGeom prst="line">
              <a:avLst/>
            </a:prstGeom>
            <a:ln w="22225">
              <a:solidFill>
                <a:schemeClr val="tx1"/>
              </a:solidFill>
              <a:headEnd type="none" w="med" len="med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6EB689A9-C463-DE86-4009-A9968F093D35}"/>
                </a:ext>
              </a:extLst>
            </p:cNvPr>
            <p:cNvCxnSpPr>
              <a:cxnSpLocks/>
            </p:cNvCxnSpPr>
            <p:nvPr/>
          </p:nvCxnSpPr>
          <p:spPr>
            <a:xfrm>
              <a:off x="3687095" y="5683414"/>
              <a:ext cx="1555869" cy="0"/>
            </a:xfrm>
            <a:prstGeom prst="line">
              <a:avLst/>
            </a:prstGeom>
            <a:ln w="22225">
              <a:solidFill>
                <a:schemeClr val="tx1"/>
              </a:solidFill>
              <a:headEnd type="none" w="med" len="med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7E701C4-EFA4-042D-C570-60EA66490233}"/>
                </a:ext>
              </a:extLst>
            </p:cNvPr>
            <p:cNvCxnSpPr>
              <a:cxnSpLocks/>
            </p:cNvCxnSpPr>
            <p:nvPr/>
          </p:nvCxnSpPr>
          <p:spPr>
            <a:xfrm>
              <a:off x="3215147" y="5243345"/>
              <a:ext cx="47194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BC3CCBCB-F3DA-C4F6-488A-177C269828B6}"/>
                </a:ext>
              </a:extLst>
            </p:cNvPr>
            <p:cNvCxnSpPr>
              <a:cxnSpLocks/>
            </p:cNvCxnSpPr>
            <p:nvPr/>
          </p:nvCxnSpPr>
          <p:spPr>
            <a:xfrm>
              <a:off x="3687095" y="4759985"/>
              <a:ext cx="0" cy="91079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3421D04-59DE-B992-BD13-96403037A643}"/>
                </a:ext>
              </a:extLst>
            </p:cNvPr>
            <p:cNvSpPr txBox="1"/>
            <p:nvPr/>
          </p:nvSpPr>
          <p:spPr>
            <a:xfrm>
              <a:off x="2510905" y="4768254"/>
              <a:ext cx="132852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800" i="1" dirty="0">
                  <a:solidFill>
                    <a:srgbClr val="0000FF"/>
                  </a:solidFill>
                  <a:latin typeface="Consolas" panose="020B0609020204030204" pitchFamily="49" charset="0"/>
                </a:rPr>
                <a:t>(None,2)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659BAC30-DD19-220E-D960-3843B4730372}"/>
              </a:ext>
            </a:extLst>
          </p:cNvPr>
          <p:cNvGrpSpPr/>
          <p:nvPr/>
        </p:nvGrpSpPr>
        <p:grpSpPr>
          <a:xfrm>
            <a:off x="8047708" y="4884600"/>
            <a:ext cx="2144669" cy="914001"/>
            <a:chOff x="8313172" y="4727281"/>
            <a:chExt cx="2144669" cy="914001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99A87FB1-E45C-BA82-3F8E-639D53F882B8}"/>
                </a:ext>
              </a:extLst>
            </p:cNvPr>
            <p:cNvCxnSpPr>
              <a:cxnSpLocks/>
            </p:cNvCxnSpPr>
            <p:nvPr/>
          </p:nvCxnSpPr>
          <p:spPr>
            <a:xfrm>
              <a:off x="8313172" y="4727558"/>
              <a:ext cx="708900" cy="0"/>
            </a:xfrm>
            <a:prstGeom prst="line">
              <a:avLst/>
            </a:prstGeom>
            <a:ln w="222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B9CA5FB0-7145-FF6F-C839-8E2ED6BE7D81}"/>
                </a:ext>
              </a:extLst>
            </p:cNvPr>
            <p:cNvCxnSpPr>
              <a:cxnSpLocks/>
            </p:cNvCxnSpPr>
            <p:nvPr/>
          </p:nvCxnSpPr>
          <p:spPr>
            <a:xfrm>
              <a:off x="9012240" y="4727281"/>
              <a:ext cx="0" cy="91079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E4AFEE24-C613-96AE-A2FF-6C9E789D8C70}"/>
                </a:ext>
              </a:extLst>
            </p:cNvPr>
            <p:cNvCxnSpPr>
              <a:cxnSpLocks/>
            </p:cNvCxnSpPr>
            <p:nvPr/>
          </p:nvCxnSpPr>
          <p:spPr>
            <a:xfrm>
              <a:off x="9022072" y="5176914"/>
              <a:ext cx="471948" cy="0"/>
            </a:xfrm>
            <a:prstGeom prst="line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A1C8E8A9-D5C1-87BD-C1F5-333E75CD254A}"/>
                </a:ext>
              </a:extLst>
            </p:cNvPr>
            <p:cNvSpPr txBox="1"/>
            <p:nvPr/>
          </p:nvSpPr>
          <p:spPr>
            <a:xfrm>
              <a:off x="9129319" y="4740162"/>
              <a:ext cx="132852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800" i="1" dirty="0">
                  <a:solidFill>
                    <a:srgbClr val="0000FF"/>
                  </a:solidFill>
                  <a:latin typeface="Consolas" panose="020B0609020204030204" pitchFamily="49" charset="0"/>
                </a:rPr>
                <a:t>(None,2)</a:t>
              </a:r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7BA0A5AE-F939-C571-1C19-F8C11FC43A0A}"/>
                </a:ext>
              </a:extLst>
            </p:cNvPr>
            <p:cNvCxnSpPr>
              <a:cxnSpLocks/>
            </p:cNvCxnSpPr>
            <p:nvPr/>
          </p:nvCxnSpPr>
          <p:spPr>
            <a:xfrm>
              <a:off x="8313172" y="5641282"/>
              <a:ext cx="708900" cy="0"/>
            </a:xfrm>
            <a:prstGeom prst="line">
              <a:avLst/>
            </a:prstGeom>
            <a:ln w="222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9EB6DC0F-C7CB-6BB2-FAEB-DAF6D959E065}"/>
              </a:ext>
            </a:extLst>
          </p:cNvPr>
          <p:cNvSpPr txBox="1"/>
          <p:nvPr/>
        </p:nvSpPr>
        <p:spPr>
          <a:xfrm>
            <a:off x="3872033" y="3358114"/>
            <a:ext cx="43563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m</a:t>
            </a:r>
            <a:r>
              <a:rPr lang="en-IN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odel1 </a:t>
            </a:r>
            <a:endParaRPr lang="en-IN" sz="2000" b="1" dirty="0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310FA4B7-ED3C-D4CD-77E3-17D4ECC0A9BF}"/>
              </a:ext>
            </a:extLst>
          </p:cNvPr>
          <p:cNvGrpSpPr/>
          <p:nvPr/>
        </p:nvGrpSpPr>
        <p:grpSpPr>
          <a:xfrm>
            <a:off x="2929366" y="3727825"/>
            <a:ext cx="5811839" cy="2434824"/>
            <a:chOff x="2934935" y="3725874"/>
            <a:chExt cx="5811839" cy="2434824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742AB3A2-3E07-EA13-ED63-9B6762BFC70F}"/>
                </a:ext>
              </a:extLst>
            </p:cNvPr>
            <p:cNvSpPr/>
            <p:nvPr/>
          </p:nvSpPr>
          <p:spPr>
            <a:xfrm>
              <a:off x="3411803" y="3725874"/>
              <a:ext cx="5334971" cy="24348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BD0B2E30-A585-FA28-47DA-CCB2EE91BD25}"/>
                </a:ext>
              </a:extLst>
            </p:cNvPr>
            <p:cNvCxnSpPr>
              <a:cxnSpLocks/>
            </p:cNvCxnSpPr>
            <p:nvPr/>
          </p:nvCxnSpPr>
          <p:spPr>
            <a:xfrm>
              <a:off x="2934935" y="5395750"/>
              <a:ext cx="471948" cy="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E113A28A-8F01-CF40-B8FC-D799C05F8E78}"/>
              </a:ext>
            </a:extLst>
          </p:cNvPr>
          <p:cNvSpPr txBox="1"/>
          <p:nvPr/>
        </p:nvSpPr>
        <p:spPr>
          <a:xfrm>
            <a:off x="0" y="686506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Automatic Gradient: </a:t>
            </a:r>
            <a:r>
              <a:rPr lang="en-IN" sz="2800" b="1" dirty="0" err="1"/>
              <a:t>Keras</a:t>
            </a:r>
            <a:r>
              <a:rPr lang="en-IN" sz="2800" b="1" dirty="0"/>
              <a:t> Model Example</a:t>
            </a:r>
          </a:p>
        </p:txBody>
      </p:sp>
    </p:spTree>
    <p:extLst>
      <p:ext uri="{BB962C8B-B14F-4D97-AF65-F5344CB8AC3E}">
        <p14:creationId xmlns:p14="http://schemas.microsoft.com/office/powerpoint/2010/main" val="2435069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1" grpId="0"/>
      <p:bldP spid="32" grpId="0"/>
      <p:bldP spid="5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15E49-B3DA-EA7C-8328-802CDC229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1AA9F19-5E74-B5C5-C505-C71BB0C4EC33}"/>
              </a:ext>
            </a:extLst>
          </p:cNvPr>
          <p:cNvSpPr/>
          <p:nvPr/>
        </p:nvSpPr>
        <p:spPr>
          <a:xfrm>
            <a:off x="553072" y="2020062"/>
            <a:ext cx="11085856" cy="369416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FF5E3E-B13F-8FF9-E6C7-A23E77659D02}"/>
              </a:ext>
            </a:extLst>
          </p:cNvPr>
          <p:cNvSpPr txBox="1"/>
          <p:nvPr/>
        </p:nvSpPr>
        <p:spPr>
          <a:xfrm>
            <a:off x="0" y="98322"/>
            <a:ext cx="12192000" cy="52322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Session 1: </a:t>
            </a:r>
            <a:r>
              <a:rPr lang="en-US" sz="2800" b="1" dirty="0" err="1">
                <a:solidFill>
                  <a:schemeClr val="bg1"/>
                </a:solidFill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Tensorflow</a:t>
            </a:r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 Basics</a:t>
            </a:r>
            <a:endParaRPr lang="en-IN" sz="2800" b="1" dirty="0">
              <a:solidFill>
                <a:schemeClr val="bg1"/>
              </a:solidFill>
              <a:latin typeface="Century Schoolbook" panose="02040604050505020304" pitchFamily="18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64DCB8-DBEE-FD23-32A5-853E44AE4718}"/>
              </a:ext>
            </a:extLst>
          </p:cNvPr>
          <p:cNvSpPr txBox="1"/>
          <p:nvPr/>
        </p:nvSpPr>
        <p:spPr>
          <a:xfrm>
            <a:off x="553072" y="1267929"/>
            <a:ext cx="95398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2000" i="1" dirty="0">
                <a:solidFill>
                  <a:srgbClr val="C00000"/>
                </a:solidFill>
                <a:latin typeface="Consolas" panose="020B0609020204030204" pitchFamily="49" charset="0"/>
              </a:rPr>
              <a:t># Creating second </a:t>
            </a:r>
            <a:r>
              <a:rPr lang="en-US" sz="2000" i="1" dirty="0" err="1">
                <a:solidFill>
                  <a:srgbClr val="C00000"/>
                </a:solidFill>
                <a:latin typeface="Consolas" panose="020B0609020204030204" pitchFamily="49" charset="0"/>
              </a:rPr>
              <a:t>Keras</a:t>
            </a:r>
            <a:r>
              <a:rPr lang="en-US" sz="2000" i="1" dirty="0">
                <a:solidFill>
                  <a:srgbClr val="C00000"/>
                </a:solidFill>
                <a:latin typeface="Consolas" panose="020B0609020204030204" pitchFamily="49" charset="0"/>
              </a:rPr>
              <a:t> model to compute gradients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ED2DDA-5C8F-6B8E-112C-78E0296662F2}"/>
              </a:ext>
            </a:extLst>
          </p:cNvPr>
          <p:cNvSpPr txBox="1"/>
          <p:nvPr/>
        </p:nvSpPr>
        <p:spPr>
          <a:xfrm>
            <a:off x="553072" y="1619952"/>
            <a:ext cx="95398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2000" i="1" dirty="0">
                <a:solidFill>
                  <a:srgbClr val="C00000"/>
                </a:solidFill>
                <a:latin typeface="Consolas" panose="020B0609020204030204" pitchFamily="49" charset="0"/>
              </a:rPr>
              <a:t># Defining custom </a:t>
            </a:r>
            <a:r>
              <a:rPr lang="en-US" sz="2000" i="1" dirty="0" err="1">
                <a:solidFill>
                  <a:srgbClr val="C00000"/>
                </a:solidFill>
                <a:latin typeface="Consolas" panose="020B0609020204030204" pitchFamily="49" charset="0"/>
              </a:rPr>
              <a:t>Keras</a:t>
            </a:r>
            <a:r>
              <a:rPr lang="en-US" sz="2000" i="1" dirty="0">
                <a:solidFill>
                  <a:srgbClr val="C00000"/>
                </a:solidFill>
                <a:latin typeface="Consolas" panose="020B0609020204030204" pitchFamily="49" charset="0"/>
              </a:rPr>
              <a:t> layer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2530D5-5CA7-F905-5CF0-E0B2D0DC24DB}"/>
              </a:ext>
            </a:extLst>
          </p:cNvPr>
          <p:cNvSpPr txBox="1"/>
          <p:nvPr/>
        </p:nvSpPr>
        <p:spPr>
          <a:xfrm>
            <a:off x="553072" y="1970676"/>
            <a:ext cx="95398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2000" dirty="0">
                <a:latin typeface="Consolas" panose="020B0609020204030204" pitchFamily="49" charset="0"/>
              </a:rPr>
              <a:t>class </a:t>
            </a:r>
            <a:r>
              <a:rPr lang="en-US" sz="2000" dirty="0" err="1">
                <a:latin typeface="Consolas" panose="020B0609020204030204" pitchFamily="49" charset="0"/>
              </a:rPr>
              <a:t>cust_layer_grad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solidFill>
                  <a:srgbClr val="CC00CC"/>
                </a:solidFill>
                <a:latin typeface="Consolas" panose="020B0609020204030204" pitchFamily="49" charset="0"/>
              </a:rPr>
              <a:t>keras.layers.Layer</a:t>
            </a:r>
            <a:r>
              <a:rPr lang="en-US" sz="2000" dirty="0">
                <a:latin typeface="Consolas" panose="020B0609020204030204" pitchFamily="49" charset="0"/>
              </a:rPr>
              <a:t>):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D97E7A-E5AC-410F-1EB9-7AA290ABC083}"/>
              </a:ext>
            </a:extLst>
          </p:cNvPr>
          <p:cNvSpPr txBox="1"/>
          <p:nvPr/>
        </p:nvSpPr>
        <p:spPr>
          <a:xfrm>
            <a:off x="1204667" y="2531929"/>
            <a:ext cx="60935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2000" dirty="0">
                <a:latin typeface="Consolas" panose="020B0609020204030204" pitchFamily="49" charset="0"/>
              </a:rPr>
              <a:t>def __</a:t>
            </a:r>
            <a:r>
              <a:rPr lang="en-US" sz="2000" dirty="0" err="1">
                <a:latin typeface="Consolas" panose="020B0609020204030204" pitchFamily="49" charset="0"/>
              </a:rPr>
              <a:t>init</a:t>
            </a:r>
            <a:r>
              <a:rPr lang="en-US" sz="2000" dirty="0">
                <a:latin typeface="Consolas" panose="020B0609020204030204" pitchFamily="49" charset="0"/>
              </a:rPr>
              <a:t>__(</a:t>
            </a:r>
            <a:r>
              <a:rPr lang="en-US" sz="2000" i="1" dirty="0">
                <a:latin typeface="Consolas" panose="020B0609020204030204" pitchFamily="49" charset="0"/>
              </a:rPr>
              <a:t>self</a:t>
            </a:r>
            <a:r>
              <a:rPr lang="en-US" sz="2000" dirty="0">
                <a:latin typeface="Consolas" panose="020B0609020204030204" pitchFamily="49" charset="0"/>
              </a:rPr>
              <a:t>, units=1, **</a:t>
            </a:r>
            <a:r>
              <a:rPr lang="en-US" sz="2000" dirty="0" err="1">
                <a:latin typeface="Consolas" panose="020B0609020204030204" pitchFamily="49" charset="0"/>
              </a:rPr>
              <a:t>kwargs</a:t>
            </a:r>
            <a:r>
              <a:rPr lang="en-US" sz="2000" dirty="0">
                <a:latin typeface="Consolas" panose="020B0609020204030204" pitchFamily="49" charset="0"/>
              </a:rPr>
              <a:t>):</a:t>
            </a:r>
          </a:p>
          <a:p>
            <a:pPr lvl="0">
              <a:defRPr/>
            </a:pPr>
            <a:r>
              <a:rPr lang="en-US" sz="2000" dirty="0">
                <a:latin typeface="Consolas" panose="020B0609020204030204" pitchFamily="49" charset="0"/>
              </a:rPr>
              <a:t>        </a:t>
            </a:r>
            <a:r>
              <a:rPr lang="en-US" sz="2000" dirty="0">
                <a:solidFill>
                  <a:srgbClr val="CC00CC"/>
                </a:solidFill>
                <a:latin typeface="Consolas" panose="020B0609020204030204" pitchFamily="49" charset="0"/>
              </a:rPr>
              <a:t>super</a:t>
            </a:r>
            <a:r>
              <a:rPr lang="en-US" sz="2000" dirty="0">
                <a:latin typeface="Consolas" panose="020B0609020204030204" pitchFamily="49" charset="0"/>
              </a:rPr>
              <a:t>().__</a:t>
            </a:r>
            <a:r>
              <a:rPr lang="en-US" sz="2000" dirty="0" err="1">
                <a:latin typeface="Consolas" panose="020B0609020204030204" pitchFamily="49" charset="0"/>
              </a:rPr>
              <a:t>init</a:t>
            </a:r>
            <a:r>
              <a:rPr lang="en-US" sz="2000" dirty="0">
                <a:latin typeface="Consolas" panose="020B0609020204030204" pitchFamily="49" charset="0"/>
              </a:rPr>
              <a:t>__(**</a:t>
            </a:r>
            <a:r>
              <a:rPr lang="en-US" sz="2000" dirty="0" err="1">
                <a:latin typeface="Consolas" panose="020B0609020204030204" pitchFamily="49" charset="0"/>
              </a:rPr>
              <a:t>kwargs</a:t>
            </a:r>
            <a:r>
              <a:rPr lang="en-US" sz="2000" dirty="0">
                <a:latin typeface="Consolas" panose="020B0609020204030204" pitchFamily="49" charset="0"/>
              </a:rPr>
              <a:t>);</a:t>
            </a:r>
          </a:p>
          <a:p>
            <a:pPr lvl="0">
              <a:defRPr/>
            </a:pPr>
            <a:r>
              <a:rPr lang="en-US" sz="2000" dirty="0">
                <a:latin typeface="Consolas" panose="020B0609020204030204" pitchFamily="49" charset="0"/>
              </a:rPr>
              <a:t>        </a:t>
            </a:r>
            <a:r>
              <a:rPr lang="en-US" sz="2000" i="1" dirty="0" err="1">
                <a:latin typeface="Consolas" panose="020B0609020204030204" pitchFamily="49" charset="0"/>
              </a:rPr>
              <a:t>self</a:t>
            </a:r>
            <a:r>
              <a:rPr lang="en-US" sz="2000" dirty="0" err="1">
                <a:latin typeface="Consolas" panose="020B0609020204030204" pitchFamily="49" charset="0"/>
              </a:rPr>
              <a:t>.units</a:t>
            </a:r>
            <a:r>
              <a:rPr lang="en-US" sz="2000" dirty="0">
                <a:latin typeface="Consolas" panose="020B0609020204030204" pitchFamily="49" charset="0"/>
              </a:rPr>
              <a:t>=units;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1D6A38-5A3B-FCC2-A689-7FAC77410E36}"/>
              </a:ext>
            </a:extLst>
          </p:cNvPr>
          <p:cNvSpPr txBox="1"/>
          <p:nvPr/>
        </p:nvSpPr>
        <p:spPr>
          <a:xfrm>
            <a:off x="1204667" y="3775230"/>
            <a:ext cx="60935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2000" dirty="0">
                <a:latin typeface="Consolas" panose="020B0609020204030204" pitchFamily="49" charset="0"/>
              </a:rPr>
              <a:t>def </a:t>
            </a:r>
            <a:r>
              <a:rPr lang="en-US" sz="2000" dirty="0" err="1">
                <a:solidFill>
                  <a:srgbClr val="CC00CC"/>
                </a:solidFill>
                <a:latin typeface="Consolas" panose="020B0609020204030204" pitchFamily="49" charset="0"/>
              </a:rPr>
              <a:t>get_config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i="1" dirty="0">
                <a:latin typeface="Consolas" panose="020B0609020204030204" pitchFamily="49" charset="0"/>
              </a:rPr>
              <a:t>self</a:t>
            </a:r>
            <a:r>
              <a:rPr lang="en-US" sz="2000" dirty="0">
                <a:latin typeface="Consolas" panose="020B0609020204030204" pitchFamily="49" charset="0"/>
              </a:rPr>
              <a:t>):</a:t>
            </a:r>
          </a:p>
          <a:p>
            <a:pPr lvl="0">
              <a:defRPr/>
            </a:pPr>
            <a:r>
              <a:rPr lang="en-US" sz="2000" dirty="0">
                <a:latin typeface="Consolas" panose="020B0609020204030204" pitchFamily="49" charset="0"/>
              </a:rPr>
              <a:t>        config=</a:t>
            </a:r>
            <a:r>
              <a:rPr lang="en-US" sz="2000" dirty="0">
                <a:solidFill>
                  <a:srgbClr val="CC00CC"/>
                </a:solidFill>
                <a:latin typeface="Consolas" panose="020B0609020204030204" pitchFamily="49" charset="0"/>
              </a:rPr>
              <a:t>super</a:t>
            </a:r>
            <a:r>
              <a:rPr lang="en-US" sz="2000" dirty="0">
                <a:latin typeface="Consolas" panose="020B0609020204030204" pitchFamily="49" charset="0"/>
              </a:rPr>
              <a:t>().</a:t>
            </a:r>
            <a:r>
              <a:rPr lang="en-US" sz="2000" dirty="0" err="1">
                <a:solidFill>
                  <a:srgbClr val="CC00CC"/>
                </a:solidFill>
                <a:latin typeface="Consolas" panose="020B0609020204030204" pitchFamily="49" charset="0"/>
              </a:rPr>
              <a:t>get_config</a:t>
            </a:r>
            <a:r>
              <a:rPr lang="en-US" sz="2000" dirty="0">
                <a:latin typeface="Consolas" panose="020B0609020204030204" pitchFamily="49" charset="0"/>
              </a:rPr>
              <a:t>();</a:t>
            </a:r>
          </a:p>
          <a:p>
            <a:pPr lvl="0">
              <a:defRPr/>
            </a:pPr>
            <a:r>
              <a:rPr lang="en-US" sz="2000" dirty="0">
                <a:latin typeface="Consolas" panose="020B0609020204030204" pitchFamily="49" charset="0"/>
              </a:rPr>
              <a:t>        config ["units"]=</a:t>
            </a:r>
            <a:r>
              <a:rPr lang="en-US" sz="2000" i="1" dirty="0" err="1">
                <a:latin typeface="Consolas" panose="020B0609020204030204" pitchFamily="49" charset="0"/>
              </a:rPr>
              <a:t>self</a:t>
            </a:r>
            <a:r>
              <a:rPr lang="en-US" sz="2000" dirty="0" err="1">
                <a:latin typeface="Consolas" panose="020B0609020204030204" pitchFamily="49" charset="0"/>
              </a:rPr>
              <a:t>.units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</a:p>
          <a:p>
            <a:pPr lvl="0">
              <a:defRPr/>
            </a:pPr>
            <a:r>
              <a:rPr lang="en-US" sz="2000" dirty="0">
                <a:latin typeface="Consolas" panose="020B0609020204030204" pitchFamily="49" charset="0"/>
              </a:rPr>
              <a:t>        return config;</a:t>
            </a:r>
          </a:p>
          <a:p>
            <a:pPr lvl="0">
              <a:defRPr/>
            </a:pPr>
            <a:endParaRPr lang="en-US" sz="2000" dirty="0">
              <a:latin typeface="Consolas" panose="020B0609020204030204" pitchFamily="49" charset="0"/>
            </a:endParaRPr>
          </a:p>
          <a:p>
            <a:pPr lvl="0">
              <a:defRPr/>
            </a:pPr>
            <a:r>
              <a:rPr lang="en-US" sz="2000" dirty="0">
                <a:latin typeface="Consolas" panose="020B0609020204030204" pitchFamily="49" charset="0"/>
              </a:rPr>
              <a:t>...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633425-0D5C-9C7D-DBBF-2759AD715C31}"/>
              </a:ext>
            </a:extLst>
          </p:cNvPr>
          <p:cNvSpPr txBox="1"/>
          <p:nvPr/>
        </p:nvSpPr>
        <p:spPr>
          <a:xfrm>
            <a:off x="0" y="686506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Automatic Gradient: </a:t>
            </a:r>
            <a:r>
              <a:rPr lang="en-IN" sz="2800" b="1" dirty="0" err="1"/>
              <a:t>Keras</a:t>
            </a:r>
            <a:r>
              <a:rPr lang="en-IN" sz="2800" b="1" dirty="0"/>
              <a:t> Model Example</a:t>
            </a:r>
          </a:p>
        </p:txBody>
      </p:sp>
    </p:spTree>
    <p:extLst>
      <p:ext uri="{BB962C8B-B14F-4D97-AF65-F5344CB8AC3E}">
        <p14:creationId xmlns:p14="http://schemas.microsoft.com/office/powerpoint/2010/main" val="1866394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5" grpId="0"/>
      <p:bldP spid="6" grpId="0"/>
      <p:bldP spid="8" grpId="0"/>
      <p:bldP spid="12" grpId="0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C9C3E-2122-D8E4-BB85-168FB84EF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868CF16-88B3-878B-A78F-46D92BCBFFB1}"/>
              </a:ext>
            </a:extLst>
          </p:cNvPr>
          <p:cNvSpPr/>
          <p:nvPr/>
        </p:nvSpPr>
        <p:spPr>
          <a:xfrm>
            <a:off x="553072" y="1289952"/>
            <a:ext cx="11085856" cy="523276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0CE8C5-51B2-EA4E-671F-33A52F0298C1}"/>
              </a:ext>
            </a:extLst>
          </p:cNvPr>
          <p:cNvSpPr txBox="1"/>
          <p:nvPr/>
        </p:nvSpPr>
        <p:spPr>
          <a:xfrm>
            <a:off x="0" y="98322"/>
            <a:ext cx="12192000" cy="52322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Session 1: </a:t>
            </a:r>
            <a:r>
              <a:rPr lang="en-US" sz="2800" b="1" dirty="0" err="1">
                <a:solidFill>
                  <a:schemeClr val="bg1"/>
                </a:solidFill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Tensorflow</a:t>
            </a:r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 Basics</a:t>
            </a:r>
            <a:endParaRPr lang="en-IN" sz="2800" b="1" dirty="0">
              <a:solidFill>
                <a:schemeClr val="bg1"/>
              </a:solidFill>
              <a:latin typeface="Century Schoolbook" panose="02040604050505020304" pitchFamily="18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57A632-00E4-209C-B7A8-3B30DE36B0DC}"/>
              </a:ext>
            </a:extLst>
          </p:cNvPr>
          <p:cNvSpPr txBox="1"/>
          <p:nvPr/>
        </p:nvSpPr>
        <p:spPr>
          <a:xfrm>
            <a:off x="1265211" y="1997838"/>
            <a:ext cx="1066262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2000" dirty="0">
                <a:latin typeface="Consolas" panose="020B0609020204030204" pitchFamily="49" charset="0"/>
              </a:rPr>
              <a:t>def </a:t>
            </a:r>
            <a:r>
              <a:rPr lang="en-US" sz="2000" dirty="0">
                <a:solidFill>
                  <a:srgbClr val="CC00CC"/>
                </a:solidFill>
                <a:latin typeface="Consolas" panose="020B0609020204030204" pitchFamily="49" charset="0"/>
              </a:rPr>
              <a:t>call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i="1" dirty="0">
                <a:latin typeface="Consolas" panose="020B0609020204030204" pitchFamily="49" charset="0"/>
              </a:rPr>
              <a:t>self</a:t>
            </a:r>
            <a:r>
              <a:rPr lang="en-US" sz="2000" dirty="0">
                <a:latin typeface="Consolas" panose="020B0609020204030204" pitchFamily="49" charset="0"/>
              </a:rPr>
              <a:t>, </a:t>
            </a:r>
            <a:r>
              <a:rPr lang="en-US" sz="20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xy</a:t>
            </a:r>
            <a:r>
              <a:rPr lang="en-US" sz="2000" dirty="0">
                <a:latin typeface="Consolas" panose="020B0609020204030204" pitchFamily="49" charset="0"/>
              </a:rPr>
              <a:t>, </a:t>
            </a:r>
            <a:r>
              <a:rPr lang="en-US" sz="20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model_passed</a:t>
            </a:r>
            <a:r>
              <a:rPr lang="en-US" sz="2000" dirty="0">
                <a:latin typeface="Consolas" panose="020B0609020204030204" pitchFamily="49" charset="0"/>
              </a:rPr>
              <a:t>): </a:t>
            </a:r>
          </a:p>
          <a:p>
            <a:pPr lvl="0">
              <a:defRPr/>
            </a:pPr>
            <a:r>
              <a:rPr lang="en-US" sz="2000" dirty="0">
                <a:latin typeface="Consolas" panose="020B0609020204030204" pitchFamily="49" charset="0"/>
              </a:rPr>
              <a:t>        </a:t>
            </a:r>
            <a:r>
              <a:rPr lang="en-US" sz="2000" i="1" dirty="0">
                <a:solidFill>
                  <a:srgbClr val="C00000"/>
                </a:solidFill>
                <a:latin typeface="Consolas" panose="020B0609020204030204" pitchFamily="49" charset="0"/>
              </a:rPr>
              <a:t># </a:t>
            </a:r>
            <a:r>
              <a:rPr lang="en-US" sz="2000" i="1" dirty="0" err="1">
                <a:solidFill>
                  <a:srgbClr val="C00000"/>
                </a:solidFill>
                <a:latin typeface="Consolas" panose="020B0609020204030204" pitchFamily="49" charset="0"/>
              </a:rPr>
              <a:t>xy</a:t>
            </a:r>
            <a:r>
              <a:rPr lang="en-US" sz="2000" i="1" dirty="0">
                <a:solidFill>
                  <a:srgbClr val="C00000"/>
                </a:solidFill>
                <a:latin typeface="Consolas" panose="020B0609020204030204" pitchFamily="49" charset="0"/>
              </a:rPr>
              <a:t>:(None,2), </a:t>
            </a:r>
            <a:r>
              <a:rPr lang="en-US" sz="2000" i="1" dirty="0" err="1">
                <a:solidFill>
                  <a:srgbClr val="C00000"/>
                </a:solidFill>
                <a:latin typeface="Consolas" panose="020B0609020204030204" pitchFamily="49" charset="0"/>
              </a:rPr>
              <a:t>model_passed</a:t>
            </a:r>
            <a:r>
              <a:rPr lang="en-US" sz="2000" i="1" dirty="0">
                <a:solidFill>
                  <a:srgbClr val="C00000"/>
                </a:solidFill>
                <a:latin typeface="Consolas" panose="020B0609020204030204" pitchFamily="49" charset="0"/>
              </a:rPr>
              <a:t>: input:(None,2), output:(None,2)</a:t>
            </a:r>
          </a:p>
          <a:p>
            <a:pPr lvl="0">
              <a:defRPr/>
            </a:pPr>
            <a:r>
              <a:rPr lang="en-US" sz="2000" dirty="0">
                <a:latin typeface="Consolas" panose="020B0609020204030204" pitchFamily="49" charset="0"/>
              </a:rPr>
              <a:t>        with </a:t>
            </a:r>
            <a:r>
              <a:rPr lang="en-US" sz="2000" dirty="0" err="1">
                <a:solidFill>
                  <a:srgbClr val="00B0F0"/>
                </a:solidFill>
                <a:latin typeface="Consolas" panose="020B0609020204030204" pitchFamily="49" charset="0"/>
              </a:rPr>
              <a:t>tf.GradientTape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accent2"/>
                </a:solidFill>
                <a:latin typeface="Consolas" panose="020B0609020204030204" pitchFamily="49" charset="0"/>
              </a:rPr>
              <a:t>persistent</a:t>
            </a:r>
            <a:r>
              <a:rPr lang="en-US" sz="2000" dirty="0">
                <a:latin typeface="Consolas" panose="020B0609020204030204" pitchFamily="49" charset="0"/>
              </a:rPr>
              <a:t>=True) as tape:</a:t>
            </a:r>
          </a:p>
          <a:p>
            <a:pPr lvl="0">
              <a:defRPr/>
            </a:pPr>
            <a:r>
              <a:rPr lang="en-US" sz="2000" dirty="0">
                <a:latin typeface="Consolas" panose="020B0609020204030204" pitchFamily="49" charset="0"/>
              </a:rPr>
              <a:t>            </a:t>
            </a:r>
            <a:r>
              <a:rPr lang="en-US" sz="2000" dirty="0" err="1">
                <a:latin typeface="Consolas" panose="020B0609020204030204" pitchFamily="49" charset="0"/>
              </a:rPr>
              <a:t>tape.</a:t>
            </a:r>
            <a:r>
              <a:rPr lang="en-US" sz="2000" dirty="0" err="1">
                <a:solidFill>
                  <a:srgbClr val="00B0F0"/>
                </a:solidFill>
                <a:latin typeface="Consolas" panose="020B0609020204030204" pitchFamily="49" charset="0"/>
              </a:rPr>
              <a:t>watch</a:t>
            </a:r>
            <a:r>
              <a:rPr lang="en-US" sz="2000" dirty="0">
                <a:latin typeface="Consolas" panose="020B0609020204030204" pitchFamily="49" charset="0"/>
              </a:rPr>
              <a:t>([</a:t>
            </a:r>
            <a:r>
              <a:rPr lang="en-US" sz="20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xy</a:t>
            </a:r>
            <a:r>
              <a:rPr lang="en-US" sz="2000" dirty="0">
                <a:latin typeface="Consolas" panose="020B0609020204030204" pitchFamily="49" charset="0"/>
              </a:rPr>
              <a:t>]);</a:t>
            </a:r>
          </a:p>
          <a:p>
            <a:pPr lvl="0">
              <a:defRPr/>
            </a:pPr>
            <a:r>
              <a:rPr lang="en-US" sz="2000" dirty="0">
                <a:latin typeface="Consolas" panose="020B0609020204030204" pitchFamily="49" charset="0"/>
              </a:rPr>
              <a:t>            z = </a:t>
            </a:r>
            <a:r>
              <a:rPr lang="en-US" sz="20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model_passed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xy</a:t>
            </a:r>
            <a:r>
              <a:rPr lang="en-US" sz="2000" dirty="0">
                <a:latin typeface="Consolas" panose="020B0609020204030204" pitchFamily="49" charset="0"/>
              </a:rPr>
              <a:t>);</a:t>
            </a:r>
          </a:p>
          <a:p>
            <a:pPr lvl="0">
              <a:defRPr/>
            </a:pPr>
            <a:r>
              <a:rPr lang="en-US" sz="2000" dirty="0">
                <a:latin typeface="Consolas" panose="020B0609020204030204" pitchFamily="49" charset="0"/>
              </a:rPr>
              <a:t>            z1 = z[:,0:1]; </a:t>
            </a:r>
            <a:r>
              <a:rPr lang="en-US" sz="2000" i="1" dirty="0">
                <a:solidFill>
                  <a:srgbClr val="C00000"/>
                </a:solidFill>
                <a:latin typeface="Consolas" panose="020B0609020204030204" pitchFamily="49" charset="0"/>
              </a:rPr>
              <a:t># 0:1 -&gt; to preserve dimension</a:t>
            </a:r>
          </a:p>
          <a:p>
            <a:pPr lvl="0">
              <a:defRPr/>
            </a:pPr>
            <a:r>
              <a:rPr lang="en-US" sz="2000" dirty="0">
                <a:latin typeface="Consolas" panose="020B0609020204030204" pitchFamily="49" charset="0"/>
              </a:rPr>
              <a:t>            z2 = z[:,1:2];</a:t>
            </a:r>
          </a:p>
          <a:p>
            <a:pPr lvl="0">
              <a:defRPr/>
            </a:pPr>
            <a:r>
              <a:rPr lang="en-US" sz="2000" dirty="0">
                <a:latin typeface="Consolas" panose="020B0609020204030204" pitchFamily="49" charset="0"/>
              </a:rPr>
              <a:t>            dz1_dxy = </a:t>
            </a:r>
            <a:r>
              <a:rPr lang="en-US" sz="2000" dirty="0" err="1">
                <a:latin typeface="Consolas" panose="020B0609020204030204" pitchFamily="49" charset="0"/>
              </a:rPr>
              <a:t>tape.gradient</a:t>
            </a:r>
            <a:r>
              <a:rPr lang="en-US" sz="2000" dirty="0">
                <a:latin typeface="Consolas" panose="020B0609020204030204" pitchFamily="49" charset="0"/>
              </a:rPr>
              <a:t>(z1,</a:t>
            </a:r>
            <a:r>
              <a:rPr lang="en-US" sz="2000" b="1" dirty="0">
                <a:solidFill>
                  <a:srgbClr val="00B050"/>
                </a:solidFill>
                <a:latin typeface="Consolas" panose="020B0609020204030204" pitchFamily="49" charset="0"/>
              </a:rPr>
              <a:t>xy</a:t>
            </a:r>
            <a:r>
              <a:rPr lang="en-US" sz="2000" dirty="0">
                <a:latin typeface="Consolas" panose="020B0609020204030204" pitchFamily="49" charset="0"/>
              </a:rPr>
              <a:t>); </a:t>
            </a:r>
          </a:p>
          <a:p>
            <a:pPr lvl="0">
              <a:defRPr/>
            </a:pPr>
            <a:r>
              <a:rPr lang="en-US" sz="2000" dirty="0">
                <a:latin typeface="Consolas" panose="020B0609020204030204" pitchFamily="49" charset="0"/>
              </a:rPr>
              <a:t>            dz2_dxy = </a:t>
            </a:r>
            <a:r>
              <a:rPr lang="en-US" sz="2000" dirty="0" err="1">
                <a:latin typeface="Consolas" panose="020B0609020204030204" pitchFamily="49" charset="0"/>
              </a:rPr>
              <a:t>tape.gradient</a:t>
            </a:r>
            <a:r>
              <a:rPr lang="en-US" sz="2000" dirty="0">
                <a:latin typeface="Consolas" panose="020B0609020204030204" pitchFamily="49" charset="0"/>
              </a:rPr>
              <a:t>(z2,</a:t>
            </a:r>
            <a:r>
              <a:rPr lang="en-US" sz="2000" b="1" dirty="0">
                <a:solidFill>
                  <a:srgbClr val="00B050"/>
                </a:solidFill>
                <a:latin typeface="Consolas" panose="020B0609020204030204" pitchFamily="49" charset="0"/>
              </a:rPr>
              <a:t>xy</a:t>
            </a:r>
            <a:r>
              <a:rPr lang="en-US" sz="2000" dirty="0">
                <a:latin typeface="Consolas" panose="020B0609020204030204" pitchFamily="49" charset="0"/>
              </a:rPr>
              <a:t>);</a:t>
            </a:r>
          </a:p>
          <a:p>
            <a:pPr lvl="0">
              <a:defRPr/>
            </a:pPr>
            <a:r>
              <a:rPr lang="en-US" sz="2000" dirty="0">
                <a:latin typeface="Consolas" panose="020B0609020204030204" pitchFamily="49" charset="0"/>
              </a:rPr>
              <a:t>            </a:t>
            </a:r>
            <a:r>
              <a:rPr lang="en-US" sz="2000" dirty="0">
                <a:highlight>
                  <a:srgbClr val="FFFF00"/>
                </a:highlight>
                <a:latin typeface="Consolas" panose="020B0609020204030204" pitchFamily="49" charset="0"/>
              </a:rPr>
              <a:t>dz1_dx</a:t>
            </a:r>
            <a:r>
              <a:rPr lang="en-US" sz="2000" dirty="0">
                <a:latin typeface="Consolas" panose="020B0609020204030204" pitchFamily="49" charset="0"/>
              </a:rPr>
              <a:t>  = dz1_dxy[:,0:1];</a:t>
            </a:r>
          </a:p>
          <a:p>
            <a:pPr lvl="0">
              <a:defRPr/>
            </a:pPr>
            <a:r>
              <a:rPr lang="en-US" sz="2000" dirty="0">
                <a:latin typeface="Consolas" panose="020B0609020204030204" pitchFamily="49" charset="0"/>
              </a:rPr>
              <a:t>            </a:t>
            </a:r>
            <a:r>
              <a:rPr lang="en-US" sz="2000" dirty="0">
                <a:highlight>
                  <a:srgbClr val="FFFF00"/>
                </a:highlight>
                <a:latin typeface="Consolas" panose="020B0609020204030204" pitchFamily="49" charset="0"/>
              </a:rPr>
              <a:t>dz2_dy</a:t>
            </a:r>
            <a:r>
              <a:rPr lang="en-US" sz="2000" dirty="0">
                <a:latin typeface="Consolas" panose="020B0609020204030204" pitchFamily="49" charset="0"/>
              </a:rPr>
              <a:t>  = dz2_dxy[:,1:2];</a:t>
            </a:r>
          </a:p>
          <a:p>
            <a:pPr lvl="0">
              <a:defRPr/>
            </a:pPr>
            <a:r>
              <a:rPr lang="en-US" sz="2000" dirty="0">
                <a:latin typeface="Consolas" panose="020B0609020204030204" pitchFamily="49" charset="0"/>
              </a:rPr>
              <a:t>                </a:t>
            </a:r>
          </a:p>
          <a:p>
            <a:pPr lvl="0">
              <a:defRPr/>
            </a:pPr>
            <a:r>
              <a:rPr lang="en-US" sz="2000" dirty="0">
                <a:latin typeface="Consolas" panose="020B0609020204030204" pitchFamily="49" charset="0"/>
              </a:rPr>
              <a:t>        result=</a:t>
            </a:r>
            <a:r>
              <a:rPr lang="en-US" sz="2000" dirty="0" err="1">
                <a:solidFill>
                  <a:srgbClr val="00B0F0"/>
                </a:solidFill>
                <a:latin typeface="Consolas" panose="020B0609020204030204" pitchFamily="49" charset="0"/>
              </a:rPr>
              <a:t>tf.concat</a:t>
            </a:r>
            <a:r>
              <a:rPr lang="en-US" sz="2000" b="1" dirty="0">
                <a:latin typeface="Consolas" panose="020B0609020204030204" pitchFamily="49" charset="0"/>
              </a:rPr>
              <a:t>([z1, z2, </a:t>
            </a:r>
            <a:r>
              <a:rPr lang="en-US" sz="2000" b="1" dirty="0">
                <a:highlight>
                  <a:srgbClr val="FFFF00"/>
                </a:highlight>
                <a:latin typeface="Consolas" panose="020B0609020204030204" pitchFamily="49" charset="0"/>
              </a:rPr>
              <a:t>dz1_dx</a:t>
            </a:r>
            <a:r>
              <a:rPr lang="en-US" sz="2000" b="1" dirty="0">
                <a:latin typeface="Consolas" panose="020B0609020204030204" pitchFamily="49" charset="0"/>
              </a:rPr>
              <a:t>, </a:t>
            </a:r>
            <a:r>
              <a:rPr lang="en-US" sz="2000" b="1" dirty="0">
                <a:highlight>
                  <a:srgbClr val="FFFF00"/>
                </a:highlight>
                <a:latin typeface="Consolas" panose="020B0609020204030204" pitchFamily="49" charset="0"/>
              </a:rPr>
              <a:t>dz2_dy</a:t>
            </a:r>
            <a:r>
              <a:rPr lang="en-US" sz="2000" b="1" dirty="0">
                <a:latin typeface="Consolas" panose="020B0609020204030204" pitchFamily="49" charset="0"/>
              </a:rPr>
              <a:t>]</a:t>
            </a:r>
            <a:r>
              <a:rPr lang="en-US" sz="2000" dirty="0">
                <a:latin typeface="Consolas" panose="020B0609020204030204" pitchFamily="49" charset="0"/>
              </a:rPr>
              <a:t>, axis=1);</a:t>
            </a:r>
          </a:p>
          <a:p>
            <a:pPr lvl="0">
              <a:defRPr/>
            </a:pPr>
            <a:r>
              <a:rPr lang="en-US" sz="2000" dirty="0">
                <a:latin typeface="Consolas" panose="020B0609020204030204" pitchFamily="49" charset="0"/>
              </a:rPr>
              <a:t>        return result;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3BEEDA-2765-8222-991C-4C14F364FB28}"/>
              </a:ext>
            </a:extLst>
          </p:cNvPr>
          <p:cNvSpPr txBox="1"/>
          <p:nvPr/>
        </p:nvSpPr>
        <p:spPr>
          <a:xfrm>
            <a:off x="553072" y="1289952"/>
            <a:ext cx="95398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2000" dirty="0">
                <a:latin typeface="Consolas" panose="020B0609020204030204" pitchFamily="49" charset="0"/>
              </a:rPr>
              <a:t>class </a:t>
            </a:r>
            <a:r>
              <a:rPr lang="en-US" sz="2000" dirty="0" err="1">
                <a:latin typeface="Consolas" panose="020B0609020204030204" pitchFamily="49" charset="0"/>
              </a:rPr>
              <a:t>cust_layer_grad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solidFill>
                  <a:srgbClr val="CC00CC"/>
                </a:solidFill>
                <a:latin typeface="Consolas" panose="020B0609020204030204" pitchFamily="49" charset="0"/>
              </a:rPr>
              <a:t>keras.layers.Layer</a:t>
            </a:r>
            <a:r>
              <a:rPr lang="en-US" sz="2000" dirty="0">
                <a:latin typeface="Consolas" panose="020B0609020204030204" pitchFamily="49" charset="0"/>
              </a:rPr>
              <a:t>):</a:t>
            </a:r>
          </a:p>
          <a:p>
            <a:pPr lvl="0">
              <a:defRPr/>
            </a:pPr>
            <a:r>
              <a:rPr lang="en-US" sz="2000" dirty="0">
                <a:latin typeface="Consolas" panose="020B0609020204030204" pitchFamily="49" charset="0"/>
              </a:rPr>
              <a:t>     ...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7EA1667-D4D4-06C8-6307-A5A498A0AEC2}"/>
              </a:ext>
            </a:extLst>
          </p:cNvPr>
          <p:cNvGrpSpPr/>
          <p:nvPr/>
        </p:nvGrpSpPr>
        <p:grpSpPr>
          <a:xfrm>
            <a:off x="7797520" y="1143896"/>
            <a:ext cx="3985863" cy="730265"/>
            <a:chOff x="7653064" y="1267573"/>
            <a:chExt cx="3985863" cy="73026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0B4EA93-995E-424E-249D-07526D0A2C88}"/>
                </a:ext>
              </a:extLst>
            </p:cNvPr>
            <p:cNvSpPr/>
            <p:nvPr/>
          </p:nvSpPr>
          <p:spPr>
            <a:xfrm>
              <a:off x="7653064" y="1284612"/>
              <a:ext cx="3985863" cy="677558"/>
            </a:xfrm>
            <a:prstGeom prst="rect">
              <a:avLst/>
            </a:prstGeom>
            <a:solidFill>
              <a:schemeClr val="tx1">
                <a:alpha val="64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DD38960-E486-6E95-056A-F40F1B6DBFB8}"/>
                </a:ext>
              </a:extLst>
            </p:cNvPr>
            <p:cNvGrpSpPr/>
            <p:nvPr/>
          </p:nvGrpSpPr>
          <p:grpSpPr>
            <a:xfrm>
              <a:off x="7743785" y="1267573"/>
              <a:ext cx="3843503" cy="730265"/>
              <a:chOff x="7743785" y="1267573"/>
              <a:chExt cx="3843503" cy="73026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1F912B7E-0C05-2A25-2BA6-EDF7B0E3C449}"/>
                      </a:ext>
                    </a:extLst>
                  </p:cNvPr>
                  <p:cNvSpPr txBox="1"/>
                  <p:nvPr/>
                </p:nvSpPr>
                <p:spPr>
                  <a:xfrm>
                    <a:off x="10240380" y="1284612"/>
                    <a:ext cx="683240" cy="677558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IN" sz="2000" b="1" i="1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1" i="1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𝝏</m:t>
                              </m:r>
                              <m:sSub>
                                <m:sSubPr>
                                  <m:ctrlPr>
                                    <a:rPr lang="en-IN" sz="2000" b="1" i="1">
                                      <a:solidFill>
                                        <a:schemeClr val="bg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solidFill>
                                        <a:schemeClr val="bg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</m:e>
                                <m:sub>
                                  <m:r>
                                    <a:rPr lang="en-US" sz="2000" b="1" i="1">
                                      <a:solidFill>
                                        <a:schemeClr val="bg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IN" sz="2000" b="1" i="1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𝝏</m:t>
                              </m:r>
                              <m:r>
                                <a:rPr lang="en-US" sz="2000" b="1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den>
                          </m:f>
                        </m:oMath>
                      </m:oMathPara>
                    </a14:m>
                    <a:endParaRPr lang="en-IN" sz="2000" b="1" dirty="0">
                      <a:solidFill>
                        <a:schemeClr val="bg1">
                          <a:lumMod val="75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1F912B7E-0C05-2A25-2BA6-EDF7B0E3C44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240380" y="1284612"/>
                    <a:ext cx="683240" cy="677558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2B653769-58D6-8D02-FB62-BEBE57249FA0}"/>
                      </a:ext>
                    </a:extLst>
                  </p:cNvPr>
                  <p:cNvSpPr txBox="1"/>
                  <p:nvPr/>
                </p:nvSpPr>
                <p:spPr>
                  <a:xfrm>
                    <a:off x="10904048" y="1267573"/>
                    <a:ext cx="683240" cy="7302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IN" sz="2000" b="1" i="1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1" i="1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𝝏</m:t>
                              </m:r>
                              <m:sSub>
                                <m:sSubPr>
                                  <m:ctrlPr>
                                    <a:rPr lang="en-IN" sz="2000" b="1" i="1">
                                      <a:solidFill>
                                        <a:schemeClr val="bg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solidFill>
                                        <a:schemeClr val="bg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</m:e>
                                <m:sub>
                                  <m:r>
                                    <a:rPr lang="en-US" sz="2000" b="1" i="1" smtClean="0">
                                      <a:solidFill>
                                        <a:schemeClr val="bg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IN" sz="2000" b="1" i="1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𝝏</m:t>
                              </m:r>
                              <m:r>
                                <a:rPr lang="en-US" sz="2000" b="1" i="1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den>
                          </m:f>
                        </m:oMath>
                      </m:oMathPara>
                    </a14:m>
                    <a:endParaRPr lang="en-IN" sz="2000" dirty="0">
                      <a:solidFill>
                        <a:schemeClr val="bg1">
                          <a:lumMod val="75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2B653769-58D6-8D02-FB62-BEBE57249FA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04048" y="1267573"/>
                    <a:ext cx="683240" cy="730265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CE00DBC-C4B3-A0F0-2070-70ABAB542FB7}"/>
                  </a:ext>
                </a:extLst>
              </p:cNvPr>
              <p:cNvSpPr txBox="1"/>
              <p:nvPr/>
            </p:nvSpPr>
            <p:spPr>
              <a:xfrm>
                <a:off x="7743785" y="1432650"/>
                <a:ext cx="268911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000" b="1" dirty="0">
                    <a:solidFill>
                      <a:schemeClr val="bg1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Objective: To compute</a:t>
                </a:r>
                <a:endParaRPr lang="en-IN" sz="2000" b="1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p:grp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F0EF1184-02C2-97EC-3CC6-BF2D3A11DE1A}"/>
              </a:ext>
            </a:extLst>
          </p:cNvPr>
          <p:cNvSpPr txBox="1"/>
          <p:nvPr/>
        </p:nvSpPr>
        <p:spPr>
          <a:xfrm>
            <a:off x="0" y="686506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Automatic Gradient: </a:t>
            </a:r>
            <a:r>
              <a:rPr lang="en-IN" sz="2800" b="1" dirty="0" err="1"/>
              <a:t>Keras</a:t>
            </a:r>
            <a:r>
              <a:rPr lang="en-IN" sz="2800" b="1" dirty="0"/>
              <a:t> Model Example</a:t>
            </a:r>
          </a:p>
        </p:txBody>
      </p:sp>
    </p:spTree>
    <p:extLst>
      <p:ext uri="{BB962C8B-B14F-4D97-AF65-F5344CB8AC3E}">
        <p14:creationId xmlns:p14="http://schemas.microsoft.com/office/powerpoint/2010/main" val="4072079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/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D1452-607A-6F1D-9698-AB6F0E10E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65ACBB5D-3748-59A3-0327-FD6DFE81261A}"/>
              </a:ext>
            </a:extLst>
          </p:cNvPr>
          <p:cNvGrpSpPr/>
          <p:nvPr/>
        </p:nvGrpSpPr>
        <p:grpSpPr>
          <a:xfrm>
            <a:off x="4947013" y="3871908"/>
            <a:ext cx="4961019" cy="2559879"/>
            <a:chOff x="6102365" y="3560059"/>
            <a:chExt cx="4961019" cy="2559879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7D53A00-1E41-BEC9-150D-5E870FE744D4}"/>
                </a:ext>
              </a:extLst>
            </p:cNvPr>
            <p:cNvSpPr/>
            <p:nvPr/>
          </p:nvSpPr>
          <p:spPr>
            <a:xfrm>
              <a:off x="6521210" y="3560059"/>
              <a:ext cx="4542174" cy="255987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85053BD-BD9F-4755-3246-E19232CA604D}"/>
                </a:ext>
              </a:extLst>
            </p:cNvPr>
            <p:cNvCxnSpPr>
              <a:cxnSpLocks/>
            </p:cNvCxnSpPr>
            <p:nvPr/>
          </p:nvCxnSpPr>
          <p:spPr>
            <a:xfrm>
              <a:off x="6102365" y="4832662"/>
              <a:ext cx="432688" cy="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23C7DAE3-9EE6-13F1-8E02-B615BE3CA193}"/>
              </a:ext>
            </a:extLst>
          </p:cNvPr>
          <p:cNvGrpSpPr/>
          <p:nvPr/>
        </p:nvGrpSpPr>
        <p:grpSpPr>
          <a:xfrm>
            <a:off x="5372096" y="4053248"/>
            <a:ext cx="4854515" cy="1819226"/>
            <a:chOff x="4874256" y="3870368"/>
            <a:chExt cx="4854515" cy="1819226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ADC24B2F-305F-8397-FE50-04B2010B1C39}"/>
                </a:ext>
              </a:extLst>
            </p:cNvPr>
            <p:cNvGrpSpPr/>
            <p:nvPr/>
          </p:nvGrpSpPr>
          <p:grpSpPr>
            <a:xfrm>
              <a:off x="4874256" y="3870368"/>
              <a:ext cx="4348351" cy="1819226"/>
              <a:chOff x="4874256" y="3870368"/>
              <a:chExt cx="4348351" cy="1819226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E54482A0-64A7-F76A-081D-2D1E26BB8993}"/>
                  </a:ext>
                </a:extLst>
              </p:cNvPr>
              <p:cNvSpPr/>
              <p:nvPr/>
            </p:nvSpPr>
            <p:spPr>
              <a:xfrm>
                <a:off x="5151120" y="4237543"/>
                <a:ext cx="4071487" cy="1452051"/>
              </a:xfrm>
              <a:prstGeom prst="rect">
                <a:avLst/>
              </a:prstGeom>
              <a:solidFill>
                <a:srgbClr val="CFE0AA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CEFBC7E-FA6C-F14F-FFF7-800ED99239F4}"/>
                  </a:ext>
                </a:extLst>
              </p:cNvPr>
              <p:cNvSpPr txBox="1"/>
              <p:nvPr/>
            </p:nvSpPr>
            <p:spPr>
              <a:xfrm>
                <a:off x="5666520" y="3870368"/>
                <a:ext cx="312660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b="1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cust_layer_grad</a:t>
                </a:r>
                <a:endParaRPr lang="en-IN" sz="2000" b="1" dirty="0"/>
              </a:p>
            </p:txBody>
          </p: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5F74D082-0236-1BAD-B706-F3679F5C69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74256" y="4960458"/>
                <a:ext cx="295532" cy="0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none" w="med" len="med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FDD5F6A2-C078-FAED-FBF9-A7995605126F}"/>
                </a:ext>
              </a:extLst>
            </p:cNvPr>
            <p:cNvCxnSpPr>
              <a:cxnSpLocks/>
            </p:cNvCxnSpPr>
            <p:nvPr/>
          </p:nvCxnSpPr>
          <p:spPr>
            <a:xfrm>
              <a:off x="9238693" y="4942725"/>
              <a:ext cx="490078" cy="0"/>
            </a:xfrm>
            <a:prstGeom prst="line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0DD57E0-2BDD-2B7C-5264-628DCA8EC7A7}"/>
              </a:ext>
            </a:extLst>
          </p:cNvPr>
          <p:cNvSpPr txBox="1"/>
          <p:nvPr/>
        </p:nvSpPr>
        <p:spPr>
          <a:xfrm>
            <a:off x="0" y="98322"/>
            <a:ext cx="12192000" cy="52322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Session 1: </a:t>
            </a:r>
            <a:r>
              <a:rPr lang="en-US" sz="2800" b="1" dirty="0" err="1">
                <a:solidFill>
                  <a:schemeClr val="bg1"/>
                </a:solidFill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Tensorflow</a:t>
            </a:r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 Basics</a:t>
            </a:r>
            <a:endParaRPr lang="en-IN" sz="2800" b="1" dirty="0">
              <a:solidFill>
                <a:schemeClr val="bg1"/>
              </a:solidFill>
              <a:latin typeface="Century Schoolbook" panose="02040604050505020304" pitchFamily="18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9918F4-1153-670B-E8CC-17B84D5E524E}"/>
              </a:ext>
            </a:extLst>
          </p:cNvPr>
          <p:cNvSpPr txBox="1"/>
          <p:nvPr/>
        </p:nvSpPr>
        <p:spPr>
          <a:xfrm>
            <a:off x="0" y="686506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Automatic Gradient: </a:t>
            </a:r>
            <a:r>
              <a:rPr lang="en-IN" sz="2800" b="1" dirty="0" err="1"/>
              <a:t>Keras</a:t>
            </a:r>
            <a:r>
              <a:rPr lang="en-IN" sz="2800" b="1" dirty="0"/>
              <a:t> Model Example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FD6C2F-C0CF-037C-11AB-DD8622E62511}"/>
              </a:ext>
            </a:extLst>
          </p:cNvPr>
          <p:cNvSpPr txBox="1"/>
          <p:nvPr/>
        </p:nvSpPr>
        <p:spPr>
          <a:xfrm>
            <a:off x="553072" y="1289952"/>
            <a:ext cx="953987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2000" i="1" dirty="0">
                <a:solidFill>
                  <a:srgbClr val="C00000"/>
                </a:solidFill>
                <a:latin typeface="Consolas" panose="020B0609020204030204" pitchFamily="49" charset="0"/>
              </a:rPr>
              <a:t># Defining second </a:t>
            </a:r>
            <a:r>
              <a:rPr lang="en-US" sz="2000" i="1" dirty="0" err="1">
                <a:solidFill>
                  <a:srgbClr val="C00000"/>
                </a:solidFill>
                <a:latin typeface="Consolas" panose="020B0609020204030204" pitchFamily="49" charset="0"/>
              </a:rPr>
              <a:t>Keras</a:t>
            </a:r>
            <a:r>
              <a:rPr lang="en-US" sz="2000" i="1" dirty="0">
                <a:solidFill>
                  <a:srgbClr val="C00000"/>
                </a:solidFill>
                <a:latin typeface="Consolas" panose="020B0609020204030204" pitchFamily="49" charset="0"/>
              </a:rPr>
              <a:t> model</a:t>
            </a:r>
          </a:p>
          <a:p>
            <a:pPr lvl="0">
              <a:defRPr/>
            </a:pPr>
            <a:r>
              <a:rPr lang="en-US" sz="2000" dirty="0">
                <a:latin typeface="Consolas" panose="020B0609020204030204" pitchFamily="49" charset="0"/>
              </a:rPr>
              <a:t>out2=</a:t>
            </a:r>
            <a:r>
              <a:rPr lang="en-US" sz="2000" dirty="0" err="1">
                <a:latin typeface="Consolas" panose="020B0609020204030204" pitchFamily="49" charset="0"/>
              </a:rPr>
              <a:t>cust_layer_grad</a:t>
            </a:r>
            <a:r>
              <a:rPr lang="en-US" sz="2000" dirty="0">
                <a:latin typeface="Consolas" panose="020B0609020204030204" pitchFamily="49" charset="0"/>
              </a:rPr>
              <a:t>(1)(</a:t>
            </a:r>
            <a:r>
              <a:rPr lang="en-US" sz="2000" dirty="0" err="1">
                <a:latin typeface="Consolas" panose="020B0609020204030204" pitchFamily="49" charset="0"/>
              </a:rPr>
              <a:t>input_tensor</a:t>
            </a:r>
            <a:r>
              <a:rPr lang="en-US" sz="2000" dirty="0">
                <a:latin typeface="Consolas" panose="020B0609020204030204" pitchFamily="49" charset="0"/>
              </a:rPr>
              <a:t>, model1);   </a:t>
            </a:r>
          </a:p>
          <a:p>
            <a:pPr lvl="0">
              <a:defRPr/>
            </a:pPr>
            <a:r>
              <a:rPr lang="en-US" sz="2000" dirty="0">
                <a:latin typeface="Consolas" panose="020B0609020204030204" pitchFamily="49" charset="0"/>
              </a:rPr>
              <a:t>    </a:t>
            </a:r>
          </a:p>
          <a:p>
            <a:pPr lvl="0">
              <a:defRPr/>
            </a:pPr>
            <a:r>
              <a:rPr lang="en-US" sz="2000" dirty="0">
                <a:latin typeface="Consolas" panose="020B0609020204030204" pitchFamily="49" charset="0"/>
              </a:rPr>
              <a:t>model=</a:t>
            </a:r>
            <a:r>
              <a:rPr lang="en-US" sz="2000" dirty="0">
                <a:solidFill>
                  <a:srgbClr val="CC00CC"/>
                </a:solidFill>
                <a:latin typeface="Consolas" panose="020B0609020204030204" pitchFamily="49" charset="0"/>
              </a:rPr>
              <a:t>Model</a:t>
            </a:r>
            <a:r>
              <a:rPr lang="en-US" sz="2000" dirty="0">
                <a:latin typeface="Consolas" panose="020B0609020204030204" pitchFamily="49" charset="0"/>
              </a:rPr>
              <a:t>(inputs=[</a:t>
            </a:r>
            <a:r>
              <a:rPr lang="en-US" sz="2000" dirty="0" err="1">
                <a:latin typeface="Consolas" panose="020B0609020204030204" pitchFamily="49" charset="0"/>
              </a:rPr>
              <a:t>input_tensor</a:t>
            </a:r>
            <a:r>
              <a:rPr lang="en-US" sz="2000" dirty="0">
                <a:latin typeface="Consolas" panose="020B0609020204030204" pitchFamily="49" charset="0"/>
              </a:rPr>
              <a:t>],outputs=[out2]);   </a:t>
            </a:r>
          </a:p>
          <a:p>
            <a:pPr lvl="0">
              <a:defRPr/>
            </a:pPr>
            <a:r>
              <a:rPr lang="en-US" sz="2000" dirty="0" err="1">
                <a:latin typeface="Consolas" panose="020B0609020204030204" pitchFamily="49" charset="0"/>
              </a:rPr>
              <a:t>model.</a:t>
            </a:r>
            <a:r>
              <a:rPr lang="en-US" sz="2000" dirty="0" err="1">
                <a:solidFill>
                  <a:srgbClr val="CC00CC"/>
                </a:solidFill>
                <a:latin typeface="Consolas" panose="020B0609020204030204" pitchFamily="49" charset="0"/>
              </a:rPr>
              <a:t>summary</a:t>
            </a:r>
            <a:r>
              <a:rPr lang="en-US" sz="2000" dirty="0">
                <a:latin typeface="Consolas" panose="020B0609020204030204" pitchFamily="49" charset="0"/>
              </a:rPr>
              <a:t>();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3BB8B5-9FAA-E81E-177D-FD1AC83E0017}"/>
              </a:ext>
            </a:extLst>
          </p:cNvPr>
          <p:cNvSpPr txBox="1"/>
          <p:nvPr/>
        </p:nvSpPr>
        <p:spPr>
          <a:xfrm>
            <a:off x="3697731" y="4620818"/>
            <a:ext cx="2334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>
                <a:latin typeface="Consolas" panose="020B0609020204030204" pitchFamily="49" charset="0"/>
              </a:rPr>
              <a:t>input_tensor</a:t>
            </a:r>
            <a:endParaRPr lang="en-IN" dirty="0">
              <a:latin typeface="Consolas" panose="020B0609020204030204" pitchFamily="49" charset="0"/>
            </a:endParaRPr>
          </a:p>
          <a:p>
            <a:r>
              <a:rPr lang="en-IN" sz="1800" i="1" dirty="0">
                <a:solidFill>
                  <a:srgbClr val="0000FF"/>
                </a:solidFill>
                <a:latin typeface="Consolas" panose="020B0609020204030204" pitchFamily="49" charset="0"/>
              </a:rPr>
              <a:t>(None,2)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D3A8599-6861-94A1-116C-022EC5607DBF}"/>
              </a:ext>
            </a:extLst>
          </p:cNvPr>
          <p:cNvGrpSpPr/>
          <p:nvPr/>
        </p:nvGrpSpPr>
        <p:grpSpPr>
          <a:xfrm>
            <a:off x="6934536" y="4733770"/>
            <a:ext cx="1328522" cy="407378"/>
            <a:chOff x="9000452" y="4769453"/>
            <a:chExt cx="1328522" cy="407378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2C3ABF9-C351-2FF5-08AB-59B722406938}"/>
                </a:ext>
              </a:extLst>
            </p:cNvPr>
            <p:cNvCxnSpPr>
              <a:cxnSpLocks/>
              <a:stCxn id="19" idx="3"/>
              <a:endCxn id="39" idx="1"/>
            </p:cNvCxnSpPr>
            <p:nvPr/>
          </p:nvCxnSpPr>
          <p:spPr>
            <a:xfrm>
              <a:off x="9022989" y="5172430"/>
              <a:ext cx="1149385" cy="4401"/>
            </a:xfrm>
            <a:prstGeom prst="line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3CED6C0-E5BC-1EBE-10FC-7BFA9DB9B225}"/>
                </a:ext>
              </a:extLst>
            </p:cNvPr>
            <p:cNvSpPr txBox="1"/>
            <p:nvPr/>
          </p:nvSpPr>
          <p:spPr>
            <a:xfrm>
              <a:off x="9000452" y="4769453"/>
              <a:ext cx="132852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800" i="1" dirty="0">
                  <a:solidFill>
                    <a:srgbClr val="0000FF"/>
                  </a:solidFill>
                  <a:latin typeface="Consolas" panose="020B0609020204030204" pitchFamily="49" charset="0"/>
                </a:rPr>
                <a:t>(None,2)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EA42ADF1-5C74-0ED1-290D-A7431188262F}"/>
              </a:ext>
            </a:extLst>
          </p:cNvPr>
          <p:cNvGrpSpPr/>
          <p:nvPr/>
        </p:nvGrpSpPr>
        <p:grpSpPr>
          <a:xfrm>
            <a:off x="4947013" y="4533715"/>
            <a:ext cx="2010060" cy="836700"/>
            <a:chOff x="4449173" y="4350835"/>
            <a:chExt cx="2010060" cy="83670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E41DA0C-CB4B-ABD3-CFBD-E9D72DB260E8}"/>
                </a:ext>
              </a:extLst>
            </p:cNvPr>
            <p:cNvSpPr txBox="1"/>
            <p:nvPr/>
          </p:nvSpPr>
          <p:spPr>
            <a:xfrm>
              <a:off x="5464917" y="4350835"/>
              <a:ext cx="993399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000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m</a:t>
              </a:r>
              <a:r>
                <a:rPr lang="en-IN" sz="2000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odel1 </a:t>
              </a:r>
              <a:endParaRPr lang="en-IN" sz="2000" b="1" dirty="0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D1387762-D08B-C3B0-9CDC-EE0E6054F52E}"/>
                </a:ext>
              </a:extLst>
            </p:cNvPr>
            <p:cNvGrpSpPr/>
            <p:nvPr/>
          </p:nvGrpSpPr>
          <p:grpSpPr>
            <a:xfrm>
              <a:off x="4449173" y="4720198"/>
              <a:ext cx="2010060" cy="467337"/>
              <a:chOff x="-2048090" y="3725874"/>
              <a:chExt cx="10794864" cy="2434824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03AF58D-AA6B-DD45-0EBF-BAE63EE37AA7}"/>
                  </a:ext>
                </a:extLst>
              </p:cNvPr>
              <p:cNvSpPr/>
              <p:nvPr/>
            </p:nvSpPr>
            <p:spPr>
              <a:xfrm>
                <a:off x="3411803" y="3725874"/>
                <a:ext cx="5334971" cy="2434824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C4974F5B-0CFF-4380-BEC2-3D14A51DEF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2048090" y="4977628"/>
                <a:ext cx="5479208" cy="0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none" w="med" len="med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8AA1DF2-2C88-EDB3-0376-CB9D4720316B}"/>
              </a:ext>
            </a:extLst>
          </p:cNvPr>
          <p:cNvGrpSpPr/>
          <p:nvPr/>
        </p:nvGrpSpPr>
        <p:grpSpPr>
          <a:xfrm>
            <a:off x="3080179" y="2532394"/>
            <a:ext cx="5866674" cy="626927"/>
            <a:chOff x="3080179" y="2532394"/>
            <a:chExt cx="5866674" cy="626927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550B68C-2D44-AE27-1001-17F2E7B8566C}"/>
                </a:ext>
              </a:extLst>
            </p:cNvPr>
            <p:cNvSpPr txBox="1"/>
            <p:nvPr/>
          </p:nvSpPr>
          <p:spPr>
            <a:xfrm>
              <a:off x="3314147" y="2759211"/>
              <a:ext cx="563270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000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To feed the placeholder (input data to the graph)</a:t>
              </a:r>
              <a:endParaRPr lang="en-IN" sz="2000" b="1" dirty="0"/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5501A1D-5B05-3543-FBEF-A884938C2144}"/>
                </a:ext>
              </a:extLst>
            </p:cNvPr>
            <p:cNvCxnSpPr>
              <a:cxnSpLocks/>
            </p:cNvCxnSpPr>
            <p:nvPr/>
          </p:nvCxnSpPr>
          <p:spPr>
            <a:xfrm>
              <a:off x="3080179" y="2532394"/>
              <a:ext cx="382349" cy="321864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8DC65D54-E8B1-9BEB-3B7E-508CF07BFA4B}"/>
              </a:ext>
            </a:extLst>
          </p:cNvPr>
          <p:cNvSpPr txBox="1"/>
          <p:nvPr/>
        </p:nvSpPr>
        <p:spPr>
          <a:xfrm>
            <a:off x="8506478" y="1937917"/>
            <a:ext cx="2980580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 err="1">
                <a:latin typeface="Consolas" panose="020B0609020204030204" pitchFamily="49" charset="0"/>
              </a:rPr>
              <a:t>input_tensor</a:t>
            </a:r>
            <a:r>
              <a:rPr lang="en-US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is input to model and model1.</a:t>
            </a:r>
            <a:endParaRPr lang="en-IN" sz="20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A004A77-BD82-2859-2D40-65E3B56132D7}"/>
              </a:ext>
            </a:extLst>
          </p:cNvPr>
          <p:cNvSpPr txBox="1"/>
          <p:nvPr/>
        </p:nvSpPr>
        <p:spPr>
          <a:xfrm>
            <a:off x="7188003" y="3506703"/>
            <a:ext cx="9933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m</a:t>
            </a:r>
            <a:r>
              <a:rPr lang="en-IN" sz="20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odel</a:t>
            </a:r>
            <a:r>
              <a:rPr lang="en-IN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endParaRPr lang="en-IN" sz="2000" b="1" dirty="0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107E962C-DD8B-465E-0223-493F83F3004C}"/>
              </a:ext>
            </a:extLst>
          </p:cNvPr>
          <p:cNvGrpSpPr/>
          <p:nvPr/>
        </p:nvGrpSpPr>
        <p:grpSpPr>
          <a:xfrm>
            <a:off x="9923388" y="4290977"/>
            <a:ext cx="2694235" cy="1682132"/>
            <a:chOff x="9468964" y="4112604"/>
            <a:chExt cx="2856489" cy="1682132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835FCBC-158E-8D0C-51C0-388A780E8DF7}"/>
                </a:ext>
              </a:extLst>
            </p:cNvPr>
            <p:cNvSpPr txBox="1"/>
            <p:nvPr/>
          </p:nvSpPr>
          <p:spPr>
            <a:xfrm>
              <a:off x="9622084" y="4420077"/>
              <a:ext cx="270336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 dirty="0">
                  <a:latin typeface="Consolas" panose="020B0609020204030204" pitchFamily="49" charset="0"/>
                </a:rPr>
                <a:t>z1,z2,</a:t>
              </a:r>
              <a:r>
                <a:rPr lang="en-US" sz="1400" b="1" dirty="0">
                  <a:highlight>
                    <a:srgbClr val="FFFF00"/>
                  </a:highlight>
                  <a:latin typeface="Consolas" panose="020B0609020204030204" pitchFamily="49" charset="0"/>
                </a:rPr>
                <a:t>dz1_dx</a:t>
              </a:r>
              <a:r>
                <a:rPr lang="en-US" sz="1400" b="1" dirty="0">
                  <a:latin typeface="Consolas" panose="020B0609020204030204" pitchFamily="49" charset="0"/>
                </a:rPr>
                <a:t>,</a:t>
              </a:r>
              <a:r>
                <a:rPr lang="en-US" sz="1400" b="1" dirty="0">
                  <a:highlight>
                    <a:srgbClr val="FFFF00"/>
                  </a:highlight>
                  <a:latin typeface="Consolas" panose="020B0609020204030204" pitchFamily="49" charset="0"/>
                </a:rPr>
                <a:t>dz2_dy</a:t>
              </a:r>
              <a:endParaRPr lang="en-IN" sz="1400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0F1AB69-B7D4-1757-03E3-E399A27C7C35}"/>
                </a:ext>
              </a:extLst>
            </p:cNvPr>
            <p:cNvSpPr txBox="1"/>
            <p:nvPr/>
          </p:nvSpPr>
          <p:spPr>
            <a:xfrm>
              <a:off x="10051339" y="4112604"/>
              <a:ext cx="132852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800" i="1" dirty="0">
                  <a:solidFill>
                    <a:srgbClr val="0000FF"/>
                  </a:solidFill>
                  <a:latin typeface="Consolas" panose="020B0609020204030204" pitchFamily="49" charset="0"/>
                </a:rPr>
                <a:t>(None,4)</a:t>
              </a:r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F5B3BB8C-90A6-4682-8C2F-B2466A45978F}"/>
                </a:ext>
              </a:extLst>
            </p:cNvPr>
            <p:cNvGrpSpPr/>
            <p:nvPr/>
          </p:nvGrpSpPr>
          <p:grpSpPr>
            <a:xfrm>
              <a:off x="10044346" y="4757830"/>
              <a:ext cx="1277279" cy="1036906"/>
              <a:chOff x="9798041" y="4757830"/>
              <a:chExt cx="1277279" cy="1036906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FA9214D8-030C-1D88-2699-6DB3E8254A7F}"/>
                  </a:ext>
                </a:extLst>
              </p:cNvPr>
              <p:cNvSpPr/>
              <p:nvPr/>
            </p:nvSpPr>
            <p:spPr>
              <a:xfrm>
                <a:off x="9798041" y="4817782"/>
                <a:ext cx="1277279" cy="87869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202CDF78-510F-0329-3970-731605EF9A76}"/>
                  </a:ext>
                </a:extLst>
              </p:cNvPr>
              <p:cNvSpPr/>
              <p:nvPr/>
            </p:nvSpPr>
            <p:spPr>
              <a:xfrm>
                <a:off x="9936130" y="4757830"/>
                <a:ext cx="1010707" cy="103690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D6DC3BA4-FE85-439E-A5C1-C696BD23FE7A}"/>
                  </a:ext>
                </a:extLst>
              </p:cNvPr>
              <p:cNvCxnSpPr/>
              <p:nvPr/>
            </p:nvCxnSpPr>
            <p:spPr>
              <a:xfrm>
                <a:off x="10006468" y="4927107"/>
                <a:ext cx="0" cy="646565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120167BA-2511-385A-8A09-D7EFE9EFAB91}"/>
                  </a:ext>
                </a:extLst>
              </p:cNvPr>
              <p:cNvCxnSpPr/>
              <p:nvPr/>
            </p:nvCxnSpPr>
            <p:spPr>
              <a:xfrm>
                <a:off x="10273556" y="4927107"/>
                <a:ext cx="0" cy="646565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B87AD55C-D78D-E501-CB37-52549E9AE825}"/>
                  </a:ext>
                </a:extLst>
              </p:cNvPr>
              <p:cNvCxnSpPr/>
              <p:nvPr/>
            </p:nvCxnSpPr>
            <p:spPr>
              <a:xfrm>
                <a:off x="10555778" y="4944032"/>
                <a:ext cx="0" cy="646565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436D1D4B-CA16-8301-E806-040FF1714F93}"/>
                  </a:ext>
                </a:extLst>
              </p:cNvPr>
              <p:cNvCxnSpPr/>
              <p:nvPr/>
            </p:nvCxnSpPr>
            <p:spPr>
              <a:xfrm>
                <a:off x="10812706" y="4944032"/>
                <a:ext cx="0" cy="646565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B3B98F50-58D1-734D-09A5-F3D9E37821D1}"/>
                </a:ext>
              </a:extLst>
            </p:cNvPr>
            <p:cNvCxnSpPr>
              <a:cxnSpLocks/>
            </p:cNvCxnSpPr>
            <p:nvPr/>
          </p:nvCxnSpPr>
          <p:spPr>
            <a:xfrm>
              <a:off x="9468964" y="4942725"/>
              <a:ext cx="302668" cy="4401"/>
            </a:xfrm>
            <a:prstGeom prst="line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2C5AD592-FCA7-DBD1-F150-F35D49681314}"/>
              </a:ext>
            </a:extLst>
          </p:cNvPr>
          <p:cNvGrpSpPr/>
          <p:nvPr/>
        </p:nvGrpSpPr>
        <p:grpSpPr>
          <a:xfrm>
            <a:off x="5778121" y="4553174"/>
            <a:ext cx="4455851" cy="1005511"/>
            <a:chOff x="5280281" y="4370294"/>
            <a:chExt cx="4455851" cy="1005511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250DD36B-6430-C81F-C887-36EFC2A08999}"/>
                </a:ext>
              </a:extLst>
            </p:cNvPr>
            <p:cNvGrpSpPr/>
            <p:nvPr/>
          </p:nvGrpSpPr>
          <p:grpSpPr>
            <a:xfrm>
              <a:off x="5280281" y="4970618"/>
              <a:ext cx="2328337" cy="405187"/>
              <a:chOff x="5280281" y="4970618"/>
              <a:chExt cx="2328337" cy="405187"/>
            </a:xfrm>
          </p:grpSpPr>
          <p:cxnSp>
            <p:nvCxnSpPr>
              <p:cNvPr id="45" name="Connector: Elbow 44">
                <a:extLst>
                  <a:ext uri="{FF2B5EF4-FFF2-40B4-BE49-F238E27FC236}">
                    <a16:creationId xmlns:a16="http://schemas.microsoft.com/office/drawing/2014/main" id="{6EB2A712-843D-7796-E055-0CB574D7E0D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80281" y="5135120"/>
                <a:ext cx="2328337" cy="230525"/>
              </a:xfrm>
              <a:prstGeom prst="bentConnector3">
                <a:avLst>
                  <a:gd name="adj1" fmla="val 74873"/>
                </a:avLst>
              </a:prstGeom>
              <a:ln>
                <a:solidFill>
                  <a:schemeClr val="tx1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47C22241-B124-20A8-B065-9C9B90D715DC}"/>
                  </a:ext>
                </a:extLst>
              </p:cNvPr>
              <p:cNvCxnSpPr/>
              <p:nvPr/>
            </p:nvCxnSpPr>
            <p:spPr>
              <a:xfrm>
                <a:off x="5280281" y="4970618"/>
                <a:ext cx="0" cy="40518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ED04CB0B-EFCA-664F-5039-40ED8F8CFD52}"/>
                </a:ext>
              </a:extLst>
            </p:cNvPr>
            <p:cNvGrpSpPr/>
            <p:nvPr/>
          </p:nvGrpSpPr>
          <p:grpSpPr>
            <a:xfrm>
              <a:off x="7406419" y="4370294"/>
              <a:ext cx="2329713" cy="821642"/>
              <a:chOff x="7406419" y="4370294"/>
              <a:chExt cx="2329713" cy="821642"/>
            </a:xfrm>
          </p:grpSpPr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9143AD8-9C72-C6FE-95EF-4A57B9CA99A7}"/>
                  </a:ext>
                </a:extLst>
              </p:cNvPr>
              <p:cNvSpPr txBox="1"/>
              <p:nvPr/>
            </p:nvSpPr>
            <p:spPr>
              <a:xfrm>
                <a:off x="7406419" y="4370294"/>
                <a:ext cx="141644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Gradients</a:t>
                </a:r>
                <a:endParaRPr lang="en-IN" b="1" dirty="0"/>
              </a:p>
            </p:txBody>
          </p:sp>
          <p:grpSp>
            <p:nvGrpSpPr>
              <p:cNvPr id="66" name="Group 65">
                <a:extLst>
                  <a:ext uri="{FF2B5EF4-FFF2-40B4-BE49-F238E27FC236}">
                    <a16:creationId xmlns:a16="http://schemas.microsoft.com/office/drawing/2014/main" id="{B714971D-C36D-0300-59CC-3DDC94658F06}"/>
                  </a:ext>
                </a:extLst>
              </p:cNvPr>
              <p:cNvGrpSpPr/>
              <p:nvPr/>
            </p:nvGrpSpPr>
            <p:grpSpPr>
              <a:xfrm>
                <a:off x="7608618" y="4724599"/>
                <a:ext cx="2127514" cy="467337"/>
                <a:chOff x="7608618" y="4724599"/>
                <a:chExt cx="2127514" cy="467337"/>
              </a:xfrm>
            </p:grpSpPr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49EAA7BF-074F-ED52-AFC9-AB422C523547}"/>
                    </a:ext>
                  </a:extLst>
                </p:cNvPr>
                <p:cNvSpPr/>
                <p:nvPr/>
              </p:nvSpPr>
              <p:spPr>
                <a:xfrm>
                  <a:off x="7608618" y="4724599"/>
                  <a:ext cx="993399" cy="467337"/>
                </a:xfrm>
                <a:prstGeom prst="rect">
                  <a:avLst/>
                </a:prstGeom>
                <a:solidFill>
                  <a:srgbClr val="FF66FF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cxnSp>
              <p:nvCxnSpPr>
                <p:cNvPr id="65" name="Straight Connector 64">
                  <a:extLst>
                    <a:ext uri="{FF2B5EF4-FFF2-40B4-BE49-F238E27FC236}">
                      <a16:creationId xmlns:a16="http://schemas.microsoft.com/office/drawing/2014/main" id="{A9DD6370-2F17-797C-62ED-3CA3211104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86747" y="4939305"/>
                  <a:ext cx="1149385" cy="4401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tailEnd type="triangl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2D5E0C59-E25D-6755-D455-3A190B85E453}"/>
              </a:ext>
            </a:extLst>
          </p:cNvPr>
          <p:cNvGrpSpPr/>
          <p:nvPr/>
        </p:nvGrpSpPr>
        <p:grpSpPr>
          <a:xfrm>
            <a:off x="390076" y="3871908"/>
            <a:ext cx="3033019" cy="2560124"/>
            <a:chOff x="31577" y="3359521"/>
            <a:chExt cx="3033019" cy="2560124"/>
          </a:xfrm>
        </p:grpSpPr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02CF3A47-07F2-3E9B-BB3F-D4776707A8C5}"/>
                </a:ext>
              </a:extLst>
            </p:cNvPr>
            <p:cNvSpPr txBox="1"/>
            <p:nvPr/>
          </p:nvSpPr>
          <p:spPr>
            <a:xfrm>
              <a:off x="31577" y="3672876"/>
              <a:ext cx="3033019" cy="224676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IN" sz="1000" dirty="0"/>
                <a:t>Model: "model_1"</a:t>
              </a:r>
            </a:p>
            <a:p>
              <a:r>
                <a:rPr lang="en-IN" sz="1000" dirty="0"/>
                <a:t>________________________________________________</a:t>
              </a:r>
            </a:p>
            <a:p>
              <a:r>
                <a:rPr lang="en-IN" sz="1000" dirty="0"/>
                <a:t> Layer (type)                               Output Shape     Param #   </a:t>
              </a:r>
            </a:p>
            <a:p>
              <a:r>
                <a:rPr lang="en-IN" sz="1000" dirty="0"/>
                <a:t>=========================================</a:t>
              </a:r>
            </a:p>
            <a:p>
              <a:r>
                <a:rPr lang="en-IN" sz="1000" dirty="0"/>
                <a:t> input_1 (</a:t>
              </a:r>
              <a:r>
                <a:rPr lang="en-IN" sz="1000" dirty="0" err="1"/>
                <a:t>InputLayer</a:t>
              </a:r>
              <a:r>
                <a:rPr lang="en-IN" sz="1000" dirty="0"/>
                <a:t>)                 [(None, 2)]               0         </a:t>
              </a:r>
            </a:p>
            <a:p>
              <a:r>
                <a:rPr lang="en-IN" sz="1000" dirty="0"/>
                <a:t>                                                                 </a:t>
              </a:r>
            </a:p>
            <a:p>
              <a:r>
                <a:rPr lang="en-IN" sz="1000" dirty="0"/>
                <a:t> </a:t>
              </a:r>
              <a:r>
                <a:rPr lang="en-IN" sz="1000" dirty="0" err="1"/>
                <a:t>cust_layer_grad</a:t>
              </a:r>
              <a:r>
                <a:rPr lang="en-IN" sz="1000" dirty="0"/>
                <a:t> (</a:t>
              </a:r>
              <a:r>
                <a:rPr lang="en-IN" sz="1000" dirty="0" err="1"/>
                <a:t>cust_layer</a:t>
              </a:r>
              <a:r>
                <a:rPr lang="en-IN" sz="1000" dirty="0"/>
                <a:t>  (None, 4)                 0         </a:t>
              </a:r>
            </a:p>
            <a:p>
              <a:r>
                <a:rPr lang="en-IN" sz="1000" dirty="0"/>
                <a:t> _grad)                                                        </a:t>
              </a:r>
            </a:p>
            <a:p>
              <a:r>
                <a:rPr lang="en-IN" sz="1000" dirty="0"/>
                <a:t>                                                                 </a:t>
              </a:r>
            </a:p>
            <a:p>
              <a:r>
                <a:rPr lang="en-IN" sz="1000" dirty="0"/>
                <a:t>=========================================</a:t>
              </a:r>
            </a:p>
            <a:p>
              <a:r>
                <a:rPr lang="en-IN" sz="1000" dirty="0"/>
                <a:t>Total params: 0</a:t>
              </a:r>
            </a:p>
            <a:p>
              <a:r>
                <a:rPr lang="en-IN" sz="1000" dirty="0"/>
                <a:t>Trainable params: 0</a:t>
              </a:r>
            </a:p>
            <a:p>
              <a:r>
                <a:rPr lang="en-IN" sz="1000" dirty="0"/>
                <a:t>Non-trainable params: 0</a:t>
              </a:r>
            </a:p>
            <a:p>
              <a:r>
                <a:rPr lang="en-IN" sz="1000" dirty="0"/>
                <a:t>________________________________________________</a:t>
              </a: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AAA61DEE-E22F-B9D5-AF65-1D9B94FB0644}"/>
                </a:ext>
              </a:extLst>
            </p:cNvPr>
            <p:cNvSpPr/>
            <p:nvPr/>
          </p:nvSpPr>
          <p:spPr>
            <a:xfrm>
              <a:off x="31577" y="3359521"/>
              <a:ext cx="3033019" cy="24644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Output</a:t>
              </a:r>
              <a:endParaRPr lang="en-IN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09225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27" grpId="0" animBg="1"/>
      <p:bldP spid="3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D6107-24DD-6755-35B9-545D5CACD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84183C4-2A1C-C838-1783-14B8DB170437}"/>
              </a:ext>
            </a:extLst>
          </p:cNvPr>
          <p:cNvSpPr txBox="1"/>
          <p:nvPr/>
        </p:nvSpPr>
        <p:spPr>
          <a:xfrm>
            <a:off x="0" y="98322"/>
            <a:ext cx="12192000" cy="52322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Session 1: </a:t>
            </a:r>
            <a:r>
              <a:rPr lang="en-US" sz="2800" b="1" dirty="0" err="1">
                <a:solidFill>
                  <a:schemeClr val="bg1"/>
                </a:solidFill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Tensorflow</a:t>
            </a:r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 Basics</a:t>
            </a:r>
            <a:endParaRPr lang="en-IN" sz="2800" b="1" dirty="0">
              <a:solidFill>
                <a:schemeClr val="bg1"/>
              </a:solidFill>
              <a:latin typeface="Century Schoolbook" panose="02040604050505020304" pitchFamily="18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88EBE7-D20D-C21E-C7B8-11DA59321D9F}"/>
              </a:ext>
            </a:extLst>
          </p:cNvPr>
          <p:cNvSpPr txBox="1"/>
          <p:nvPr/>
        </p:nvSpPr>
        <p:spPr>
          <a:xfrm>
            <a:off x="-1" y="686506"/>
            <a:ext cx="1219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Automatic Gradient: </a:t>
            </a:r>
            <a:r>
              <a:rPr lang="en-IN" sz="2800" b="1" dirty="0" err="1"/>
              <a:t>Keras</a:t>
            </a:r>
            <a:r>
              <a:rPr lang="en-IN" sz="2800" b="1" dirty="0"/>
              <a:t> Model Example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185C98-166A-E716-D07B-A99B5B605AF8}"/>
              </a:ext>
            </a:extLst>
          </p:cNvPr>
          <p:cNvSpPr txBox="1"/>
          <p:nvPr/>
        </p:nvSpPr>
        <p:spPr>
          <a:xfrm>
            <a:off x="563120" y="1274690"/>
            <a:ext cx="708709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2000" i="1" dirty="0">
                <a:solidFill>
                  <a:srgbClr val="C00000"/>
                </a:solidFill>
                <a:latin typeface="Consolas" panose="020B0609020204030204" pitchFamily="49" charset="0"/>
              </a:rPr>
              <a:t># Prediction</a:t>
            </a:r>
          </a:p>
          <a:p>
            <a:pPr lvl="0">
              <a:defRPr/>
            </a:pPr>
            <a:r>
              <a:rPr lang="en-US" sz="2000" dirty="0">
                <a:latin typeface="Consolas" panose="020B0609020204030204" pitchFamily="49" charset="0"/>
              </a:rPr>
              <a:t>a=</a:t>
            </a:r>
            <a:r>
              <a:rPr lang="en-US" sz="2000" dirty="0" err="1">
                <a:latin typeface="Consolas" panose="020B0609020204030204" pitchFamily="49" charset="0"/>
              </a:rPr>
              <a:t>numpy.array</a:t>
            </a:r>
            <a:r>
              <a:rPr lang="en-US" sz="2000" dirty="0">
                <a:latin typeface="Consolas" panose="020B0609020204030204" pitchFamily="49" charset="0"/>
              </a:rPr>
              <a:t>([[1,2],[3,4]],</a:t>
            </a:r>
            <a:r>
              <a:rPr lang="en-US" sz="2000" dirty="0" err="1">
                <a:latin typeface="Consolas" panose="020B0609020204030204" pitchFamily="49" charset="0"/>
              </a:rPr>
              <a:t>dtype</a:t>
            </a:r>
            <a:r>
              <a:rPr lang="en-US" sz="2000" dirty="0">
                <a:latin typeface="Consolas" panose="020B0609020204030204" pitchFamily="49" charset="0"/>
              </a:rPr>
              <a:t>=numpy.float64)</a:t>
            </a:r>
          </a:p>
          <a:p>
            <a:pPr lvl="0">
              <a:defRPr/>
            </a:pPr>
            <a:r>
              <a:rPr lang="en-US" sz="2000" dirty="0" err="1">
                <a:latin typeface="Consolas" panose="020B0609020204030204" pitchFamily="49" charset="0"/>
              </a:rPr>
              <a:t>z_out</a:t>
            </a:r>
            <a:r>
              <a:rPr lang="en-US" sz="2000" dirty="0">
                <a:latin typeface="Consolas" panose="020B0609020204030204" pitchFamily="49" charset="0"/>
              </a:rPr>
              <a:t>=</a:t>
            </a:r>
            <a:r>
              <a:rPr lang="en-US" sz="2000" dirty="0" err="1">
                <a:latin typeface="Consolas" panose="020B0609020204030204" pitchFamily="49" charset="0"/>
              </a:rPr>
              <a:t>model.</a:t>
            </a:r>
            <a:r>
              <a:rPr lang="en-US" sz="2000" dirty="0" err="1">
                <a:solidFill>
                  <a:srgbClr val="CC00CC"/>
                </a:solidFill>
                <a:latin typeface="Consolas" panose="020B0609020204030204" pitchFamily="49" charset="0"/>
              </a:rPr>
              <a:t>predict</a:t>
            </a:r>
            <a:r>
              <a:rPr lang="en-US" sz="2000" dirty="0">
                <a:latin typeface="Consolas" panose="020B0609020204030204" pitchFamily="49" charset="0"/>
              </a:rPr>
              <a:t>(a)</a:t>
            </a:r>
          </a:p>
          <a:p>
            <a:pPr lvl="0">
              <a:defRPr/>
            </a:pPr>
            <a:r>
              <a:rPr lang="en-US" sz="2000" dirty="0">
                <a:latin typeface="Consolas" panose="020B0609020204030204" pitchFamily="49" charset="0"/>
              </a:rPr>
              <a:t>print(</a:t>
            </a:r>
            <a:r>
              <a:rPr lang="en-US" sz="2000" dirty="0" err="1">
                <a:latin typeface="Consolas" panose="020B0609020204030204" pitchFamily="49" charset="0"/>
              </a:rPr>
              <a:t>z_out</a:t>
            </a:r>
            <a:r>
              <a:rPr lang="en-US" sz="2000" dirty="0">
                <a:latin typeface="Consolas" panose="020B0609020204030204" pitchFamily="49" charset="0"/>
              </a:rPr>
              <a:t>)</a:t>
            </a:r>
          </a:p>
          <a:p>
            <a:pPr lvl="0">
              <a:defRPr/>
            </a:pPr>
            <a:r>
              <a:rPr lang="en-US" sz="2000" dirty="0">
                <a:latin typeface="Consolas" panose="020B0609020204030204" pitchFamily="49" charset="0"/>
              </a:rPr>
              <a:t>print(</a:t>
            </a:r>
            <a:r>
              <a:rPr lang="en-US" sz="2000" dirty="0" err="1">
                <a:latin typeface="Consolas" panose="020B0609020204030204" pitchFamily="49" charset="0"/>
              </a:rPr>
              <a:t>sess.</a:t>
            </a:r>
            <a:r>
              <a:rPr lang="en-US" sz="2000" dirty="0" err="1">
                <a:solidFill>
                  <a:srgbClr val="00B0F0"/>
                </a:solidFill>
                <a:latin typeface="Consolas" panose="020B0609020204030204" pitchFamily="49" charset="0"/>
              </a:rPr>
              <a:t>run</a:t>
            </a:r>
            <a:r>
              <a:rPr lang="en-US" sz="2000" dirty="0">
                <a:latin typeface="Consolas" panose="020B0609020204030204" pitchFamily="49" charset="0"/>
              </a:rPr>
              <a:t>(model1.weights))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EBC91A-BC6D-BA78-92A8-A6BF4077679D}"/>
              </a:ext>
            </a:extLst>
          </p:cNvPr>
          <p:cNvSpPr txBox="1"/>
          <p:nvPr/>
        </p:nvSpPr>
        <p:spPr>
          <a:xfrm>
            <a:off x="569985" y="4168171"/>
            <a:ext cx="5532880" cy="646331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r>
              <a:rPr lang="en-IN" dirty="0"/>
              <a:t>[[ 1.66207651 -0.97649089 </a:t>
            </a:r>
            <a:r>
              <a:rPr lang="en-IN" b="1" dirty="0">
                <a:solidFill>
                  <a:srgbClr val="FF0000"/>
                </a:solidFill>
              </a:rPr>
              <a:t>-0.64192205 </a:t>
            </a:r>
            <a:r>
              <a:rPr lang="en-IN" b="1" dirty="0">
                <a:solidFill>
                  <a:srgbClr val="0000FF"/>
                </a:solidFill>
              </a:rPr>
              <a:t>-0.53772128</a:t>
            </a:r>
            <a:r>
              <a:rPr lang="en-IN" dirty="0"/>
              <a:t>]</a:t>
            </a:r>
          </a:p>
          <a:p>
            <a:r>
              <a:rPr lang="en-IN" dirty="0"/>
              <a:t> [ 2.68223098 -1.8540301    </a:t>
            </a:r>
            <a:r>
              <a:rPr lang="en-IN" b="1" dirty="0">
                <a:solidFill>
                  <a:srgbClr val="FF0000"/>
                </a:solidFill>
              </a:rPr>
              <a:t>-0.64192205</a:t>
            </a:r>
            <a:r>
              <a:rPr lang="en-IN" dirty="0"/>
              <a:t> </a:t>
            </a:r>
            <a:r>
              <a:rPr lang="en-IN" b="1" dirty="0">
                <a:solidFill>
                  <a:srgbClr val="0000FF"/>
                </a:solidFill>
              </a:rPr>
              <a:t>-0.53772128</a:t>
            </a:r>
            <a:r>
              <a:rPr lang="en-IN" dirty="0"/>
              <a:t>]]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6917B7B-541F-3917-C58B-062BAFC1FDC7}"/>
              </a:ext>
            </a:extLst>
          </p:cNvPr>
          <p:cNvGrpSpPr/>
          <p:nvPr/>
        </p:nvGrpSpPr>
        <p:grpSpPr>
          <a:xfrm>
            <a:off x="569985" y="3808776"/>
            <a:ext cx="5532880" cy="1774534"/>
            <a:chOff x="569985" y="3808776"/>
            <a:chExt cx="5532880" cy="177453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DD44360-0E8F-8B65-5733-EF758E9A9D3A}"/>
                </a:ext>
              </a:extLst>
            </p:cNvPr>
            <p:cNvSpPr/>
            <p:nvPr/>
          </p:nvSpPr>
          <p:spPr>
            <a:xfrm>
              <a:off x="569985" y="3808776"/>
              <a:ext cx="5532880" cy="27131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Output</a:t>
              </a:r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B36BCC0-29C3-BE5E-CBC0-BAEF1B8494D0}"/>
                </a:ext>
              </a:extLst>
            </p:cNvPr>
            <p:cNvSpPr/>
            <p:nvPr/>
          </p:nvSpPr>
          <p:spPr>
            <a:xfrm>
              <a:off x="569985" y="4105982"/>
              <a:ext cx="5532880" cy="1477328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26F7213-089A-093F-73C5-0B8A662861BE}"/>
              </a:ext>
            </a:extLst>
          </p:cNvPr>
          <p:cNvSpPr txBox="1"/>
          <p:nvPr/>
        </p:nvSpPr>
        <p:spPr>
          <a:xfrm>
            <a:off x="569985" y="4868995"/>
            <a:ext cx="5532880" cy="646331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r>
              <a:rPr lang="en-IN" dirty="0"/>
              <a:t>[array([[</a:t>
            </a:r>
            <a:r>
              <a:rPr lang="en-IN" dirty="0">
                <a:solidFill>
                  <a:schemeClr val="bg1"/>
                </a:solidFill>
                <a:highlight>
                  <a:srgbClr val="FF0000"/>
                </a:highlight>
              </a:rPr>
              <a:t>-0.64192205</a:t>
            </a:r>
            <a:r>
              <a:rPr lang="en-IN" dirty="0"/>
              <a:t>,  0.09895167],</a:t>
            </a:r>
          </a:p>
          <a:p>
            <a:r>
              <a:rPr lang="en-IN" dirty="0"/>
              <a:t>       [ 1.15199928, </a:t>
            </a:r>
            <a:r>
              <a:rPr lang="en-IN" dirty="0">
                <a:solidFill>
                  <a:schemeClr val="bg1"/>
                </a:solidFill>
                <a:highlight>
                  <a:srgbClr val="0000FF"/>
                </a:highlight>
              </a:rPr>
              <a:t>-0.53772128</a:t>
            </a:r>
            <a:r>
              <a:rPr lang="en-IN" dirty="0"/>
              <a:t>]]), array([0., 0.])]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B54E7E6-2EAE-841A-7846-AF31CE38D373}"/>
              </a:ext>
            </a:extLst>
          </p:cNvPr>
          <p:cNvGrpSpPr/>
          <p:nvPr/>
        </p:nvGrpSpPr>
        <p:grpSpPr>
          <a:xfrm>
            <a:off x="7633235" y="1180686"/>
            <a:ext cx="4435488" cy="733263"/>
            <a:chOff x="7203440" y="1284612"/>
            <a:chExt cx="4435488" cy="733263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879F08AD-9C29-A3F2-8D8D-860BB7CC1651}"/>
                </a:ext>
              </a:extLst>
            </p:cNvPr>
            <p:cNvSpPr/>
            <p:nvPr/>
          </p:nvSpPr>
          <p:spPr>
            <a:xfrm>
              <a:off x="7203440" y="1284612"/>
              <a:ext cx="4435488" cy="677558"/>
            </a:xfrm>
            <a:prstGeom prst="rect">
              <a:avLst/>
            </a:prstGeom>
            <a:solidFill>
              <a:schemeClr val="bg1">
                <a:alpha val="64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1701A538-DDA7-E501-E9A8-78D178943417}"/>
                </a:ext>
              </a:extLst>
            </p:cNvPr>
            <p:cNvGrpSpPr/>
            <p:nvPr/>
          </p:nvGrpSpPr>
          <p:grpSpPr>
            <a:xfrm>
              <a:off x="7434924" y="1284612"/>
              <a:ext cx="3910682" cy="733263"/>
              <a:chOff x="7434924" y="1284612"/>
              <a:chExt cx="3910682" cy="73326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0D8CA1A8-95D2-C362-4901-1DEEBB0AC1CC}"/>
                      </a:ext>
                    </a:extLst>
                  </p:cNvPr>
                  <p:cNvSpPr txBox="1"/>
                  <p:nvPr/>
                </p:nvSpPr>
                <p:spPr>
                  <a:xfrm>
                    <a:off x="9979126" y="1284612"/>
                    <a:ext cx="683240" cy="677558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IN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𝝏</m:t>
                              </m:r>
                              <m:sSub>
                                <m:sSubPr>
                                  <m:ctrlPr>
                                    <a:rPr lang="en-IN" sz="20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</m:e>
                                <m:sub>
                                  <m:r>
                                    <a:rPr lang="en-US" sz="20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IN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𝝏</m:t>
                              </m:r>
                              <m:r>
                                <a:rPr lang="en-US" sz="2000" b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den>
                          </m:f>
                        </m:oMath>
                      </m:oMathPara>
                    </a14:m>
                    <a:endParaRPr lang="en-IN" sz="2000" b="1" dirty="0">
                      <a:solidFill>
                        <a:schemeClr val="bg1">
                          <a:lumMod val="75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0D8CA1A8-95D2-C362-4901-1DEEBB0AC1C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979126" y="1284612"/>
                    <a:ext cx="683240" cy="677558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4168AA57-CB74-0AE6-F224-5DC4F0B429F8}"/>
                      </a:ext>
                    </a:extLst>
                  </p:cNvPr>
                  <p:cNvSpPr txBox="1"/>
                  <p:nvPr/>
                </p:nvSpPr>
                <p:spPr>
                  <a:xfrm>
                    <a:off x="10662366" y="1287610"/>
                    <a:ext cx="683240" cy="7302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IN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𝝏</m:t>
                              </m:r>
                              <m:sSub>
                                <m:sSubPr>
                                  <m:ctrlPr>
                                    <a:rPr lang="en-IN" sz="2000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</m:e>
                                <m:sub>
                                  <m:r>
                                    <a:rPr lang="en-US" sz="2000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IN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𝝏</m:t>
                              </m:r>
                              <m:r>
                                <a:rPr lang="en-US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den>
                          </m:f>
                        </m:oMath>
                      </m:oMathPara>
                    </a14:m>
                    <a:endParaRPr lang="en-IN" sz="2000" dirty="0">
                      <a:solidFill>
                        <a:schemeClr val="bg1">
                          <a:lumMod val="75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4168AA57-CB74-0AE6-F224-5DC4F0B429F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62366" y="1287610"/>
                    <a:ext cx="683240" cy="730265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49AD127-E0B1-A33C-C932-CD2870B48195}"/>
                  </a:ext>
                </a:extLst>
              </p:cNvPr>
              <p:cNvSpPr txBox="1"/>
              <p:nvPr/>
            </p:nvSpPr>
            <p:spPr>
              <a:xfrm>
                <a:off x="7434924" y="1442640"/>
                <a:ext cx="268911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0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Objective: To compute</a:t>
                </a:r>
                <a:endParaRPr lang="en-IN" sz="2000" b="1" dirty="0"/>
              </a:p>
            </p:txBody>
          </p:sp>
        </p:grp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6F5BF8E-1CFD-0A07-9ECE-DC90F2B3D526}"/>
              </a:ext>
            </a:extLst>
          </p:cNvPr>
          <p:cNvGrpSpPr/>
          <p:nvPr/>
        </p:nvGrpSpPr>
        <p:grpSpPr>
          <a:xfrm>
            <a:off x="1366031" y="5515326"/>
            <a:ext cx="4269517" cy="1041584"/>
            <a:chOff x="1366031" y="5515326"/>
            <a:chExt cx="4269517" cy="104158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6E807FA7-C2CB-3014-3720-9E9E2BDCD7DC}"/>
                    </a:ext>
                  </a:extLst>
                </p:cNvPr>
                <p:cNvSpPr txBox="1"/>
                <p:nvPr/>
              </p:nvSpPr>
              <p:spPr>
                <a:xfrm>
                  <a:off x="1366031" y="5949756"/>
                  <a:ext cx="1750143" cy="6071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IN" sz="2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IN" sz="2000" b="1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1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𝒘</m:t>
                                      </m:r>
                                    </m:e>
                                    <m:sub>
                                      <m:r>
                                        <a:rPr lang="en-US" sz="2000" b="1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𝟏𝟏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IN" sz="2000" b="1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1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𝒘</m:t>
                                      </m:r>
                                    </m:e>
                                    <m:sub>
                                      <m:r>
                                        <a:rPr lang="en-US" sz="2000" b="1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  <m:r>
                                        <a:rPr lang="en-US" sz="2000" b="1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IN" sz="2000" b="1" i="1">
                                          <a:solidFill>
                                            <a:srgbClr val="C14E1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1" i="1">
                                          <a:solidFill>
                                            <a:srgbClr val="C14E1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𝒘</m:t>
                                      </m:r>
                                    </m:e>
                                    <m:sub>
                                      <m:r>
                                        <a:rPr lang="en-US" sz="2000" b="1" i="1">
                                          <a:solidFill>
                                            <a:srgbClr val="C14E1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𝟐𝟏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IN" sz="2000" b="1" i="1">
                                          <a:solidFill>
                                            <a:srgbClr val="C14E1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1" i="1">
                                          <a:solidFill>
                                            <a:srgbClr val="C14E1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𝒘</m:t>
                                      </m:r>
                                    </m:e>
                                    <m:sub>
                                      <m:r>
                                        <a:rPr lang="en-US" sz="2000" b="1" i="1">
                                          <a:solidFill>
                                            <a:srgbClr val="C14E1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  <m:r>
                                        <a:rPr lang="en-US" sz="2000" b="1" i="1" smtClean="0">
                                          <a:solidFill>
                                            <a:srgbClr val="C14E1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IN" sz="2000" b="1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6E807FA7-C2CB-3014-3720-9E9E2BDCD7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6031" y="5949756"/>
                  <a:ext cx="1750143" cy="60715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E7A40E3C-8E27-D5EB-6F97-74F7E8103E1A}"/>
                    </a:ext>
                  </a:extLst>
                </p:cNvPr>
                <p:cNvSpPr txBox="1"/>
                <p:nvPr/>
              </p:nvSpPr>
              <p:spPr>
                <a:xfrm>
                  <a:off x="3885405" y="6039031"/>
                  <a:ext cx="1750143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IN" sz="2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2000" b="1" i="1" smtClean="0">
                                    <a:solidFill>
                                      <a:srgbClr val="CC00CC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 smtClean="0">
                                    <a:solidFill>
                                      <a:srgbClr val="CC00CC"/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  <m:sub>
                                <m:r>
                                  <a:rPr lang="en-US" sz="2000" b="1" i="1">
                                    <a:solidFill>
                                      <a:srgbClr val="CC00CC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IN" sz="2000" b="1" i="1">
                                    <a:solidFill>
                                      <a:srgbClr val="CC00CC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 smtClean="0">
                                    <a:solidFill>
                                      <a:srgbClr val="CC00CC"/>
                                    </a:solidFill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sz="2000" b="1" i="1" smtClean="0">
                                    <a:solidFill>
                                      <a:srgbClr val="CC00CC"/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  <m:sub>
                                <m:r>
                                  <a:rPr lang="en-US" sz="2000" b="1" i="1" smtClean="0">
                                    <a:solidFill>
                                      <a:srgbClr val="CC00CC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IN" sz="2000" b="1" dirty="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E7A40E3C-8E27-D5EB-6F97-74F7E8103E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85405" y="6039031"/>
                  <a:ext cx="1750143" cy="400110"/>
                </a:xfrm>
                <a:prstGeom prst="rect">
                  <a:avLst/>
                </a:prstGeom>
                <a:blipFill>
                  <a:blip r:embed="rId5"/>
                  <a:stretch>
                    <a:fillRect b="-1538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5430FFD4-1A81-F20B-0DC5-6D2A545DF1AB}"/>
                </a:ext>
              </a:extLst>
            </p:cNvPr>
            <p:cNvCxnSpPr>
              <a:cxnSpLocks/>
            </p:cNvCxnSpPr>
            <p:nvPr/>
          </p:nvCxnSpPr>
          <p:spPr>
            <a:xfrm>
              <a:off x="2150347" y="5515326"/>
              <a:ext cx="0" cy="43443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ACFBFFBA-F924-E316-46CA-8CA3D4556393}"/>
                </a:ext>
              </a:extLst>
            </p:cNvPr>
            <p:cNvCxnSpPr>
              <a:cxnSpLocks/>
            </p:cNvCxnSpPr>
            <p:nvPr/>
          </p:nvCxnSpPr>
          <p:spPr>
            <a:xfrm>
              <a:off x="4724399" y="5515326"/>
              <a:ext cx="0" cy="43443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42AB5DCC-7DBD-909D-BE7A-A6D93FCDEA91}"/>
              </a:ext>
            </a:extLst>
          </p:cNvPr>
          <p:cNvGrpSpPr/>
          <p:nvPr/>
        </p:nvGrpSpPr>
        <p:grpSpPr>
          <a:xfrm>
            <a:off x="7318035" y="3658635"/>
            <a:ext cx="5108464" cy="3033925"/>
            <a:chOff x="7318035" y="3658635"/>
            <a:chExt cx="5108464" cy="3033925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F921B36A-0082-D1EB-3A1C-0CCFB8767C49}"/>
                </a:ext>
              </a:extLst>
            </p:cNvPr>
            <p:cNvGrpSpPr/>
            <p:nvPr/>
          </p:nvGrpSpPr>
          <p:grpSpPr>
            <a:xfrm>
              <a:off x="7318035" y="3658635"/>
              <a:ext cx="5108464" cy="3033925"/>
              <a:chOff x="7762793" y="1627012"/>
              <a:chExt cx="5108464" cy="3033925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2B46D112-9323-E098-0E6F-3B569EEB25A0}"/>
                  </a:ext>
                </a:extLst>
              </p:cNvPr>
              <p:cNvSpPr/>
              <p:nvPr/>
            </p:nvSpPr>
            <p:spPr>
              <a:xfrm>
                <a:off x="9190304" y="3257132"/>
                <a:ext cx="298186" cy="28373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  <a:endParaRPr lang="en-IN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716542EA-8B21-E4B2-8027-A7684AE44C6D}"/>
                      </a:ext>
                    </a:extLst>
                  </p:cNvPr>
                  <p:cNvSpPr txBox="1"/>
                  <p:nvPr/>
                </p:nvSpPr>
                <p:spPr>
                  <a:xfrm>
                    <a:off x="8782965" y="3205185"/>
                    <a:ext cx="536448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b="1" i="1" smtClean="0">
                              <a:solidFill>
                                <a:schemeClr val="tx1"/>
                              </a:solidFill>
                              <a:latin typeface="Cambria Math" pitchFamily="18" charset="0"/>
                              <a:ea typeface="Cambria Math" pitchFamily="18" charset="0"/>
                            </a:rPr>
                            <m:t>𝒙</m:t>
                          </m:r>
                        </m:oMath>
                      </m:oMathPara>
                    </a14:m>
                    <a:endParaRPr lang="en-IN" b="1" dirty="0"/>
                  </a:p>
                </p:txBody>
              </p:sp>
            </mc:Choice>
            <mc:Fallback xmlns="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716542EA-8B21-E4B2-8027-A7684AE44C6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82965" y="3205185"/>
                    <a:ext cx="536448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C820650-BCD4-4CB7-81B1-27C73F59A4F1}"/>
                  </a:ext>
                </a:extLst>
              </p:cNvPr>
              <p:cNvSpPr txBox="1"/>
              <p:nvPr/>
            </p:nvSpPr>
            <p:spPr>
              <a:xfrm>
                <a:off x="7794050" y="4120945"/>
                <a:ext cx="141427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800" i="1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(None,1)</a:t>
                </a: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51CEA438-C971-A480-5D74-84901C052330}"/>
                  </a:ext>
                </a:extLst>
              </p:cNvPr>
              <p:cNvSpPr/>
              <p:nvPr/>
            </p:nvSpPr>
            <p:spPr>
              <a:xfrm>
                <a:off x="9193271" y="4181651"/>
                <a:ext cx="298186" cy="283730"/>
              </a:xfrm>
              <a:prstGeom prst="ellipse">
                <a:avLst/>
              </a:prstGeom>
              <a:solidFill>
                <a:srgbClr val="C14E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  <a:endParaRPr lang="en-IN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6519D37A-CF46-A25E-5D60-7C6413D1CC39}"/>
                      </a:ext>
                    </a:extLst>
                  </p:cNvPr>
                  <p:cNvSpPr txBox="1"/>
                  <p:nvPr/>
                </p:nvSpPr>
                <p:spPr>
                  <a:xfrm>
                    <a:off x="8799812" y="4106939"/>
                    <a:ext cx="536448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b="1" i="1" smtClean="0">
                              <a:solidFill>
                                <a:schemeClr val="tx1"/>
                              </a:solidFill>
                              <a:latin typeface="Cambria Math" pitchFamily="18" charset="0"/>
                              <a:ea typeface="Cambria Math" pitchFamily="18" charset="0"/>
                            </a:rPr>
                            <m:t>𝒚</m:t>
                          </m:r>
                        </m:oMath>
                      </m:oMathPara>
                    </a14:m>
                    <a:endParaRPr lang="en-IN" b="1" dirty="0"/>
                  </a:p>
                </p:txBody>
              </p:sp>
            </mc:Choice>
            <mc:Fallback xmlns="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6519D37A-CF46-A25E-5D60-7C6413D1CC3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99812" y="4106939"/>
                    <a:ext cx="536448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4918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B3D6940A-8956-1414-B1A6-7CF7608365B7}"/>
                  </a:ext>
                </a:extLst>
              </p:cNvPr>
              <p:cNvSpPr/>
              <p:nvPr/>
            </p:nvSpPr>
            <p:spPr>
              <a:xfrm>
                <a:off x="11298935" y="3247986"/>
                <a:ext cx="298186" cy="283730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  <a:endParaRPr lang="en-IN" dirty="0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0769BAD8-972D-0886-097D-DD55B82374EF}"/>
                  </a:ext>
                </a:extLst>
              </p:cNvPr>
              <p:cNvSpPr/>
              <p:nvPr/>
            </p:nvSpPr>
            <p:spPr>
              <a:xfrm>
                <a:off x="11298744" y="4181651"/>
                <a:ext cx="298186" cy="283730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  <a:endParaRPr lang="en-IN" dirty="0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655B5CFF-B21C-321F-AE43-893D808FC868}"/>
                  </a:ext>
                </a:extLst>
              </p:cNvPr>
              <p:cNvSpPr/>
              <p:nvPr/>
            </p:nvSpPr>
            <p:spPr>
              <a:xfrm>
                <a:off x="9187167" y="2311715"/>
                <a:ext cx="298186" cy="283730"/>
              </a:xfrm>
              <a:prstGeom prst="ellipse">
                <a:avLst/>
              </a:prstGeom>
              <a:solidFill>
                <a:srgbClr val="CC00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E5D693C-AA43-5C88-F815-5B3CD62E45F8}"/>
                  </a:ext>
                </a:extLst>
              </p:cNvPr>
              <p:cNvSpPr txBox="1"/>
              <p:nvPr/>
            </p:nvSpPr>
            <p:spPr>
              <a:xfrm>
                <a:off x="8483683" y="2226113"/>
                <a:ext cx="7698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latin typeface="Consolas" panose="020B0609020204030204" pitchFamily="49" charset="0"/>
                  </a:rPr>
                  <a:t>B</a:t>
                </a:r>
                <a:r>
                  <a:rPr lang="en-IN" b="1" dirty="0" err="1">
                    <a:latin typeface="Consolas" panose="020B0609020204030204" pitchFamily="49" charset="0"/>
                  </a:rPr>
                  <a:t>ias</a:t>
                </a:r>
                <a:endParaRPr lang="en-IN" b="1" dirty="0"/>
              </a:p>
            </p:txBody>
          </p: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7FD1CE22-AAA9-7E4F-003A-F0229ABE4B40}"/>
                  </a:ext>
                </a:extLst>
              </p:cNvPr>
              <p:cNvCxnSpPr>
                <a:cxnSpLocks/>
                <a:stCxn id="18" idx="6"/>
                <a:endCxn id="20" idx="2"/>
              </p:cNvCxnSpPr>
              <p:nvPr/>
            </p:nvCxnSpPr>
            <p:spPr>
              <a:xfrm flipV="1">
                <a:off x="9491457" y="3389851"/>
                <a:ext cx="1807478" cy="933665"/>
              </a:xfrm>
              <a:prstGeom prst="straightConnector1">
                <a:avLst/>
              </a:prstGeom>
              <a:ln>
                <a:solidFill>
                  <a:srgbClr val="C14E15"/>
                </a:solidFill>
                <a:headEnd w="lg" len="lg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EE8F8658-5DC3-EF32-7DE7-123626CD01B7}"/>
                  </a:ext>
                </a:extLst>
              </p:cNvPr>
              <p:cNvCxnSpPr>
                <a:cxnSpLocks/>
                <a:stCxn id="18" idx="6"/>
                <a:endCxn id="21" idx="2"/>
              </p:cNvCxnSpPr>
              <p:nvPr/>
            </p:nvCxnSpPr>
            <p:spPr>
              <a:xfrm>
                <a:off x="9491457" y="4323516"/>
                <a:ext cx="1807287" cy="0"/>
              </a:xfrm>
              <a:prstGeom prst="straightConnector1">
                <a:avLst/>
              </a:prstGeom>
              <a:ln>
                <a:solidFill>
                  <a:srgbClr val="C14E15"/>
                </a:solidFill>
                <a:headEnd w="lg" len="lg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2F5643C8-A981-B979-CD37-DEE9EC48C628}"/>
                  </a:ext>
                </a:extLst>
              </p:cNvPr>
              <p:cNvCxnSpPr>
                <a:cxnSpLocks/>
                <a:stCxn id="22" idx="5"/>
                <a:endCxn id="20" idx="2"/>
              </p:cNvCxnSpPr>
              <p:nvPr/>
            </p:nvCxnSpPr>
            <p:spPr>
              <a:xfrm>
                <a:off x="9441685" y="2553894"/>
                <a:ext cx="1857250" cy="835957"/>
              </a:xfrm>
              <a:prstGeom prst="straightConnector1">
                <a:avLst/>
              </a:prstGeom>
              <a:ln>
                <a:solidFill>
                  <a:srgbClr val="CC00CC"/>
                </a:solidFill>
                <a:headEnd w="lg" len="lg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90F4DD25-CE30-A1EB-E44E-6324CC50E6CC}"/>
                  </a:ext>
                </a:extLst>
              </p:cNvPr>
              <p:cNvCxnSpPr>
                <a:cxnSpLocks/>
                <a:stCxn id="22" idx="5"/>
                <a:endCxn id="21" idx="2"/>
              </p:cNvCxnSpPr>
              <p:nvPr/>
            </p:nvCxnSpPr>
            <p:spPr>
              <a:xfrm>
                <a:off x="9441685" y="2553894"/>
                <a:ext cx="1857059" cy="1769622"/>
              </a:xfrm>
              <a:prstGeom prst="straightConnector1">
                <a:avLst/>
              </a:prstGeom>
              <a:ln>
                <a:solidFill>
                  <a:srgbClr val="CC00CC"/>
                </a:solidFill>
                <a:headEnd w="lg" len="lg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764E8589-94B4-566A-3BA4-1DDA04517A0C}"/>
                  </a:ext>
                </a:extLst>
              </p:cNvPr>
              <p:cNvCxnSpPr>
                <a:cxnSpLocks/>
                <a:stCxn id="15" idx="6"/>
                <a:endCxn id="20" idx="2"/>
              </p:cNvCxnSpPr>
              <p:nvPr/>
            </p:nvCxnSpPr>
            <p:spPr>
              <a:xfrm flipV="1">
                <a:off x="9488490" y="3389851"/>
                <a:ext cx="1810445" cy="9146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headEnd w="lg" len="lg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1C0000FF-13EF-DE8D-FCBA-319C8C2909A0}"/>
                  </a:ext>
                </a:extLst>
              </p:cNvPr>
              <p:cNvCxnSpPr>
                <a:cxnSpLocks/>
                <a:stCxn id="15" idx="6"/>
                <a:endCxn id="21" idx="2"/>
              </p:cNvCxnSpPr>
              <p:nvPr/>
            </p:nvCxnSpPr>
            <p:spPr>
              <a:xfrm>
                <a:off x="9488490" y="3398997"/>
                <a:ext cx="1810254" cy="924519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headEnd w="lg" len="lg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193C2381-2DB8-FFB2-87D3-14456E861F79}"/>
                      </a:ext>
                    </a:extLst>
                  </p:cNvPr>
                  <p:cNvSpPr txBox="1"/>
                  <p:nvPr/>
                </p:nvSpPr>
                <p:spPr>
                  <a:xfrm>
                    <a:off x="10000924" y="2499828"/>
                    <a:ext cx="536448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b="1" i="1" smtClean="0">
                                  <a:solidFill>
                                    <a:srgbClr val="CC00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CC00CC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CC00CC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IN" b="1" dirty="0">
                      <a:solidFill>
                        <a:srgbClr val="CC00CC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193C2381-2DB8-FFB2-87D3-14456E861F7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00924" y="2499828"/>
                    <a:ext cx="536448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5D7D2431-6A15-31D6-6F20-97A6CC28D283}"/>
                      </a:ext>
                    </a:extLst>
                  </p:cNvPr>
                  <p:cNvSpPr txBox="1"/>
                  <p:nvPr/>
                </p:nvSpPr>
                <p:spPr>
                  <a:xfrm>
                    <a:off x="10000924" y="2912486"/>
                    <a:ext cx="536448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b="1" i="1" smtClean="0">
                                  <a:solidFill>
                                    <a:srgbClr val="CC00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CC00CC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CC00CC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IN" b="1" dirty="0">
                      <a:solidFill>
                        <a:srgbClr val="CC00CC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5D7D2431-6A15-31D6-6F20-97A6CC28D28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00924" y="2912486"/>
                    <a:ext cx="536448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C5EA9969-F96D-CFE1-FA14-ACD0AFA71049}"/>
                      </a:ext>
                    </a:extLst>
                  </p:cNvPr>
                  <p:cNvSpPr txBox="1"/>
                  <p:nvPr/>
                </p:nvSpPr>
                <p:spPr>
                  <a:xfrm>
                    <a:off x="9571746" y="3069373"/>
                    <a:ext cx="536448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𝟏𝟏</m:t>
                              </m:r>
                            </m:sub>
                          </m:sSub>
                        </m:oMath>
                      </m:oMathPara>
                    </a14:m>
                    <a:endParaRPr lang="en-IN" b="1" dirty="0">
                      <a:solidFill>
                        <a:srgbClr val="00B05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C5EA9969-F96D-CFE1-FA14-ACD0AFA7104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71746" y="3069373"/>
                    <a:ext cx="536448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DEE1D2B5-BFC0-2FED-2154-2C5D2B19E3B1}"/>
                      </a:ext>
                    </a:extLst>
                  </p:cNvPr>
                  <p:cNvSpPr txBox="1"/>
                  <p:nvPr/>
                </p:nvSpPr>
                <p:spPr>
                  <a:xfrm>
                    <a:off x="9571746" y="3605658"/>
                    <a:ext cx="536448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𝟏𝟐</m:t>
                              </m:r>
                            </m:sub>
                          </m:sSub>
                        </m:oMath>
                      </m:oMathPara>
                    </a14:m>
                    <a:endParaRPr lang="en-IN" b="1" dirty="0">
                      <a:solidFill>
                        <a:srgbClr val="00B05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DEE1D2B5-BFC0-2FED-2154-2C5D2B19E3B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71746" y="3605658"/>
                    <a:ext cx="536448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394340A8-B658-35D7-8B7F-76D2FDF76D2A}"/>
                      </a:ext>
                    </a:extLst>
                  </p:cNvPr>
                  <p:cNvSpPr txBox="1"/>
                  <p:nvPr/>
                </p:nvSpPr>
                <p:spPr>
                  <a:xfrm>
                    <a:off x="10108194" y="3845626"/>
                    <a:ext cx="536448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b="1" i="1" smtClean="0">
                                  <a:solidFill>
                                    <a:srgbClr val="C14E1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C14E15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C14E15"/>
                                  </a:solidFill>
                                  <a:latin typeface="Cambria Math" panose="02040503050406030204" pitchFamily="18" charset="0"/>
                                </a:rPr>
                                <m:t>𝟐𝟏</m:t>
                              </m:r>
                            </m:sub>
                          </m:sSub>
                        </m:oMath>
                      </m:oMathPara>
                    </a14:m>
                    <a:endParaRPr lang="en-IN" b="1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394340A8-B658-35D7-8B7F-76D2FDF76D2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08194" y="3845626"/>
                    <a:ext cx="536448" cy="36933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24AA4BC6-AD8C-C11D-6473-EB4B0F23CB52}"/>
                      </a:ext>
                    </a:extLst>
                  </p:cNvPr>
                  <p:cNvSpPr txBox="1"/>
                  <p:nvPr/>
                </p:nvSpPr>
                <p:spPr>
                  <a:xfrm>
                    <a:off x="10110674" y="4291605"/>
                    <a:ext cx="536448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b="1" i="1" smtClean="0">
                                  <a:solidFill>
                                    <a:srgbClr val="C14E1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C14E15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C14E15"/>
                                  </a:solidFill>
                                  <a:latin typeface="Cambria Math" panose="02040503050406030204" pitchFamily="18" charset="0"/>
                                </a:rPr>
                                <m:t>𝟐𝟐</m:t>
                              </m:r>
                            </m:sub>
                          </m:sSub>
                        </m:oMath>
                      </m:oMathPara>
                    </a14:m>
                    <a:endParaRPr lang="en-IN" b="1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24AA4BC6-AD8C-C11D-6473-EB4B0F23CB5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10674" y="4291605"/>
                    <a:ext cx="536448" cy="36933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D126C3B-D936-5CA6-5EA2-11E3EACB7639}"/>
                  </a:ext>
                </a:extLst>
              </p:cNvPr>
              <p:cNvSpPr txBox="1"/>
              <p:nvPr/>
            </p:nvSpPr>
            <p:spPr>
              <a:xfrm>
                <a:off x="7762793" y="3218852"/>
                <a:ext cx="132852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800" i="1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(None,1)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Rectangle 36">
                    <a:extLst>
                      <a:ext uri="{FF2B5EF4-FFF2-40B4-BE49-F238E27FC236}">
                        <a16:creationId xmlns:a16="http://schemas.microsoft.com/office/drawing/2014/main" id="{89AF9794-BC7D-3F3B-BC3D-C718CB63E637}"/>
                      </a:ext>
                    </a:extLst>
                  </p:cNvPr>
                  <p:cNvSpPr/>
                  <p:nvPr/>
                </p:nvSpPr>
                <p:spPr>
                  <a:xfrm>
                    <a:off x="9336260" y="1627012"/>
                    <a:ext cx="3534997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GB" b="1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n-IN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b="1" i="1">
                                      <a:solidFill>
                                        <a:srgbClr val="CC00C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rgbClr val="CC00CC"/>
                                      </a:solidFill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rgbClr val="CC00CC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IN" b="1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𝟏𝟏</m:t>
                                  </m:r>
                                </m:sub>
                              </m:sSub>
                              <m:r>
                                <a:rPr lang="en-GB" b="1" i="1">
                                  <a:solidFill>
                                    <a:schemeClr val="tx1"/>
                                  </a:solidFill>
                                  <a:latin typeface="Cambria Math" pitchFamily="18" charset="0"/>
                                  <a:ea typeface="Cambria Math" pitchFamily="18" charset="0"/>
                                </a:rPr>
                                <m:t>𝒙</m:t>
                              </m:r>
                              <m:r>
                                <a:rPr lang="en-GB" b="1" i="1">
                                  <a:solidFill>
                                    <a:schemeClr val="tx1"/>
                                  </a:solidFill>
                                  <a:latin typeface="Cambria Math" pitchFamily="18" charset="0"/>
                                  <a:ea typeface="Cambria Math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IN" b="1" i="1" smtClean="0">
                                      <a:solidFill>
                                        <a:srgbClr val="C14E1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rgbClr val="C14E15"/>
                                      </a:solidFill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solidFill>
                                        <a:srgbClr val="C14E15"/>
                                      </a:solidFill>
                                      <a:latin typeface="Cambria Math" panose="02040503050406030204" pitchFamily="18" charset="0"/>
                                    </a:rPr>
                                    <m:t>𝟐𝟏</m:t>
                                  </m:r>
                                </m:sub>
                              </m:sSub>
                              <m:r>
                                <a:rPr lang="en-GB" b="1" i="1">
                                  <a:solidFill>
                                    <a:schemeClr val="tx1"/>
                                  </a:solidFill>
                                  <a:latin typeface="Cambria Math" pitchFamily="18" charset="0"/>
                                  <a:ea typeface="Cambria Math" pitchFamily="18" charset="0"/>
                                </a:rPr>
                                <m:t>𝒚</m:t>
                              </m:r>
                              <m:r>
                                <m:rPr>
                                  <m:nor/>
                                </m:rPr>
                                <a:rPr lang="en-IN" b="1" dirty="0">
                                  <a:solidFill>
                                    <a:schemeClr val="tx1"/>
                                  </a:solidFill>
                                  <a:latin typeface="Cambria Math" pitchFamily="18" charset="0"/>
                                  <a:ea typeface="Cambria Math" pitchFamily="18" charset="0"/>
                                </a:rPr>
                                <m:t> </m:t>
                              </m:r>
                            </m:e>
                          </m:d>
                        </m:oMath>
                      </m:oMathPara>
                    </a14:m>
                    <a:endParaRPr lang="en-IN" b="1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7" name="Rectangle 36">
                    <a:extLst>
                      <a:ext uri="{FF2B5EF4-FFF2-40B4-BE49-F238E27FC236}">
                        <a16:creationId xmlns:a16="http://schemas.microsoft.com/office/drawing/2014/main" id="{89AF9794-BC7D-3F3B-BC3D-C718CB63E63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36260" y="1627012"/>
                    <a:ext cx="3534997" cy="36933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b="-6557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Rectangle 37">
                    <a:extLst>
                      <a:ext uri="{FF2B5EF4-FFF2-40B4-BE49-F238E27FC236}">
                        <a16:creationId xmlns:a16="http://schemas.microsoft.com/office/drawing/2014/main" id="{57C66FF4-047E-8A2D-6948-E1CD189B0B91}"/>
                      </a:ext>
                    </a:extLst>
                  </p:cNvPr>
                  <p:cNvSpPr/>
                  <p:nvPr/>
                </p:nvSpPr>
                <p:spPr>
                  <a:xfrm>
                    <a:off x="9336260" y="1952989"/>
                    <a:ext cx="3534997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GB" b="1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n-IN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b="1" i="1">
                                      <a:solidFill>
                                        <a:srgbClr val="CC00C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rgbClr val="CC00CC"/>
                                      </a:solidFill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solidFill>
                                        <a:srgbClr val="CC00CC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IN" b="1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n-US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GB" b="1" i="1">
                                  <a:solidFill>
                                    <a:schemeClr val="tx1"/>
                                  </a:solidFill>
                                  <a:latin typeface="Cambria Math" pitchFamily="18" charset="0"/>
                                  <a:ea typeface="Cambria Math" pitchFamily="18" charset="0"/>
                                </a:rPr>
                                <m:t>𝒙</m:t>
                              </m:r>
                              <m:r>
                                <a:rPr lang="en-GB" b="1" i="1">
                                  <a:solidFill>
                                    <a:schemeClr val="tx1"/>
                                  </a:solidFill>
                                  <a:latin typeface="Cambria Math" pitchFamily="18" charset="0"/>
                                  <a:ea typeface="Cambria Math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IN" b="1" i="1" smtClean="0">
                                      <a:solidFill>
                                        <a:srgbClr val="C14E1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rgbClr val="C14E15"/>
                                      </a:solidFill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solidFill>
                                        <a:srgbClr val="C14E15"/>
                                      </a:solidFill>
                                      <a:latin typeface="Cambria Math" panose="02040503050406030204" pitchFamily="18" charset="0"/>
                                    </a:rPr>
                                    <m:t>𝟐𝟐</m:t>
                                  </m:r>
                                </m:sub>
                              </m:sSub>
                              <m:r>
                                <a:rPr lang="en-GB" b="1" i="1">
                                  <a:solidFill>
                                    <a:schemeClr val="tx1"/>
                                  </a:solidFill>
                                  <a:latin typeface="Cambria Math" pitchFamily="18" charset="0"/>
                                  <a:ea typeface="Cambria Math" pitchFamily="18" charset="0"/>
                                </a:rPr>
                                <m:t>𝒚</m:t>
                              </m:r>
                              <m:r>
                                <m:rPr>
                                  <m:nor/>
                                </m:rPr>
                                <a:rPr lang="en-IN" b="1" dirty="0">
                                  <a:solidFill>
                                    <a:schemeClr val="tx1"/>
                                  </a:solidFill>
                                  <a:latin typeface="Cambria Math" pitchFamily="18" charset="0"/>
                                  <a:ea typeface="Cambria Math" pitchFamily="18" charset="0"/>
                                </a:rPr>
                                <m:t> </m:t>
                              </m:r>
                            </m:e>
                          </m:d>
                        </m:oMath>
                      </m:oMathPara>
                    </a14:m>
                    <a:endParaRPr lang="en-IN" b="1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8" name="Rectangle 37">
                    <a:extLst>
                      <a:ext uri="{FF2B5EF4-FFF2-40B4-BE49-F238E27FC236}">
                        <a16:creationId xmlns:a16="http://schemas.microsoft.com/office/drawing/2014/main" id="{57C66FF4-047E-8A2D-6948-E1CD189B0B9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36260" y="1952989"/>
                    <a:ext cx="3534997" cy="36933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FD5239CE-C18B-AADB-DABE-A2BB1CC03177}"/>
                    </a:ext>
                  </a:extLst>
                </p:cNvPr>
                <p:cNvSpPr txBox="1"/>
                <p:nvPr/>
              </p:nvSpPr>
              <p:spPr>
                <a:xfrm>
                  <a:off x="11122110" y="5183340"/>
                  <a:ext cx="49990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FD5239CE-C18B-AADB-DABE-A2BB1CC031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22110" y="5183340"/>
                  <a:ext cx="499905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D8615F68-866A-D8EB-013C-8BE2490470FB}"/>
                    </a:ext>
                  </a:extLst>
                </p:cNvPr>
                <p:cNvSpPr txBox="1"/>
                <p:nvPr/>
              </p:nvSpPr>
              <p:spPr>
                <a:xfrm>
                  <a:off x="11140481" y="6160479"/>
                  <a:ext cx="49990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D8615F68-866A-D8EB-013C-8BE2490470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40481" y="6160479"/>
                  <a:ext cx="499905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1D360B02-8C48-E5F6-C03D-7CB7763113D0}"/>
              </a:ext>
            </a:extLst>
          </p:cNvPr>
          <p:cNvGrpSpPr/>
          <p:nvPr/>
        </p:nvGrpSpPr>
        <p:grpSpPr>
          <a:xfrm>
            <a:off x="7482160" y="2084222"/>
            <a:ext cx="5110526" cy="1095239"/>
            <a:chOff x="5367980" y="2314841"/>
            <a:chExt cx="5110526" cy="1095239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AB57ED08-9CB1-5118-4284-53E660797F75}"/>
                </a:ext>
              </a:extLst>
            </p:cNvPr>
            <p:cNvGrpSpPr/>
            <p:nvPr/>
          </p:nvGrpSpPr>
          <p:grpSpPr>
            <a:xfrm>
              <a:off x="6524201" y="2701639"/>
              <a:ext cx="1426087" cy="382464"/>
              <a:chOff x="6088522" y="3560060"/>
              <a:chExt cx="1426087" cy="382464"/>
            </a:xfrm>
          </p:grpSpPr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90308722-7C90-28C7-9C13-722ADDA317E0}"/>
                  </a:ext>
                </a:extLst>
              </p:cNvPr>
              <p:cNvSpPr/>
              <p:nvPr/>
            </p:nvSpPr>
            <p:spPr>
              <a:xfrm>
                <a:off x="6521210" y="3560060"/>
                <a:ext cx="993399" cy="38246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AEF24398-CFF3-CE53-5271-16522158F6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88522" y="3751292"/>
                <a:ext cx="432688" cy="0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none" w="med" len="med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00300E2-AAEE-D12B-3190-A3B985D4ADA1}"/>
                </a:ext>
              </a:extLst>
            </p:cNvPr>
            <p:cNvSpPr txBox="1"/>
            <p:nvPr/>
          </p:nvSpPr>
          <p:spPr>
            <a:xfrm>
              <a:off x="5367980" y="2705188"/>
              <a:ext cx="122295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800" i="1" dirty="0">
                  <a:solidFill>
                    <a:srgbClr val="0000FF"/>
                  </a:solidFill>
                  <a:latin typeface="Consolas" panose="020B0609020204030204" pitchFamily="49" charset="0"/>
                </a:rPr>
                <a:t>(None,2)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79E3AF27-9936-918A-C46B-559C81B65DB6}"/>
                </a:ext>
              </a:extLst>
            </p:cNvPr>
            <p:cNvSpPr txBox="1"/>
            <p:nvPr/>
          </p:nvSpPr>
          <p:spPr>
            <a:xfrm>
              <a:off x="6956889" y="2314841"/>
              <a:ext cx="993399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000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m</a:t>
              </a:r>
              <a:r>
                <a:rPr lang="en-IN" sz="2000" b="1" dirty="0" err="1">
                  <a:latin typeface="Cambria Math" panose="02040503050406030204" pitchFamily="18" charset="0"/>
                  <a:ea typeface="Cambria Math" panose="02040503050406030204" pitchFamily="18" charset="0"/>
                </a:rPr>
                <a:t>odel</a:t>
              </a:r>
              <a:r>
                <a:rPr lang="en-IN" sz="2000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 </a:t>
              </a:r>
              <a:endParaRPr lang="en-IN" sz="2000" b="1" dirty="0"/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13A00701-4D47-E2DA-9CC8-B111AD932735}"/>
                </a:ext>
              </a:extLst>
            </p:cNvPr>
            <p:cNvGrpSpPr/>
            <p:nvPr/>
          </p:nvGrpSpPr>
          <p:grpSpPr>
            <a:xfrm>
              <a:off x="7928693" y="2732970"/>
              <a:ext cx="2549813" cy="677110"/>
              <a:chOff x="7044716" y="4180772"/>
              <a:chExt cx="2703370" cy="677110"/>
            </a:xfrm>
          </p:grpSpPr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84DCCC4E-8228-C3E4-092C-E264F3AD66BA}"/>
                  </a:ext>
                </a:extLst>
              </p:cNvPr>
              <p:cNvSpPr txBox="1"/>
              <p:nvPr/>
            </p:nvSpPr>
            <p:spPr>
              <a:xfrm>
                <a:off x="7044716" y="4550105"/>
                <a:ext cx="270337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400" b="1" dirty="0">
                    <a:latin typeface="Consolas" panose="020B0609020204030204" pitchFamily="49" charset="0"/>
                  </a:rPr>
                  <a:t>z1,z2,</a:t>
                </a:r>
                <a:r>
                  <a:rPr lang="en-US" sz="1400" b="1" dirty="0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dz1_dx</a:t>
                </a:r>
                <a:r>
                  <a:rPr lang="en-US" sz="1400" b="1" dirty="0">
                    <a:latin typeface="Consolas" panose="020B0609020204030204" pitchFamily="49" charset="0"/>
                  </a:rPr>
                  <a:t>,</a:t>
                </a:r>
                <a:r>
                  <a:rPr lang="en-US" sz="1400" b="1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dz2_dy</a:t>
                </a:r>
                <a:endParaRPr lang="en-IN" sz="1400" dirty="0">
                  <a:solidFill>
                    <a:srgbClr val="0000FF"/>
                  </a:solidFill>
                </a:endParaRP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A35144EA-6C81-4865-CD58-91BE1AF26AE0}"/>
                  </a:ext>
                </a:extLst>
              </p:cNvPr>
              <p:cNvSpPr txBox="1"/>
              <p:nvPr/>
            </p:nvSpPr>
            <p:spPr>
              <a:xfrm>
                <a:off x="7291664" y="4180772"/>
                <a:ext cx="132852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800" i="1" dirty="0">
                    <a:solidFill>
                      <a:srgbClr val="0000FF"/>
                    </a:solidFill>
                    <a:latin typeface="Consolas" panose="020B0609020204030204" pitchFamily="49" charset="0"/>
                  </a:rPr>
                  <a:t>(None,4)</a:t>
                </a:r>
              </a:p>
            </p:txBody>
          </p: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FE3CC320-A4B1-9020-114E-D31471EB5B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82819" y="4361771"/>
                <a:ext cx="302668" cy="4401"/>
              </a:xfrm>
              <a:prstGeom prst="line">
                <a:avLst/>
              </a:prstGeom>
              <a:ln>
                <a:solidFill>
                  <a:schemeClr val="tx1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521446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9B80B-6016-5463-0D01-602E96C53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C3CF247-D81B-BC80-0748-639906A445EA}"/>
              </a:ext>
            </a:extLst>
          </p:cNvPr>
          <p:cNvSpPr txBox="1"/>
          <p:nvPr/>
        </p:nvSpPr>
        <p:spPr>
          <a:xfrm>
            <a:off x="0" y="98322"/>
            <a:ext cx="12192000" cy="52322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Session 1: </a:t>
            </a:r>
            <a:r>
              <a:rPr lang="en-US" sz="2800" b="1" dirty="0" err="1">
                <a:solidFill>
                  <a:schemeClr val="bg1"/>
                </a:solidFill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Tensorflow</a:t>
            </a:r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 Basics</a:t>
            </a:r>
            <a:endParaRPr lang="en-IN" sz="2800" b="1" dirty="0">
              <a:solidFill>
                <a:schemeClr val="bg1"/>
              </a:solidFill>
              <a:latin typeface="Century Schoolbook" panose="02040604050505020304" pitchFamily="18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C8BD8F-2678-D819-5962-347CBF04C168}"/>
              </a:ext>
            </a:extLst>
          </p:cNvPr>
          <p:cNvSpPr txBox="1"/>
          <p:nvPr/>
        </p:nvSpPr>
        <p:spPr>
          <a:xfrm>
            <a:off x="0" y="686506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Automatic Gradient: </a:t>
            </a:r>
            <a:r>
              <a:rPr lang="en-IN" sz="2800" b="1" dirty="0" err="1"/>
              <a:t>Keras</a:t>
            </a:r>
            <a:r>
              <a:rPr lang="en-IN" sz="2800" b="1" dirty="0"/>
              <a:t> Model Example</a:t>
            </a:r>
          </a:p>
        </p:txBody>
      </p:sp>
    </p:spTree>
    <p:extLst>
      <p:ext uri="{BB962C8B-B14F-4D97-AF65-F5344CB8AC3E}">
        <p14:creationId xmlns:p14="http://schemas.microsoft.com/office/powerpoint/2010/main" val="17621457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D5872-3299-99FC-2E5F-D7CAC0CC5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B57B42-FEF9-BFA5-1850-38A516820984}"/>
              </a:ext>
            </a:extLst>
          </p:cNvPr>
          <p:cNvSpPr txBox="1"/>
          <p:nvPr/>
        </p:nvSpPr>
        <p:spPr>
          <a:xfrm>
            <a:off x="0" y="98322"/>
            <a:ext cx="12192000" cy="52322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Session 2: PINN</a:t>
            </a:r>
            <a:endParaRPr lang="en-IN" sz="2800" b="1" dirty="0">
              <a:solidFill>
                <a:schemeClr val="bg1"/>
              </a:solidFill>
              <a:latin typeface="Century Schoolbook" panose="02040604050505020304" pitchFamily="18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777F87-A227-1258-1C17-D845A54C6D3D}"/>
              </a:ext>
            </a:extLst>
          </p:cNvPr>
          <p:cNvSpPr txBox="1"/>
          <p:nvPr/>
        </p:nvSpPr>
        <p:spPr>
          <a:xfrm>
            <a:off x="0" y="686506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Lid-Driven Cavity (Incompressible)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2FE5566-332E-4486-B51B-BBD811E52B5C}"/>
              </a:ext>
            </a:extLst>
          </p:cNvPr>
          <p:cNvGrpSpPr/>
          <p:nvPr/>
        </p:nvGrpSpPr>
        <p:grpSpPr>
          <a:xfrm>
            <a:off x="130289" y="1187406"/>
            <a:ext cx="4421615" cy="3259865"/>
            <a:chOff x="130289" y="1187406"/>
            <a:chExt cx="4421615" cy="325986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B4915C8F-3EFC-DDA2-EC29-7659341434B6}"/>
                    </a:ext>
                  </a:extLst>
                </p:cNvPr>
                <p:cNvSpPr txBox="1"/>
                <p:nvPr/>
              </p:nvSpPr>
              <p:spPr>
                <a:xfrm>
                  <a:off x="3193362" y="2271375"/>
                  <a:ext cx="1358542" cy="115762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2000" b="1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u=0</a:t>
                  </a:r>
                </a:p>
                <a:p>
                  <a:r>
                    <a:rPr lang="en-US" sz="2000" b="1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v=0</a:t>
                  </a:r>
                </a:p>
                <a:p>
                  <a14:m>
                    <m:oMath xmlns:m="http://schemas.openxmlformats.org/officeDocument/2006/math">
                      <m:f>
                        <m:fPr>
                          <m:ctrlPr>
                            <a:rPr lang="en-IN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𝒑</m:t>
                          </m:r>
                        </m:num>
                        <m:den>
                          <m:r>
                            <a:rPr lang="en-IN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den>
                      </m:f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en-IN" sz="2000" b="1" dirty="0"/>
                    <a:t> </a:t>
                  </a:r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B4915C8F-3EFC-DDA2-EC29-7659341434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93362" y="2271375"/>
                  <a:ext cx="1358542" cy="1157625"/>
                </a:xfrm>
                <a:prstGeom prst="rect">
                  <a:avLst/>
                </a:prstGeom>
                <a:blipFill>
                  <a:blip r:embed="rId2"/>
                  <a:stretch>
                    <a:fillRect l="-4933" t="-3158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9F08042-A8B1-A6CF-9DD9-70456285D698}"/>
                </a:ext>
              </a:extLst>
            </p:cNvPr>
            <p:cNvGrpSpPr/>
            <p:nvPr/>
          </p:nvGrpSpPr>
          <p:grpSpPr>
            <a:xfrm>
              <a:off x="130289" y="1187406"/>
              <a:ext cx="3063072" cy="3259865"/>
              <a:chOff x="130289" y="1187406"/>
              <a:chExt cx="3063072" cy="3259865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E37AD5AD-97A4-6D7D-9CB2-FCFD0A2773BC}"/>
                  </a:ext>
                </a:extLst>
              </p:cNvPr>
              <p:cNvSpPr/>
              <p:nvPr/>
            </p:nvSpPr>
            <p:spPr>
              <a:xfrm>
                <a:off x="1025610" y="1779371"/>
                <a:ext cx="2088292" cy="207593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20116C28-4535-DF12-7E2B-FF2F7C498EF8}"/>
                      </a:ext>
                    </a:extLst>
                  </p:cNvPr>
                  <p:cNvSpPr txBox="1"/>
                  <p:nvPr/>
                </p:nvSpPr>
                <p:spPr>
                  <a:xfrm>
                    <a:off x="130289" y="2271375"/>
                    <a:ext cx="1358542" cy="115762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2000" b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a:t>u=0</a:t>
                    </a:r>
                  </a:p>
                  <a:p>
                    <a:r>
                      <a:rPr lang="en-US" sz="2000" b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a:t>v=0</a:t>
                    </a:r>
                  </a:p>
                  <a:p>
                    <a14:m>
                      <m:oMath xmlns:m="http://schemas.openxmlformats.org/officeDocument/2006/math">
                        <m:f>
                          <m:fPr>
                            <m:ctrlPr>
                              <a:rPr lang="en-IN" sz="2000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𝝏</m:t>
                            </m:r>
                            <m: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𝒑</m:t>
                            </m:r>
                          </m:num>
                          <m:den>
                            <m:r>
                              <a:rPr lang="en-IN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𝝏</m:t>
                            </m:r>
                            <m: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den>
                        </m:f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oMath>
                    </a14:m>
                    <a:r>
                      <a:rPr lang="en-IN" sz="2000" b="1" dirty="0"/>
                      <a:t> </a:t>
                    </a:r>
                  </a:p>
                </p:txBody>
              </p:sp>
            </mc:Choice>
            <mc:Fallback xmlns="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20116C28-4535-DF12-7E2B-FF2F7C498EF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0289" y="2271375"/>
                    <a:ext cx="1358542" cy="1157625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4484" t="-3158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04EFC36D-B513-9FCF-3D61-04887629E205}"/>
                      </a:ext>
                    </a:extLst>
                  </p:cNvPr>
                  <p:cNvSpPr txBox="1"/>
                  <p:nvPr/>
                </p:nvSpPr>
                <p:spPr>
                  <a:xfrm>
                    <a:off x="985879" y="1187406"/>
                    <a:ext cx="2167751" cy="58054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2000" b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a:t>u=1, v=0, </a:t>
                    </a:r>
                    <a14:m>
                      <m:oMath xmlns:m="http://schemas.openxmlformats.org/officeDocument/2006/math">
                        <m:f>
                          <m:fPr>
                            <m:ctrlPr>
                              <a:rPr lang="en-IN" sz="2000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𝝏</m:t>
                            </m:r>
                            <m: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𝒑</m:t>
                            </m:r>
                          </m:num>
                          <m:den>
                            <m:r>
                              <a:rPr lang="en-IN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𝝏</m:t>
                            </m:r>
                            <m: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𝒚</m:t>
                            </m:r>
                          </m:den>
                        </m:f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oMath>
                    </a14:m>
                    <a:r>
                      <a:rPr lang="en-IN" sz="2000" b="1" dirty="0"/>
                      <a:t> </a:t>
                    </a:r>
                  </a:p>
                </p:txBody>
              </p:sp>
            </mc:Choice>
            <mc:Fallback xmlns="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04EFC36D-B513-9FCF-3D61-04887629E20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85879" y="1187406"/>
                    <a:ext cx="2167751" cy="58054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3099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F248FF24-6E61-9CBD-6080-37C8B5CDF243}"/>
                      </a:ext>
                    </a:extLst>
                  </p:cNvPr>
                  <p:cNvSpPr txBox="1"/>
                  <p:nvPr/>
                </p:nvSpPr>
                <p:spPr>
                  <a:xfrm>
                    <a:off x="1025610" y="3866727"/>
                    <a:ext cx="2167751" cy="58054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2000" b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a:t>u=0, v=0, </a:t>
                    </a:r>
                    <a14:m>
                      <m:oMath xmlns:m="http://schemas.openxmlformats.org/officeDocument/2006/math">
                        <m:f>
                          <m:fPr>
                            <m:ctrlPr>
                              <a:rPr lang="en-IN" sz="2000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𝝏</m:t>
                            </m:r>
                            <m: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𝒑</m:t>
                            </m:r>
                          </m:num>
                          <m:den>
                            <m:r>
                              <a:rPr lang="en-IN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𝝏</m:t>
                            </m:r>
                            <m: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𝒚</m:t>
                            </m:r>
                          </m:den>
                        </m:f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oMath>
                    </a14:m>
                    <a:r>
                      <a:rPr lang="en-IN" sz="2000" b="1" dirty="0"/>
                      <a:t> </a:t>
                    </a:r>
                  </a:p>
                </p:txBody>
              </p:sp>
            </mc:Choice>
            <mc:Fallback xmlns="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F248FF24-6E61-9CBD-6080-37C8B5CDF24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25610" y="3866727"/>
                    <a:ext cx="2167751" cy="58054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2809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E5669DFB-B7B2-65BB-064D-BC061FE33C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88348" y="3696374"/>
                <a:ext cx="1020257" cy="0"/>
              </a:xfrm>
              <a:prstGeom prst="line">
                <a:avLst/>
              </a:prstGeom>
              <a:ln>
                <a:solidFill>
                  <a:schemeClr val="accent4">
                    <a:lumMod val="40000"/>
                    <a:lumOff val="60000"/>
                  </a:schemeClr>
                </a:solidFill>
                <a:headEnd type="none" w="med" len="med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31BB445E-5B49-3A97-FE29-FD2C6C7E83C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89055" y="2504296"/>
                <a:ext cx="0" cy="924704"/>
              </a:xfrm>
              <a:prstGeom prst="line">
                <a:avLst/>
              </a:prstGeom>
              <a:ln>
                <a:solidFill>
                  <a:schemeClr val="accent4">
                    <a:lumMod val="40000"/>
                    <a:lumOff val="60000"/>
                  </a:schemeClr>
                </a:solidFill>
                <a:headEnd type="none" w="med" len="med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F235937-24E7-8BAE-6B2F-BCBBF6B81536}"/>
                  </a:ext>
                </a:extLst>
              </p:cNvPr>
              <p:cNvSpPr txBox="1"/>
              <p:nvPr/>
            </p:nvSpPr>
            <p:spPr>
              <a:xfrm>
                <a:off x="1184531" y="2766593"/>
                <a:ext cx="38376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 i="1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y</a:t>
                </a:r>
                <a:endParaRPr lang="en-IN" sz="2000" b="1" i="1" dirty="0">
                  <a:solidFill>
                    <a:schemeClr val="accent4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24A52D4-B76B-7FFF-DDF6-A6B9DADF8D38}"/>
                  </a:ext>
                </a:extLst>
              </p:cNvPr>
              <p:cNvSpPr txBox="1"/>
              <p:nvPr/>
            </p:nvSpPr>
            <p:spPr>
              <a:xfrm>
                <a:off x="1725525" y="3280758"/>
                <a:ext cx="38376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 i="1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x</a:t>
                </a:r>
                <a:endParaRPr lang="en-IN" sz="2000" b="1" i="1" dirty="0">
                  <a:solidFill>
                    <a:schemeClr val="accent4">
                      <a:lumMod val="40000"/>
                      <a:lumOff val="60000"/>
                    </a:schemeClr>
                  </a:solidFill>
                </a:endParaRPr>
              </a:p>
            </p:txBody>
          </p:sp>
        </p:grp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39229DA1-19FE-2552-3807-3D02C793EA87}"/>
              </a:ext>
            </a:extLst>
          </p:cNvPr>
          <p:cNvSpPr txBox="1"/>
          <p:nvPr/>
        </p:nvSpPr>
        <p:spPr>
          <a:xfrm>
            <a:off x="4213538" y="1325816"/>
            <a:ext cx="774065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Objective: 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to approximate the solution of the incompressible Navier-Stokes equations for the lid-driven cavity flow by Multi Layer Perceptron (MLP) (Fully Connected Neural Network).</a:t>
            </a:r>
            <a:endParaRPr lang="en-IN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E03B54D-ED27-6950-DB6E-376325D01270}"/>
                  </a:ext>
                </a:extLst>
              </p:cNvPr>
              <p:cNvSpPr txBox="1"/>
              <p:nvPr/>
            </p:nvSpPr>
            <p:spPr>
              <a:xfrm>
                <a:off x="7422669" y="2504296"/>
                <a:ext cx="1781705" cy="46903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1=</m:t>
                      </m:r>
                      <m:f>
                        <m:f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IN" sz="1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IN" sz="16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E03B54D-ED27-6950-DB6E-376325D012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2669" y="2504296"/>
                <a:ext cx="1781705" cy="46903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86A9C32-6586-6ABA-2318-D948A67AE710}"/>
                  </a:ext>
                </a:extLst>
              </p:cNvPr>
              <p:cNvSpPr txBox="1"/>
              <p:nvPr/>
            </p:nvSpPr>
            <p:spPr>
              <a:xfrm>
                <a:off x="7422669" y="3118233"/>
                <a:ext cx="4231799" cy="55823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2=</m:t>
                      </m:r>
                      <m:f>
                        <m:f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  <m:sSup>
                            <m:sSupPr>
                              <m:ctrlPr>
                                <a:rPr lang="en-IN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IN" sz="1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IN" sz="16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𝑢𝑣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𝑅𝑒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86A9C32-6586-6ABA-2318-D948A67AE7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2669" y="3118233"/>
                <a:ext cx="4231799" cy="55823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D64884B-3EF7-9C1D-D58A-BBC4EFD25909}"/>
                  </a:ext>
                </a:extLst>
              </p:cNvPr>
              <p:cNvSpPr txBox="1"/>
              <p:nvPr/>
            </p:nvSpPr>
            <p:spPr>
              <a:xfrm>
                <a:off x="7422669" y="3830660"/>
                <a:ext cx="4228530" cy="55823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3=</m:t>
                      </m:r>
                      <m:f>
                        <m:f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𝑢𝑣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sz="16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  <m:sSup>
                            <m:sSupPr>
                              <m:ctrlPr>
                                <a:rPr lang="en-IN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IN" sz="1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𝑅𝑒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D64884B-3EF7-9C1D-D58A-BBC4EFD259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2669" y="3830660"/>
                <a:ext cx="4228530" cy="55823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21EE2D9E-1A6F-7BD0-6B5E-2C0D8512924E}"/>
              </a:ext>
            </a:extLst>
          </p:cNvPr>
          <p:cNvSpPr txBox="1"/>
          <p:nvPr/>
        </p:nvSpPr>
        <p:spPr>
          <a:xfrm>
            <a:off x="4430967" y="2502971"/>
            <a:ext cx="32091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Governing Equation losses</a:t>
            </a:r>
            <a:endParaRPr lang="en-IN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9C923E2-E182-20CE-BCFB-09B519E64AA7}"/>
              </a:ext>
            </a:extLst>
          </p:cNvPr>
          <p:cNvSpPr txBox="1"/>
          <p:nvPr/>
        </p:nvSpPr>
        <p:spPr>
          <a:xfrm>
            <a:off x="200788" y="4623929"/>
            <a:ext cx="32091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Boundary Condition losses</a:t>
            </a:r>
            <a:endParaRPr lang="en-IN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3E5FBC2-70A5-9268-166A-3FFEF95DA946}"/>
                  </a:ext>
                </a:extLst>
              </p:cNvPr>
              <p:cNvSpPr txBox="1"/>
              <p:nvPr/>
            </p:nvSpPr>
            <p:spPr>
              <a:xfrm>
                <a:off x="294641" y="5160518"/>
                <a:ext cx="1280479" cy="26738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𝑡𝑜𝑝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3E5FBC2-70A5-9268-166A-3FFEF95DA9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641" y="5160518"/>
                <a:ext cx="1280479" cy="267381"/>
              </a:xfrm>
              <a:prstGeom prst="rect">
                <a:avLst/>
              </a:prstGeom>
              <a:blipFill>
                <a:blip r:embed="rId9"/>
                <a:stretch>
                  <a:fillRect l="-3302" r="-2830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CED121B-B67D-295A-D8F7-F29B18082D3D}"/>
                  </a:ext>
                </a:extLst>
              </p:cNvPr>
              <p:cNvSpPr txBox="1"/>
              <p:nvPr/>
            </p:nvSpPr>
            <p:spPr>
              <a:xfrm>
                <a:off x="1805506" y="5160518"/>
                <a:ext cx="914802" cy="26738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𝑡𝑜𝑝</m:t>
                          </m:r>
                        </m:sub>
                      </m:sSub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CED121B-B67D-295A-D8F7-F29B18082D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5506" y="5160518"/>
                <a:ext cx="914802" cy="267381"/>
              </a:xfrm>
              <a:prstGeom prst="rect">
                <a:avLst/>
              </a:prstGeom>
              <a:blipFill>
                <a:blip r:embed="rId10"/>
                <a:stretch>
                  <a:fillRect l="-4605" r="-2632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D56B629-C708-10A2-112A-6DD4E8CA6346}"/>
                  </a:ext>
                </a:extLst>
              </p:cNvPr>
              <p:cNvSpPr txBox="1"/>
              <p:nvPr/>
            </p:nvSpPr>
            <p:spPr>
              <a:xfrm>
                <a:off x="2987626" y="4978878"/>
                <a:ext cx="1319015" cy="61363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num>
                                <m:den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𝑡𝑜𝑝</m:t>
                          </m:r>
                        </m:sub>
                      </m:sSub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D56B629-C708-10A2-112A-6DD4E8CA63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7626" y="4978878"/>
                <a:ext cx="1319015" cy="61363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4A79A1C-BA4D-03DF-719D-FB50F8F22E31}"/>
                  </a:ext>
                </a:extLst>
              </p:cNvPr>
              <p:cNvSpPr txBox="1"/>
              <p:nvPr/>
            </p:nvSpPr>
            <p:spPr>
              <a:xfrm>
                <a:off x="5004953" y="5160196"/>
                <a:ext cx="1064907" cy="26738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𝑟𝑖𝑔h𝑡</m:t>
                          </m:r>
                        </m:sub>
                      </m:sSub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4A79A1C-BA4D-03DF-719D-FB50F8F22E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953" y="5160196"/>
                <a:ext cx="1064907" cy="267381"/>
              </a:xfrm>
              <a:prstGeom prst="rect">
                <a:avLst/>
              </a:prstGeom>
              <a:blipFill>
                <a:blip r:embed="rId12"/>
                <a:stretch>
                  <a:fillRect l="-3955" r="-2260" b="-2391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8162617-F552-B588-FA9F-C4387DDC9674}"/>
                  </a:ext>
                </a:extLst>
              </p:cNvPr>
              <p:cNvSpPr txBox="1"/>
              <p:nvPr/>
            </p:nvSpPr>
            <p:spPr>
              <a:xfrm>
                <a:off x="6426058" y="5160196"/>
                <a:ext cx="1058110" cy="26872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𝑟𝑖𝑔h𝑡</m:t>
                          </m:r>
                        </m:sub>
                      </m:sSub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8162617-F552-B588-FA9F-C4387DDC96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6058" y="5160196"/>
                <a:ext cx="1058110" cy="268728"/>
              </a:xfrm>
              <a:prstGeom prst="rect">
                <a:avLst/>
              </a:prstGeom>
              <a:blipFill>
                <a:blip r:embed="rId13"/>
                <a:stretch>
                  <a:fillRect l="-3977" r="-2273" b="-2127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B210C4C-FECA-B656-C18E-71D7D2B38C87}"/>
                  </a:ext>
                </a:extLst>
              </p:cNvPr>
              <p:cNvSpPr txBox="1"/>
              <p:nvPr/>
            </p:nvSpPr>
            <p:spPr>
              <a:xfrm>
                <a:off x="7765262" y="4978878"/>
                <a:ext cx="1413464" cy="61465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num>
                                <m:den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𝑟𝑖𝑔h𝑡</m:t>
                          </m:r>
                        </m:sub>
                      </m:sSub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B210C4C-FECA-B656-C18E-71D7D2B38C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5262" y="4978878"/>
                <a:ext cx="1413464" cy="61465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DE1C55A-A71B-38C7-B92A-72830F534814}"/>
                  </a:ext>
                </a:extLst>
              </p:cNvPr>
              <p:cNvSpPr txBox="1"/>
              <p:nvPr/>
            </p:nvSpPr>
            <p:spPr>
              <a:xfrm>
                <a:off x="294641" y="5833888"/>
                <a:ext cx="919034" cy="2677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𝑏𝑜𝑡</m:t>
                          </m:r>
                        </m:sub>
                      </m:sSub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DE1C55A-A71B-38C7-B92A-72830F5348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641" y="5833888"/>
                <a:ext cx="919034" cy="267766"/>
              </a:xfrm>
              <a:prstGeom prst="rect">
                <a:avLst/>
              </a:prstGeom>
              <a:blipFill>
                <a:blip r:embed="rId15"/>
                <a:stretch>
                  <a:fillRect l="-4575" r="-654" b="-1304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7B635F2-0843-8A7F-DFB6-24909D87D45E}"/>
                  </a:ext>
                </a:extLst>
              </p:cNvPr>
              <p:cNvSpPr txBox="1"/>
              <p:nvPr/>
            </p:nvSpPr>
            <p:spPr>
              <a:xfrm>
                <a:off x="1805506" y="5832592"/>
                <a:ext cx="912236" cy="26898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</m:sSub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𝑏𝑜𝑡</m:t>
                          </m:r>
                        </m:sub>
                      </m:sSub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7B635F2-0843-8A7F-DFB6-24909D87D4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5506" y="5832592"/>
                <a:ext cx="912236" cy="268984"/>
              </a:xfrm>
              <a:prstGeom prst="rect">
                <a:avLst/>
              </a:prstGeom>
              <a:blipFill>
                <a:blip r:embed="rId16"/>
                <a:stretch>
                  <a:fillRect l="-4605" r="-658" b="-1087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0EF32BB-4C17-5BFB-9D39-08B304FB701C}"/>
                  </a:ext>
                </a:extLst>
              </p:cNvPr>
              <p:cNvSpPr txBox="1"/>
              <p:nvPr/>
            </p:nvSpPr>
            <p:spPr>
              <a:xfrm>
                <a:off x="2987626" y="5742388"/>
                <a:ext cx="1267591" cy="58663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sub>
                          </m:sSub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num>
                                <m:den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𝑏𝑜𝑡</m:t>
                          </m:r>
                        </m:sub>
                      </m:sSub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0EF32BB-4C17-5BFB-9D39-08B304FB70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7626" y="5742388"/>
                <a:ext cx="1267591" cy="58663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5E39383-3D67-F7B3-C7D4-7A49035D2FE8}"/>
                  </a:ext>
                </a:extLst>
              </p:cNvPr>
              <p:cNvSpPr txBox="1"/>
              <p:nvPr/>
            </p:nvSpPr>
            <p:spPr>
              <a:xfrm>
                <a:off x="5004953" y="5895942"/>
                <a:ext cx="1039259" cy="26872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𝑙𝑒𝑓𝑡</m:t>
                          </m:r>
                        </m:sub>
                      </m:sSub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5E39383-3D67-F7B3-C7D4-7A49035D2F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953" y="5895942"/>
                <a:ext cx="1039259" cy="268728"/>
              </a:xfrm>
              <a:prstGeom prst="rect">
                <a:avLst/>
              </a:prstGeom>
              <a:blipFill>
                <a:blip r:embed="rId18"/>
                <a:stretch>
                  <a:fillRect l="-4046" r="-1156" b="-2173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16D40E8-D902-5A79-D40C-CF1AFEAD9E49}"/>
                  </a:ext>
                </a:extLst>
              </p:cNvPr>
              <p:cNvSpPr txBox="1"/>
              <p:nvPr/>
            </p:nvSpPr>
            <p:spPr>
              <a:xfrm>
                <a:off x="6426058" y="5895942"/>
                <a:ext cx="1032462" cy="26738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𝑙𝑒𝑓𝑡</m:t>
                          </m:r>
                        </m:sub>
                      </m:sSub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16D40E8-D902-5A79-D40C-CF1AFEAD9E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6058" y="5895942"/>
                <a:ext cx="1032462" cy="267381"/>
              </a:xfrm>
              <a:prstGeom prst="rect">
                <a:avLst/>
              </a:prstGeom>
              <a:blipFill>
                <a:blip r:embed="rId19"/>
                <a:stretch>
                  <a:fillRect l="-4070" r="-1163" b="-2173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B324D9C-E0BA-EAC9-FBD8-6D74F3447754}"/>
                  </a:ext>
                </a:extLst>
              </p:cNvPr>
              <p:cNvSpPr txBox="1"/>
              <p:nvPr/>
            </p:nvSpPr>
            <p:spPr>
              <a:xfrm>
                <a:off x="7765262" y="5714624"/>
                <a:ext cx="1387816" cy="6143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num>
                                <m:den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𝑙𝑒𝑓𝑡</m:t>
                          </m:r>
                        </m:sub>
                      </m:sSub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B324D9C-E0BA-EAC9-FBD8-6D74F34477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5262" y="5714624"/>
                <a:ext cx="1387816" cy="614399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06699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873B1-DF01-B8C1-2FC4-1A9BFB12D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37A8145-AA89-4819-4F2B-B13B11A68BBD}"/>
              </a:ext>
            </a:extLst>
          </p:cNvPr>
          <p:cNvSpPr txBox="1"/>
          <p:nvPr/>
        </p:nvSpPr>
        <p:spPr>
          <a:xfrm>
            <a:off x="0" y="98322"/>
            <a:ext cx="12192000" cy="52322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Session 2: PINN</a:t>
            </a:r>
            <a:endParaRPr lang="en-IN" sz="2800" b="1" dirty="0">
              <a:solidFill>
                <a:schemeClr val="bg1"/>
              </a:solidFill>
              <a:latin typeface="Century Schoolbook" panose="02040604050505020304" pitchFamily="18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0827BE-C23A-29EC-54BB-A02EC1DE6322}"/>
              </a:ext>
            </a:extLst>
          </p:cNvPr>
          <p:cNvSpPr txBox="1"/>
          <p:nvPr/>
        </p:nvSpPr>
        <p:spPr>
          <a:xfrm>
            <a:off x="0" y="686506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Lid-Driven Cavity (Incompressible)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4FDB64E-ADDF-DA5D-E609-AAB6817154AF}"/>
              </a:ext>
            </a:extLst>
          </p:cNvPr>
          <p:cNvSpPr txBox="1"/>
          <p:nvPr/>
        </p:nvSpPr>
        <p:spPr>
          <a:xfrm>
            <a:off x="346111" y="1412420"/>
            <a:ext cx="797846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i="1" dirty="0">
                <a:solidFill>
                  <a:srgbClr val="C00000"/>
                </a:solidFill>
                <a:latin typeface="Consolas" panose="020B0609020204030204" pitchFamily="49" charset="0"/>
              </a:rPr>
              <a:t>#%%</a:t>
            </a:r>
            <a:r>
              <a:rPr lang="en-IN" sz="1600" i="1" dirty="0">
                <a:solidFill>
                  <a:srgbClr val="C00000"/>
                </a:solidFill>
              </a:rPr>
              <a:t> </a:t>
            </a:r>
            <a:r>
              <a:rPr lang="en-IN" sz="1600" b="1" i="1" dirty="0">
                <a:solidFill>
                  <a:srgbClr val="C00000"/>
                </a:solidFill>
              </a:rPr>
              <a:t>Base model definition</a:t>
            </a:r>
            <a:r>
              <a:rPr lang="en-IN" sz="1600" i="1" dirty="0">
                <a:solidFill>
                  <a:srgbClr val="C00000"/>
                </a:solidFill>
              </a:rPr>
              <a:t> to approximate flow field (Instantiating the model)</a:t>
            </a:r>
          </a:p>
          <a:p>
            <a:r>
              <a:rPr lang="en-IN" sz="1600" dirty="0" err="1"/>
              <a:t>input_tensor</a:t>
            </a:r>
            <a:r>
              <a:rPr lang="en-IN" sz="1600" dirty="0"/>
              <a:t>=</a:t>
            </a:r>
            <a:r>
              <a:rPr lang="en-IN" sz="1600" dirty="0">
                <a:solidFill>
                  <a:srgbClr val="CC00CC"/>
                </a:solidFill>
              </a:rPr>
              <a:t>Input</a:t>
            </a:r>
            <a:r>
              <a:rPr lang="en-IN" sz="1600" dirty="0"/>
              <a:t>(shape=(2,)); </a:t>
            </a:r>
            <a:r>
              <a:rPr lang="en-IN" sz="1600" i="1" dirty="0">
                <a:solidFill>
                  <a:srgbClr val="C00000"/>
                </a:solidFill>
              </a:rPr>
              <a:t># input: </a:t>
            </a:r>
            <a:r>
              <a:rPr lang="en-IN" sz="1600" i="1" dirty="0" err="1">
                <a:solidFill>
                  <a:srgbClr val="C00000"/>
                </a:solidFill>
              </a:rPr>
              <a:t>x,y</a:t>
            </a:r>
            <a:r>
              <a:rPr lang="en-IN" sz="1600" i="1" dirty="0">
                <a:solidFill>
                  <a:srgbClr val="C00000"/>
                </a:solidFill>
              </a:rPr>
              <a:t> (None, 2)</a:t>
            </a:r>
          </a:p>
          <a:p>
            <a:r>
              <a:rPr lang="en-IN" sz="1600" dirty="0"/>
              <a:t>out1=</a:t>
            </a:r>
            <a:r>
              <a:rPr lang="en-IN" sz="1600" dirty="0" err="1">
                <a:solidFill>
                  <a:srgbClr val="CC00CC"/>
                </a:solidFill>
              </a:rPr>
              <a:t>layers.Dense</a:t>
            </a:r>
            <a:r>
              <a:rPr lang="en-IN" sz="1600" dirty="0"/>
              <a:t>(60,activation=</a:t>
            </a:r>
            <a:r>
              <a:rPr lang="en-IN" sz="1600" b="1" dirty="0"/>
              <a:t>'tanh</a:t>
            </a:r>
            <a:r>
              <a:rPr lang="en-IN" sz="1600" dirty="0"/>
              <a:t>')(</a:t>
            </a:r>
            <a:r>
              <a:rPr lang="en-IN" sz="1600" dirty="0" err="1"/>
              <a:t>input_tensor</a:t>
            </a:r>
            <a:r>
              <a:rPr lang="en-IN" sz="1600" dirty="0"/>
              <a:t>);</a:t>
            </a:r>
          </a:p>
          <a:p>
            <a:r>
              <a:rPr lang="en-IN" sz="1600" dirty="0"/>
              <a:t>out1=</a:t>
            </a:r>
            <a:r>
              <a:rPr lang="en-IN" sz="1600" dirty="0" err="1">
                <a:solidFill>
                  <a:srgbClr val="CC00CC"/>
                </a:solidFill>
              </a:rPr>
              <a:t>layers.Dense</a:t>
            </a:r>
            <a:r>
              <a:rPr lang="en-IN" sz="1600" dirty="0"/>
              <a:t>(60,activation=</a:t>
            </a:r>
            <a:r>
              <a:rPr lang="en-IN" sz="1600" b="1" dirty="0"/>
              <a:t>'tanh'</a:t>
            </a:r>
            <a:r>
              <a:rPr lang="en-IN" sz="1600" dirty="0"/>
              <a:t>)(out1);</a:t>
            </a:r>
          </a:p>
          <a:p>
            <a:r>
              <a:rPr lang="en-IN" sz="1600" dirty="0"/>
              <a:t>out1=</a:t>
            </a:r>
            <a:r>
              <a:rPr lang="en-IN" sz="1600" dirty="0" err="1">
                <a:solidFill>
                  <a:srgbClr val="CC00CC"/>
                </a:solidFill>
              </a:rPr>
              <a:t>layers.Dense</a:t>
            </a:r>
            <a:r>
              <a:rPr lang="en-IN" sz="1600" dirty="0"/>
              <a:t>(60,activation=</a:t>
            </a:r>
            <a:r>
              <a:rPr lang="en-IN" sz="1600" b="1" dirty="0"/>
              <a:t>'tanh'</a:t>
            </a:r>
            <a:r>
              <a:rPr lang="en-IN" sz="1600" dirty="0"/>
              <a:t>)(out1);</a:t>
            </a:r>
          </a:p>
          <a:p>
            <a:r>
              <a:rPr lang="en-IN" sz="1600" dirty="0"/>
              <a:t>out2=</a:t>
            </a:r>
            <a:r>
              <a:rPr lang="en-IN" sz="1600" dirty="0" err="1">
                <a:solidFill>
                  <a:srgbClr val="CC00CC"/>
                </a:solidFill>
              </a:rPr>
              <a:t>layers.Dense</a:t>
            </a:r>
            <a:r>
              <a:rPr lang="en-IN" sz="1600" dirty="0"/>
              <a:t>(3,activation=</a:t>
            </a:r>
            <a:r>
              <a:rPr lang="en-IN" sz="1600" b="1" dirty="0"/>
              <a:t>'linear</a:t>
            </a:r>
            <a:r>
              <a:rPr lang="en-IN" sz="1600" dirty="0"/>
              <a:t>')(out1); </a:t>
            </a:r>
            <a:r>
              <a:rPr lang="en-IN" sz="1600" i="1" dirty="0">
                <a:solidFill>
                  <a:srgbClr val="C00000"/>
                </a:solidFill>
              </a:rPr>
              <a:t># output: </a:t>
            </a:r>
            <a:r>
              <a:rPr lang="en-IN" sz="1600" i="1" dirty="0" err="1">
                <a:solidFill>
                  <a:srgbClr val="C00000"/>
                </a:solidFill>
              </a:rPr>
              <a:t>u,v,p</a:t>
            </a:r>
            <a:endParaRPr lang="en-IN" sz="1600" i="1" dirty="0">
              <a:solidFill>
                <a:srgbClr val="C00000"/>
              </a:solidFill>
            </a:endParaRPr>
          </a:p>
          <a:p>
            <a:endParaRPr lang="en-IN" sz="1600" dirty="0"/>
          </a:p>
          <a:p>
            <a:r>
              <a:rPr lang="en-IN" sz="1600" dirty="0" err="1"/>
              <a:t>model_field</a:t>
            </a:r>
            <a:r>
              <a:rPr lang="en-IN" sz="1600" dirty="0"/>
              <a:t>=</a:t>
            </a:r>
            <a:r>
              <a:rPr lang="en-IN" sz="1600" dirty="0">
                <a:solidFill>
                  <a:srgbClr val="CC00CC"/>
                </a:solidFill>
              </a:rPr>
              <a:t>Model</a:t>
            </a:r>
            <a:r>
              <a:rPr lang="en-IN" sz="1600" dirty="0"/>
              <a:t>(inputs=[</a:t>
            </a:r>
            <a:r>
              <a:rPr lang="en-IN" sz="1600" dirty="0" err="1"/>
              <a:t>input_tensor</a:t>
            </a:r>
            <a:r>
              <a:rPr lang="en-IN" sz="1600" dirty="0"/>
              <a:t>], outputs=[out2]);</a:t>
            </a:r>
          </a:p>
          <a:p>
            <a:r>
              <a:rPr lang="en-IN" sz="1600" dirty="0" err="1"/>
              <a:t>model_field.</a:t>
            </a:r>
            <a:r>
              <a:rPr lang="en-IN" sz="1600" dirty="0" err="1">
                <a:solidFill>
                  <a:srgbClr val="CC00CC"/>
                </a:solidFill>
              </a:rPr>
              <a:t>summary</a:t>
            </a:r>
            <a:r>
              <a:rPr lang="en-IN" sz="1600" dirty="0"/>
              <a:t>();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D6E46340-F911-A6EE-41D3-A088BA2B296B}"/>
              </a:ext>
            </a:extLst>
          </p:cNvPr>
          <p:cNvGrpSpPr/>
          <p:nvPr/>
        </p:nvGrpSpPr>
        <p:grpSpPr>
          <a:xfrm>
            <a:off x="5025251" y="3511977"/>
            <a:ext cx="6889751" cy="3346023"/>
            <a:chOff x="5096371" y="3190240"/>
            <a:chExt cx="6889751" cy="3346023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C623ABE2-AED6-5CD0-69DE-BD4BE3FD85AD}"/>
                </a:ext>
              </a:extLst>
            </p:cNvPr>
            <p:cNvGrpSpPr/>
            <p:nvPr/>
          </p:nvGrpSpPr>
          <p:grpSpPr>
            <a:xfrm>
              <a:off x="5096371" y="3190240"/>
              <a:ext cx="6889751" cy="3346023"/>
              <a:chOff x="5096371" y="3190240"/>
              <a:chExt cx="6889751" cy="3346023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07430EE2-AB5D-F64A-EA8D-F578BA59B612}"/>
                  </a:ext>
                </a:extLst>
              </p:cNvPr>
              <p:cNvGrpSpPr/>
              <p:nvPr/>
            </p:nvGrpSpPr>
            <p:grpSpPr>
              <a:xfrm>
                <a:off x="5096371" y="3304044"/>
                <a:ext cx="6889751" cy="3165158"/>
                <a:chOff x="5096371" y="3304044"/>
                <a:chExt cx="6889751" cy="3165158"/>
              </a:xfrm>
            </p:grpSpPr>
            <p:pic>
              <p:nvPicPr>
                <p:cNvPr id="6" name="Picture 2">
                  <a:extLst>
                    <a:ext uri="{FF2B5EF4-FFF2-40B4-BE49-F238E27FC236}">
                      <a16:creationId xmlns:a16="http://schemas.microsoft.com/office/drawing/2014/main" id="{348E0262-0C33-3EE2-F445-D05F7C2E38D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096371" y="3304044"/>
                  <a:ext cx="6889751" cy="316515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1054F96D-A7C7-D549-39EE-292723C08BEF}"/>
                    </a:ext>
                  </a:extLst>
                </p:cNvPr>
                <p:cNvSpPr/>
                <p:nvPr/>
              </p:nvSpPr>
              <p:spPr>
                <a:xfrm>
                  <a:off x="7927340" y="3889260"/>
                  <a:ext cx="1003300" cy="197358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</p:grp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2468C9DD-6AA1-37C8-4C84-DD82D56B6515}"/>
                  </a:ext>
                </a:extLst>
              </p:cNvPr>
              <p:cNvGrpSpPr/>
              <p:nvPr/>
            </p:nvGrpSpPr>
            <p:grpSpPr>
              <a:xfrm>
                <a:off x="7909560" y="4305300"/>
                <a:ext cx="631687" cy="1207770"/>
                <a:chOff x="7909560" y="4305300"/>
                <a:chExt cx="631687" cy="1207770"/>
              </a:xfrm>
            </p:grpSpPr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A238DE76-6F67-FA7D-D609-1FC67735E6AF}"/>
                    </a:ext>
                  </a:extLst>
                </p:cNvPr>
                <p:cNvSpPr/>
                <p:nvPr/>
              </p:nvSpPr>
              <p:spPr>
                <a:xfrm>
                  <a:off x="8256767" y="5135297"/>
                  <a:ext cx="284480" cy="274320"/>
                </a:xfrm>
                <a:prstGeom prst="ellipse">
                  <a:avLst/>
                </a:prstGeom>
                <a:no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b="1" dirty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p</a:t>
                  </a:r>
                  <a:endParaRPr lang="en-IN" sz="1400" b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8015CA8A-BCD4-65C0-B664-929F8D6370F0}"/>
                    </a:ext>
                  </a:extLst>
                </p:cNvPr>
                <p:cNvCxnSpPr>
                  <a:cxnSpLocks/>
                  <a:endCxn id="10" idx="2"/>
                </p:cNvCxnSpPr>
                <p:nvPr/>
              </p:nvCxnSpPr>
              <p:spPr>
                <a:xfrm>
                  <a:off x="7909560" y="4305300"/>
                  <a:ext cx="347207" cy="96715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B527D6C4-DE3B-23F8-3A64-A38138132E46}"/>
                    </a:ext>
                  </a:extLst>
                </p:cNvPr>
                <p:cNvCxnSpPr>
                  <a:cxnSpLocks/>
                  <a:endCxn id="10" idx="2"/>
                </p:cNvCxnSpPr>
                <p:nvPr/>
              </p:nvCxnSpPr>
              <p:spPr>
                <a:xfrm>
                  <a:off x="7909560" y="4682074"/>
                  <a:ext cx="347207" cy="59038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EBD88A33-E233-3F04-89B7-291DD64A7123}"/>
                    </a:ext>
                  </a:extLst>
                </p:cNvPr>
                <p:cNvCxnSpPr>
                  <a:cxnSpLocks/>
                  <a:endCxn id="10" idx="2"/>
                </p:cNvCxnSpPr>
                <p:nvPr/>
              </p:nvCxnSpPr>
              <p:spPr>
                <a:xfrm>
                  <a:off x="7937500" y="5068241"/>
                  <a:ext cx="319267" cy="20421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105A2E83-E2B7-75A6-C05E-B63B9C1A13C8}"/>
                    </a:ext>
                  </a:extLst>
                </p:cNvPr>
                <p:cNvCxnSpPr>
                  <a:cxnSpLocks/>
                  <a:endCxn id="10" idx="2"/>
                </p:cNvCxnSpPr>
                <p:nvPr/>
              </p:nvCxnSpPr>
              <p:spPr>
                <a:xfrm flipV="1">
                  <a:off x="7909560" y="5272457"/>
                  <a:ext cx="347207" cy="24061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6F84BACB-5E92-2CF2-11B9-F5E00E0A451D}"/>
                  </a:ext>
                </a:extLst>
              </p:cNvPr>
              <p:cNvGrpSpPr/>
              <p:nvPr/>
            </p:nvGrpSpPr>
            <p:grpSpPr>
              <a:xfrm>
                <a:off x="7909560" y="4305300"/>
                <a:ext cx="631687" cy="1219783"/>
                <a:chOff x="7909560" y="4695086"/>
                <a:chExt cx="631687" cy="1219783"/>
              </a:xfrm>
            </p:grpSpPr>
            <p:sp>
              <p:nvSpPr>
                <p:cNvPr id="59" name="Oval 58">
                  <a:extLst>
                    <a:ext uri="{FF2B5EF4-FFF2-40B4-BE49-F238E27FC236}">
                      <a16:creationId xmlns:a16="http://schemas.microsoft.com/office/drawing/2014/main" id="{9B6875E8-1168-09C3-BEC1-A35381ACA88E}"/>
                    </a:ext>
                  </a:extLst>
                </p:cNvPr>
                <p:cNvSpPr/>
                <p:nvPr/>
              </p:nvSpPr>
              <p:spPr>
                <a:xfrm>
                  <a:off x="8256767" y="5135297"/>
                  <a:ext cx="284480" cy="274320"/>
                </a:xfrm>
                <a:prstGeom prst="ellipse">
                  <a:avLst/>
                </a:prstGeom>
                <a:no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b="1" dirty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v</a:t>
                  </a:r>
                  <a:endParaRPr lang="en-IN" sz="1400" b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B60CFE79-94B4-E3EF-2DA1-53A8981AD737}"/>
                    </a:ext>
                  </a:extLst>
                </p:cNvPr>
                <p:cNvCxnSpPr>
                  <a:cxnSpLocks/>
                  <a:endCxn id="59" idx="2"/>
                </p:cNvCxnSpPr>
                <p:nvPr/>
              </p:nvCxnSpPr>
              <p:spPr>
                <a:xfrm>
                  <a:off x="7909560" y="4695086"/>
                  <a:ext cx="347207" cy="57737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7CC8ED34-2B67-B59F-018D-A75DE5A7B68A}"/>
                    </a:ext>
                  </a:extLst>
                </p:cNvPr>
                <p:cNvCxnSpPr>
                  <a:cxnSpLocks/>
                  <a:endCxn id="59" idx="2"/>
                </p:cNvCxnSpPr>
                <p:nvPr/>
              </p:nvCxnSpPr>
              <p:spPr>
                <a:xfrm>
                  <a:off x="7909560" y="5086887"/>
                  <a:ext cx="347207" cy="18557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C5F750B0-001E-05CC-B195-19A10A6AFB5A}"/>
                    </a:ext>
                  </a:extLst>
                </p:cNvPr>
                <p:cNvCxnSpPr>
                  <a:cxnSpLocks/>
                  <a:endCxn id="59" idx="2"/>
                </p:cNvCxnSpPr>
                <p:nvPr/>
              </p:nvCxnSpPr>
              <p:spPr>
                <a:xfrm flipV="1">
                  <a:off x="7937500" y="5272457"/>
                  <a:ext cx="319267" cy="18557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B661BD3E-8359-0B14-0A2B-915654895B1A}"/>
                    </a:ext>
                  </a:extLst>
                </p:cNvPr>
                <p:cNvCxnSpPr>
                  <a:cxnSpLocks/>
                  <a:endCxn id="59" idx="2"/>
                </p:cNvCxnSpPr>
                <p:nvPr/>
              </p:nvCxnSpPr>
              <p:spPr>
                <a:xfrm flipV="1">
                  <a:off x="7909560" y="5272457"/>
                  <a:ext cx="347207" cy="642412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E8588008-2260-183E-D170-1A4A73F010FA}"/>
                  </a:ext>
                </a:extLst>
              </p:cNvPr>
              <p:cNvGrpSpPr/>
              <p:nvPr/>
            </p:nvGrpSpPr>
            <p:grpSpPr>
              <a:xfrm>
                <a:off x="7906246" y="4305300"/>
                <a:ext cx="631687" cy="1219783"/>
                <a:chOff x="7909560" y="5085600"/>
                <a:chExt cx="631687" cy="1219783"/>
              </a:xfrm>
            </p:grpSpPr>
            <p:sp>
              <p:nvSpPr>
                <p:cNvPr id="69" name="Oval 68">
                  <a:extLst>
                    <a:ext uri="{FF2B5EF4-FFF2-40B4-BE49-F238E27FC236}">
                      <a16:creationId xmlns:a16="http://schemas.microsoft.com/office/drawing/2014/main" id="{D3F309C2-5588-EF6E-E278-E18B8A183155}"/>
                    </a:ext>
                  </a:extLst>
                </p:cNvPr>
                <p:cNvSpPr/>
                <p:nvPr/>
              </p:nvSpPr>
              <p:spPr>
                <a:xfrm>
                  <a:off x="8256767" y="5135297"/>
                  <a:ext cx="284480" cy="274320"/>
                </a:xfrm>
                <a:prstGeom prst="ellipse">
                  <a:avLst/>
                </a:prstGeom>
                <a:no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b="1" dirty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u</a:t>
                  </a:r>
                  <a:endParaRPr lang="en-IN" sz="1400" b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0" name="Straight Connector 69">
                  <a:extLst>
                    <a:ext uri="{FF2B5EF4-FFF2-40B4-BE49-F238E27FC236}">
                      <a16:creationId xmlns:a16="http://schemas.microsoft.com/office/drawing/2014/main" id="{A3ED47E6-7EC9-92CE-A696-D02E1176AC56}"/>
                    </a:ext>
                  </a:extLst>
                </p:cNvPr>
                <p:cNvCxnSpPr>
                  <a:cxnSpLocks/>
                  <a:endCxn id="69" idx="2"/>
                </p:cNvCxnSpPr>
                <p:nvPr/>
              </p:nvCxnSpPr>
              <p:spPr>
                <a:xfrm>
                  <a:off x="7909560" y="5085600"/>
                  <a:ext cx="347207" cy="18685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Straight Connector 70">
                  <a:extLst>
                    <a:ext uri="{FF2B5EF4-FFF2-40B4-BE49-F238E27FC236}">
                      <a16:creationId xmlns:a16="http://schemas.microsoft.com/office/drawing/2014/main" id="{E94B1004-99E7-2B27-116F-0C06DD4CA0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912874" y="5276339"/>
                  <a:ext cx="359519" cy="20033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Straight Connector 71">
                  <a:extLst>
                    <a:ext uri="{FF2B5EF4-FFF2-40B4-BE49-F238E27FC236}">
                      <a16:creationId xmlns:a16="http://schemas.microsoft.com/office/drawing/2014/main" id="{4338F21E-2CCD-E553-7680-71EFF33472FC}"/>
                    </a:ext>
                  </a:extLst>
                </p:cNvPr>
                <p:cNvCxnSpPr>
                  <a:cxnSpLocks/>
                  <a:endCxn id="69" idx="2"/>
                </p:cNvCxnSpPr>
                <p:nvPr/>
              </p:nvCxnSpPr>
              <p:spPr>
                <a:xfrm flipV="1">
                  <a:off x="7940814" y="5272457"/>
                  <a:ext cx="315953" cy="56407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Straight Connector 72">
                  <a:extLst>
                    <a:ext uri="{FF2B5EF4-FFF2-40B4-BE49-F238E27FC236}">
                      <a16:creationId xmlns:a16="http://schemas.microsoft.com/office/drawing/2014/main" id="{EE2F7A7A-2FA7-4447-BCBE-D84649A20230}"/>
                    </a:ext>
                  </a:extLst>
                </p:cNvPr>
                <p:cNvCxnSpPr>
                  <a:cxnSpLocks/>
                  <a:endCxn id="69" idx="2"/>
                </p:cNvCxnSpPr>
                <p:nvPr/>
              </p:nvCxnSpPr>
              <p:spPr>
                <a:xfrm flipV="1">
                  <a:off x="7909560" y="5272457"/>
                  <a:ext cx="347207" cy="103292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5C4EE592-E322-DE3B-D13E-D348527A0755}"/>
                  </a:ext>
                </a:extLst>
              </p:cNvPr>
              <p:cNvSpPr/>
              <p:nvPr/>
            </p:nvSpPr>
            <p:spPr>
              <a:xfrm>
                <a:off x="8766767" y="3190240"/>
                <a:ext cx="1062274" cy="334602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0C8E2B2F-449E-76C6-A9C6-78B8E311D4E7}"/>
                </a:ext>
              </a:extLst>
            </p:cNvPr>
            <p:cNvGrpSpPr/>
            <p:nvPr/>
          </p:nvGrpSpPr>
          <p:grpSpPr>
            <a:xfrm>
              <a:off x="8496272" y="4192685"/>
              <a:ext cx="3021023" cy="1579758"/>
              <a:chOff x="8496272" y="4192685"/>
              <a:chExt cx="3021023" cy="1579758"/>
            </a:xfrm>
          </p:grpSpPr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A9E0BAB8-A4C2-61F2-DDCA-708FE28C31C1}"/>
                  </a:ext>
                </a:extLst>
              </p:cNvPr>
              <p:cNvSpPr/>
              <p:nvPr/>
            </p:nvSpPr>
            <p:spPr>
              <a:xfrm>
                <a:off x="8890174" y="4192685"/>
                <a:ext cx="982312" cy="138319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Derivatives using Algorithmic gradient</a:t>
                </a:r>
                <a:endParaRPr lang="en-IN" sz="1200" dirty="0"/>
              </a:p>
            </p:txBody>
          </p: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B147DED6-F0B2-1F55-E6D2-BC9BE75E2C1E}"/>
                  </a:ext>
                </a:extLst>
              </p:cNvPr>
              <p:cNvCxnSpPr>
                <a:cxnSpLocks/>
                <a:stCxn id="69" idx="5"/>
                <a:endCxn id="80" idx="1"/>
              </p:cNvCxnSpPr>
              <p:nvPr/>
            </p:nvCxnSpPr>
            <p:spPr>
              <a:xfrm>
                <a:off x="8496272" y="4589144"/>
                <a:ext cx="393902" cy="2951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60A9C56A-4064-2871-4FD2-5106BAF9F402}"/>
                  </a:ext>
                </a:extLst>
              </p:cNvPr>
              <p:cNvCxnSpPr>
                <a:cxnSpLocks/>
                <a:stCxn id="59" idx="6"/>
                <a:endCxn id="80" idx="1"/>
              </p:cNvCxnSpPr>
              <p:nvPr/>
            </p:nvCxnSpPr>
            <p:spPr>
              <a:xfrm>
                <a:off x="8541247" y="4882671"/>
                <a:ext cx="348927" cy="161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B370C949-8343-169E-D2B9-4C12430A3D40}"/>
                  </a:ext>
                </a:extLst>
              </p:cNvPr>
              <p:cNvCxnSpPr>
                <a:cxnSpLocks/>
                <a:stCxn id="10" idx="7"/>
                <a:endCxn id="80" idx="1"/>
              </p:cNvCxnSpPr>
              <p:nvPr/>
            </p:nvCxnSpPr>
            <p:spPr>
              <a:xfrm flipV="1">
                <a:off x="8499586" y="4884284"/>
                <a:ext cx="390588" cy="29118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3" name="TextBox 92">
                    <a:extLst>
                      <a:ext uri="{FF2B5EF4-FFF2-40B4-BE49-F238E27FC236}">
                        <a16:creationId xmlns:a16="http://schemas.microsoft.com/office/drawing/2014/main" id="{C7B07292-E0AE-B624-3649-A327DB98EAED}"/>
                      </a:ext>
                    </a:extLst>
                  </p:cNvPr>
                  <p:cNvSpPr txBox="1"/>
                  <p:nvPr/>
                </p:nvSpPr>
                <p:spPr>
                  <a:xfrm>
                    <a:off x="9984448" y="5379322"/>
                    <a:ext cx="1532847" cy="393121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1800" i="1" smtClean="0">
                            <a:latin typeface="Cambria Math" panose="02040503050406030204" pitchFamily="18" charset="0"/>
                          </a:rPr>
                          <m:t>1, 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2,…,</m:t>
                        </m:r>
                      </m:oMath>
                    </a14:m>
                    <a:r>
                      <a:rPr lang="en-US" dirty="0"/>
                      <a:t>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b>
                            </m:sSub>
                          </m:sub>
                        </m:sSub>
                      </m:oMath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93" name="TextBox 92">
                    <a:extLst>
                      <a:ext uri="{FF2B5EF4-FFF2-40B4-BE49-F238E27FC236}">
                        <a16:creationId xmlns:a16="http://schemas.microsoft.com/office/drawing/2014/main" id="{C7B07292-E0AE-B624-3649-A327DB98EAE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984448" y="5379322"/>
                    <a:ext cx="1532847" cy="393121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687A082C-6CD9-C536-AC73-87221317F307}"/>
              </a:ext>
            </a:extLst>
          </p:cNvPr>
          <p:cNvGrpSpPr/>
          <p:nvPr/>
        </p:nvGrpSpPr>
        <p:grpSpPr>
          <a:xfrm>
            <a:off x="6248400" y="2491721"/>
            <a:ext cx="906661" cy="1659812"/>
            <a:chOff x="6421120" y="2599094"/>
            <a:chExt cx="906661" cy="1659812"/>
          </a:xfrm>
        </p:grpSpPr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FAB1D9D0-4AC0-982F-8AAA-F3309F55AA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1120" y="2599094"/>
              <a:ext cx="906661" cy="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44036C0C-E045-C423-1C11-6E5BD64763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27781" y="2599094"/>
              <a:ext cx="0" cy="1659812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7" name="Rectangle 116">
            <a:extLst>
              <a:ext uri="{FF2B5EF4-FFF2-40B4-BE49-F238E27FC236}">
                <a16:creationId xmlns:a16="http://schemas.microsoft.com/office/drawing/2014/main" id="{E8227D98-EDA7-792F-3D69-41600F695111}"/>
              </a:ext>
            </a:extLst>
          </p:cNvPr>
          <p:cNvSpPr/>
          <p:nvPr/>
        </p:nvSpPr>
        <p:spPr>
          <a:xfrm>
            <a:off x="5283205" y="4151533"/>
            <a:ext cx="3380442" cy="230225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F394E484-72D1-5B20-BC55-B7F3174FCC42}"/>
              </a:ext>
            </a:extLst>
          </p:cNvPr>
          <p:cNvSpPr txBox="1"/>
          <p:nvPr/>
        </p:nvSpPr>
        <p:spPr>
          <a:xfrm>
            <a:off x="6230560" y="2082855"/>
            <a:ext cx="32091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MLP (Base Model)</a:t>
            </a:r>
            <a:endParaRPr lang="en-IN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6DE5176C-F487-EA1F-FFB3-7D30B9B75218}"/>
                  </a:ext>
                </a:extLst>
              </p:cNvPr>
              <p:cNvSpPr txBox="1"/>
              <p:nvPr/>
            </p:nvSpPr>
            <p:spPr>
              <a:xfrm>
                <a:off x="9026918" y="3621102"/>
                <a:ext cx="3026835" cy="430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b="1" dirty="0"/>
                  <a:t>Loss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𝒍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sup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𝒍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…+</m:t>
                    </m:r>
                    <m:sSup>
                      <m:sSup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𝒍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  <m:sub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𝟏𝟐</m:t>
                                </m:r>
                              </m:sub>
                            </m:sSub>
                          </m:sub>
                        </m:sSub>
                      </m:e>
                      <m:sup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IN" b="1" dirty="0"/>
              </a:p>
            </p:txBody>
          </p:sp>
        </mc:Choice>
        <mc:Fallback xmlns="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6DE5176C-F487-EA1F-FFB3-7D30B9B752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6918" y="3621102"/>
                <a:ext cx="3026835" cy="430695"/>
              </a:xfrm>
              <a:prstGeom prst="rect">
                <a:avLst/>
              </a:prstGeom>
              <a:blipFill>
                <a:blip r:embed="rId4"/>
                <a:stretch>
                  <a:fillRect l="-1815" b="-1831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9" name="TextBox 138">
            <a:extLst>
              <a:ext uri="{FF2B5EF4-FFF2-40B4-BE49-F238E27FC236}">
                <a16:creationId xmlns:a16="http://schemas.microsoft.com/office/drawing/2014/main" id="{FDBB136C-0EBE-41C6-9B2C-2D8095F48828}"/>
              </a:ext>
            </a:extLst>
          </p:cNvPr>
          <p:cNvSpPr txBox="1"/>
          <p:nvPr/>
        </p:nvSpPr>
        <p:spPr>
          <a:xfrm>
            <a:off x="203423" y="4281530"/>
            <a:ext cx="489424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Data generation (Input): Collocation points for interior and boundary (random)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highlight>
                  <a:srgbClr val="FFFF00"/>
                </a:highlight>
              </a:rPr>
              <a:t>Custom loss: requires to separate boundary 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Model compilation (</a:t>
            </a:r>
            <a:r>
              <a:rPr lang="en-US" b="1" dirty="0" err="1"/>
              <a:t>model.compile</a:t>
            </a:r>
            <a:r>
              <a:rPr lang="en-US" b="1" dirty="0"/>
              <a:t>())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Model training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highlight>
                  <a:srgbClr val="FFFF00"/>
                </a:highlight>
              </a:rPr>
              <a:t>Tuning the model</a:t>
            </a:r>
          </a:p>
        </p:txBody>
      </p:sp>
    </p:spTree>
    <p:extLst>
      <p:ext uri="{BB962C8B-B14F-4D97-AF65-F5344CB8AC3E}">
        <p14:creationId xmlns:p14="http://schemas.microsoft.com/office/powerpoint/2010/main" val="42312967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A0CF4-01F2-219D-87D6-DA75A7603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F57925D-BB2F-4C28-2471-BD92C6F88AA6}"/>
              </a:ext>
            </a:extLst>
          </p:cNvPr>
          <p:cNvSpPr txBox="1"/>
          <p:nvPr/>
        </p:nvSpPr>
        <p:spPr>
          <a:xfrm>
            <a:off x="0" y="98322"/>
            <a:ext cx="12192000" cy="52322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Century Schoolbook" panose="02040604050505020304" pitchFamily="18" charset="0"/>
                <a:ea typeface="Open Sans" pitchFamily="2" charset="0"/>
                <a:cs typeface="Open Sans" pitchFamily="2" charset="0"/>
              </a:rPr>
              <a:t>Session 2: PINN</a:t>
            </a:r>
            <a:endParaRPr lang="en-IN" sz="2800" b="1" dirty="0">
              <a:solidFill>
                <a:schemeClr val="bg1"/>
              </a:solidFill>
              <a:latin typeface="Century Schoolbook" panose="02040604050505020304" pitchFamily="18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8DD375-3414-9016-2BFF-175A9F0E2717}"/>
              </a:ext>
            </a:extLst>
          </p:cNvPr>
          <p:cNvSpPr txBox="1"/>
          <p:nvPr/>
        </p:nvSpPr>
        <p:spPr>
          <a:xfrm>
            <a:off x="0" y="686506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Lid-Driven Cavity (Incompressible)</a:t>
            </a:r>
          </a:p>
        </p:txBody>
      </p:sp>
    </p:spTree>
    <p:extLst>
      <p:ext uri="{BB962C8B-B14F-4D97-AF65-F5344CB8AC3E}">
        <p14:creationId xmlns:p14="http://schemas.microsoft.com/office/powerpoint/2010/main" val="702825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3078</TotalTime>
  <Words>2534</Words>
  <Application>Microsoft Office PowerPoint</Application>
  <PresentationFormat>Widescreen</PresentationFormat>
  <Paragraphs>552</Paragraphs>
  <Slides>22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Aptos</vt:lpstr>
      <vt:lpstr>Aptos Display</vt:lpstr>
      <vt:lpstr>Arial</vt:lpstr>
      <vt:lpstr>Cambria Math</vt:lpstr>
      <vt:lpstr>Century Schoolbook</vt:lpstr>
      <vt:lpstr>Consolas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Akash Mittal</dc:creator>
  <cp:lastModifiedBy>Akash Mittal</cp:lastModifiedBy>
  <cp:revision>601</cp:revision>
  <dcterms:created xsi:type="dcterms:W3CDTF">2025-02-13T22:16:37Z</dcterms:created>
  <dcterms:modified xsi:type="dcterms:W3CDTF">2025-04-25T06:08:45Z</dcterms:modified>
</cp:coreProperties>
</file>